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1e41ebc2da4c69" /><Relationship Type="http://schemas.openxmlformats.org/officeDocument/2006/relationships/extended-properties" Target="/docProps/app.xml" Id="R2c8d533f5b094c26" /><Relationship Type="http://schemas.openxmlformats.org/officeDocument/2006/relationships/officeDocument" Target="/ppt/presentation.xml" Id="R5d83b3b43c664d71" /></Relationships>
</file>

<file path=ppt/presentation.xml><?xml version="1.0" encoding="utf-8"?>
<p:presentation xmlns:p="http://schemas.openxmlformats.org/presentationml/2006/main">
  <p:sldMasterIdLst>
    <p:sldMasterId xmlns:r="http://schemas.openxmlformats.org/officeDocument/2006/relationships" id="2147483648" r:id="R94206fed5c434c6e"/>
  </p:sldMasterIdLst>
  <p:notesMasterIdLst>
    <p:notesMasterId xmlns:r="http://schemas.openxmlformats.org/officeDocument/2006/relationships" r:id="R3f6a371797524226"/>
  </p:notesMasterIdLst>
  <p:sldIdLst>
    <p:sldId xmlns:r="http://schemas.openxmlformats.org/officeDocument/2006/relationships" id="256" r:id="R8fa05aa35bc7464e"/>
    <p:sldId xmlns:r="http://schemas.openxmlformats.org/officeDocument/2006/relationships" id="257" r:id="R812697e6dcee4fac"/>
    <p:sldId xmlns:r="http://schemas.openxmlformats.org/officeDocument/2006/relationships" id="258" r:id="R43199afcbb8145ff"/>
    <p:sldId xmlns:r="http://schemas.openxmlformats.org/officeDocument/2006/relationships" id="259" r:id="Rd70033a809a8427f"/>
    <p:sldId xmlns:r="http://schemas.openxmlformats.org/officeDocument/2006/relationships" id="260" r:id="R56382f94038e40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f05995afe74c1c" /><Relationship Type="http://schemas.openxmlformats.org/officeDocument/2006/relationships/slideMaster" Target="/ppt/slideMasters/slideMaster1.xml" Id="R94206fed5c434c6e" /><Relationship Type="http://schemas.openxmlformats.org/officeDocument/2006/relationships/notesMaster" Target="/ppt/notesMasters/notesMaster1.xml" Id="R3f6a371797524226" /><Relationship Type="http://schemas.openxmlformats.org/officeDocument/2006/relationships/presProps" Target="/ppt/presProps.xml" Id="Rc3db639661d44384" /><Relationship Type="http://schemas.openxmlformats.org/officeDocument/2006/relationships/tableStyles" Target="/ppt/tableStyles.xml" Id="R70ccd9d7db7349e8" /><Relationship Type="http://schemas.openxmlformats.org/officeDocument/2006/relationships/slide" Target="/ppt/slides/slide1.xml" Id="R8fa05aa35bc7464e" /><Relationship Type="http://schemas.openxmlformats.org/officeDocument/2006/relationships/slide" Target="/ppt/slides/slide2.xml" Id="R812697e6dcee4fac" /><Relationship Type="http://schemas.openxmlformats.org/officeDocument/2006/relationships/slide" Target="/ppt/slides/slide3.xml" Id="R43199afcbb8145ff" /><Relationship Type="http://schemas.openxmlformats.org/officeDocument/2006/relationships/slide" Target="/ppt/slides/slide4.xml" Id="Rd70033a809a8427f" /><Relationship Type="http://schemas.openxmlformats.org/officeDocument/2006/relationships/slide" Target="/ppt/slides/slide5.xml" Id="R56382f94038e40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849eadea1f4f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44a41493b34b33" /><Relationship Type="http://schemas.openxmlformats.org/officeDocument/2006/relationships/notesMaster" Target="/ppt/notesMasters/notesMaster1.xml" Id="Rc097dba842e848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6462b083954d97" /><Relationship Type="http://schemas.openxmlformats.org/officeDocument/2006/relationships/notesMaster" Target="/ppt/notesMasters/notesMaster1.xml" Id="R3c9bd01e66e64b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8ff0babfc34e1d" /><Relationship Type="http://schemas.openxmlformats.org/officeDocument/2006/relationships/notesMaster" Target="/ppt/notesMasters/notesMaster1.xml" Id="R78293ffef2094b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c0e92612c54414" /><Relationship Type="http://schemas.openxmlformats.org/officeDocument/2006/relationships/notesMaster" Target="/ppt/notesMasters/notesMaster1.xml" Id="R667834ec363f46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a76a5830194db9" /><Relationship Type="http://schemas.openxmlformats.org/officeDocument/2006/relationships/notesMaster" Target="/ppt/notesMasters/notesMaster1.xml" Id="Rdf9372afa80049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센서 이상 탐지 모델의 경량화를 살펴본다. 원본 모델과 INT8의 지연, F1, 모델 크기를 비교한다. 모든 수치는 사용자가 제공한 가상 예시이며 실험 결과가 아니다. 동일 장치와 데이터를 가정하지만 구체적인 조건과 허용 F1 저하 기준은 미제공이다.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교사의 예측을 학생 학습에 활용하는 지식 증류와 8비트 정수 표현을 개념적으로 설명한다. 모델 구조, 손실함수, 양자화 범위, PTQ/QAT는 미제공이다. 교사의 지식이 모두 보존된다고 주장하지 않는다. 개념 출처: Hinton et al. (2015), https://arxiv.org/abs/1503.02531 ; Jacob et al. (2017), https://arxiv.org/abs/1712.05877 . 문헌의 성능 수치를 사용하지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 수치: baseline 120ms / F1 0.910 / 48MB; distilled 72ms / 0.902 / 18MB; int8 54ms / 0.896 / 12MB. 동일 장치와 데이터를 가정한다. 표본수, 분산, 데이터셋명, 데이터 분할, 장치 사양, 지연 통계량 정의, F1 집계 방법은 미제공이다. 산술 비교이며 통계적 유의성이나 일반화를 판단할 수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지연 감소율 (120−54)/120 = 55%; 크기 감소율 (48−12)/48 = 75%; F1 절대 차이 0.896−0.910 = −0.014. 증류 지연 감소율 (120−72)/120 = 40%, F1 차이 −0.008. 추가 INT8 지연 감소율 (72−54)/72 = 25%, F1 차이 −0.006. 분모가 달라 40%와 25%를 더하지 않는다. 가상 요약값으로 통계적 판단을 할 수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가상 예시는 효율과 F1의 교환관계를 보여준다. 모든 환경에서 가장 좋은 모델을 정할 수는 없다. 사용 환경에 맞는 허용 F1 저하와 지연 한도를 먼저 정한다. 실제 데이터에서 반복 측정의 분산과 이상 유형별 실패 사례를 확인한다. 데이터셋명과 표본수가 없어 일반화 판단은 불가하다.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65e356041c41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71f14abc6941bd" /><Relationship Type="http://schemas.openxmlformats.org/officeDocument/2006/relationships/slideLayout" Target="/ppt/slideLayouts/slideLayout1.xml" Id="R45079bd9e5c940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079bd9e5c940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8e4cc9d2fa42ab" /><Relationship Type="http://schemas.openxmlformats.org/officeDocument/2006/relationships/notesSlide" Target="/ppt/notesSlides/notesSlide1.xml" Id="Raf8144d8149447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6d886f662d49a2" /><Relationship Type="http://schemas.openxmlformats.org/officeDocument/2006/relationships/notesSlide" Target="/ppt/notesSlides/notesSlide2.xml" Id="R42aa223f9c1e49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763979a5b9478b" /><Relationship Type="http://schemas.openxmlformats.org/officeDocument/2006/relationships/notesSlide" Target="/ppt/notesSlides/notesSlide3.xml" Id="R9747b92d081844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8bfdb3f7ec47f7" /><Relationship Type="http://schemas.openxmlformats.org/officeDocument/2006/relationships/chart" Target="/ppt/slides/charts/chart1.xml" Id="Rc01dddce49fe437a" /><Relationship Type="http://schemas.openxmlformats.org/officeDocument/2006/relationships/notesSlide" Target="/ppt/notesSlides/notesSlide4.xml" Id="R3eb3e013416e4e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731fbb353048f5" /><Relationship Type="http://schemas.openxmlformats.org/officeDocument/2006/relationships/notesSlide" Target="/ppt/notesSlides/notesSlide5.xml" Id="Rd2241ec44c4443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Models</c:v>
          </c:tx>
          <c:spPr>
            <a:solidFill xmlns:a="http://schemas.openxmlformats.org/drawingml/2006/main">
              <a:srgbClr val="287D78"/>
            </a:solidFill>
            <a:ln xmlns:a="http://schemas.openxmlformats.org/drawingml/2006/main" w="0">
              <a:noFill/>
            </a:ln>
          </c:spPr>
          <c:marker>
            <c:symbol val="circle"/>
            <c:size val="10"/>
            <c:spPr>
              <ns0:solidFill xmlns:ns0="http://schemas.openxmlformats.org/drawingml/2006/main">
                <ns0:srgbClr val="287D78"/>
              </ns0:solidFill>
              <ns1:ln xmlns:ns1="http://schemas.openxmlformats.org/drawingml/2006/main">
                <ns1:noFill/>
              </ns1:ln>
            </c:spPr>
          </c:marker>
          <c:dLbls>
            <c:dLbl>
              <c:idx val="0"/>
              <c:tx>
                <c:rich>
                  <a:bodyPr xmlns:a="http://schemas.openxmlformats.org/drawingml/2006/main"/>
                  <a:lstStyle xmlns:a="http://schemas.openxmlformats.org/drawingml/2006/main"/>
                  <a:p xmlns:a="http://schemas.openxmlformats.org/drawingml/2006/main">
                    <a:r>
                      <a:rPr sz="1800">
                        <a:solidFill>
                          <a:srgbClr val="1E302F"/>
                        </a:solidFill>
                        <a:latin typeface="Noto Sans KR"/>
                        <a:ea typeface="Noto Sans KR"/>
                        <a:cs typeface="Noto Sans KR"/>
                      </a:rPr>
                      <a:t>baseline</a:t>
                    </a:r>
                  </a:p>
                </c:rich>
              </c:tx>
              <c:txPr>
                <a:bodyPr xmlns:a="http://schemas.openxmlformats.org/drawingml/2006/main" anchorCtr="1"/>
                <a:lstStyle xmlns:a="http://schemas.openxmlformats.org/drawingml/2006/main"/>
                <a:p xmlns:a="http://schemas.openxmlformats.org/drawingml/2006/main">
                  <a:pPr>
                    <a:defRPr sz="1800">
                      <a:solidFill>
                        <a:srgbClr val="1E302F"/>
                      </a:solidFill>
                      <a:latin typeface="Noto Sans KR"/>
                      <a:ea typeface="Noto Sans KR"/>
                      <a:cs typeface="Noto Sans KR"/>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a:solidFill>
                          <a:srgbClr val="1E302F"/>
                        </a:solidFill>
                        <a:latin typeface="Noto Sans KR"/>
                        <a:ea typeface="Noto Sans KR"/>
                        <a:cs typeface="Noto Sans KR"/>
                      </a:rPr>
                      <a:t>distilled</a:t>
                    </a:r>
                  </a:p>
                </c:rich>
              </c:tx>
              <c:txPr>
                <a:bodyPr xmlns:a="http://schemas.openxmlformats.org/drawingml/2006/main" anchorCtr="1"/>
                <a:lstStyle xmlns:a="http://schemas.openxmlformats.org/drawingml/2006/main"/>
                <a:p xmlns:a="http://schemas.openxmlformats.org/drawingml/2006/main">
                  <a:pPr>
                    <a:defRPr sz="1800">
                      <a:solidFill>
                        <a:srgbClr val="1E302F"/>
                      </a:solidFill>
                      <a:latin typeface="Noto Sans KR"/>
                      <a:ea typeface="Noto Sans KR"/>
                      <a:cs typeface="Noto Sans KR"/>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a:solidFill>
                          <a:srgbClr val="1E302F"/>
                        </a:solidFill>
                        <a:latin typeface="Noto Sans KR"/>
                        <a:ea typeface="Noto Sans KR"/>
                        <a:cs typeface="Noto Sans KR"/>
                      </a:rPr>
                      <a:t>int8</a:t>
                    </a:r>
                  </a:p>
                </c:rich>
              </c:tx>
              <c:txPr>
                <a:bodyPr xmlns:a="http://schemas.openxmlformats.org/drawingml/2006/main" anchorCtr="1"/>
                <a:lstStyle xmlns:a="http://schemas.openxmlformats.org/drawingml/2006/main"/>
                <a:p xmlns:a="http://schemas.openxmlformats.org/drawingml/2006/main">
                  <a:pPr>
                    <a:defRPr sz="1800">
                      <a:solidFill>
                        <a:srgbClr val="1E302F"/>
                      </a:solidFill>
                      <a:latin typeface="Noto Sans KR"/>
                      <a:ea typeface="Noto Sans KR"/>
                      <a:cs typeface="Noto Sans KR"/>
                    </a:defRPr>
                  </a:pPr>
                </a:p>
              </c:txPr>
              <c:showLegendKey val="0"/>
              <c:showVal val="0"/>
              <c:showCatName val="0"/>
              <c:showSerName val="0"/>
              <c:showPercent val="0"/>
              <c:showBubbleSize val="0"/>
            </c:dLbl>
          </c:dLbls>
          <c:xVal>
            <c:numRef>
              <c:f>'Chart Data'!$A$2:$A$4</c:f>
              <c:numCache>
                <c:formatCode>General</c:formatCode>
                <c:ptCount val="3"/>
                <c:pt idx="0">
                  <c:v>120</c:v>
                </c:pt>
                <c:pt idx="1">
                  <c:v>72</c:v>
                </c:pt>
                <c:pt idx="2">
                  <c:v>54</c:v>
                </c:pt>
              </c:numCache>
            </c:numRef>
          </c:xVal>
          <c:yVal>
            <c:numRef>
              <c:f>'Chart Data'!$B$2:$B$4</c:f>
              <c:numCache>
                <c:formatCode>0.000</c:formatCode>
                <c:ptCount val="3"/>
                <c:pt idx="0">
                  <c:v>0.91</c:v>
                </c:pt>
                <c:pt idx="1">
                  <c:v>0.902</c:v>
                </c:pt>
                <c:pt idx="2">
                  <c:v>0.896</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E302F"/>
                  </a:solidFill>
                  <a:latin typeface="Noto Sans KR"/>
                  <a:ea typeface="Noto Sans KR"/>
                  <a:cs typeface="Noto Sans KR"/>
                </a:defRPr>
              </a:pPr>
            </a:p>
          </c:txPr>
          <c:showLegendKey val="0"/>
          <c:showVal val="0"/>
          <c:showCatName val="0"/>
          <c:showSerName val="0"/>
          <c:showPercent val="0"/>
          <c:showBubbleSize val="0"/>
          <c:showLeaderLines val="0"/>
        </c:dLbls>
        <c:axId val="48650112"/>
        <c:axId val="48672768"/>
      </c:scatterChart>
      <c:valAx>
        <c:axId val="48672768"/>
        <c:scaling>
          <c:orientation val="minMax"/>
          <c:max val="0.915"/>
          <c:min val="0.89"/>
        </c:scaling>
        <c:delete val="0"/>
        <c:axPos val="l"/>
        <c:majorGridlines>
          <c:spPr>
            <a:ln xmlns:a="http://schemas.openxmlformats.org/drawingml/2006/main" w="6668">
              <a:solidFill>
                <a:srgbClr val="CFD8D1"/>
              </a:solidFill>
            </a:ln>
          </c:spPr>
        </c:majorGridlines>
        <c:numFmt formatCode="0.000"/>
        <c:majorTickMark val="none"/>
        <c:minorTickMark val="none"/>
        <c:spPr>
          <a:ln xmlns:a="http://schemas.openxmlformats.org/drawingml/2006/main" w="9525">
            <a:solidFill>
              <a:srgbClr val="CFD8D1"/>
            </a:solidFill>
          </a:ln>
        </c:spPr>
        <c:txPr>
          <a:bodyPr xmlns:a="http://schemas.openxmlformats.org/drawingml/2006/main" anchorCtr="1"/>
          <a:lstStyle xmlns:a="http://schemas.openxmlformats.org/drawingml/2006/main"/>
          <a:p xmlns:a="http://schemas.openxmlformats.org/drawingml/2006/main">
            <a:pPr>
              <a:defRPr sz="1725">
                <a:solidFill>
                  <a:srgbClr val="1E302F"/>
                </a:solidFill>
                <a:latin typeface="Noto Sans KR"/>
                <a:ea typeface="Noto Sans KR"/>
                <a:cs typeface="Noto Sans KR"/>
              </a:defRPr>
            </a:pPr>
          </a:p>
        </c:txPr>
        <c:crossAx val="48650112"/>
        <c:majorUnit val="0.005"/>
      </c:valAx>
      <c:valAx>
        <c:axId val="48650112"/>
        <c:scaling>
          <c:orientation val="minMax"/>
          <c:max val="140"/>
          <c:min val="40"/>
        </c:scaling>
        <c:delete val="0"/>
        <c:axPos val="b"/>
        <c:numFmt formatCode="0"/>
        <c:majorTickMark val="none"/>
        <c:minorTickMark val="none"/>
        <c:spPr>
          <a:ln xmlns:a="http://schemas.openxmlformats.org/drawingml/2006/main" w="9525">
            <a:solidFill>
              <a:srgbClr val="CFD8D1"/>
            </a:solidFill>
          </a:ln>
        </c:spPr>
        <c:txPr>
          <a:bodyPr xmlns:a="http://schemas.openxmlformats.org/drawingml/2006/main" anchorCtr="1"/>
          <a:lstStyle xmlns:a="http://schemas.openxmlformats.org/drawingml/2006/main"/>
          <a:p xmlns:a="http://schemas.openxmlformats.org/drawingml/2006/main">
            <a:pPr>
              <a:defRPr sz="1725">
                <a:solidFill>
                  <a:srgbClr val="1E302F"/>
                </a:solidFill>
                <a:latin typeface="Noto Sans KR"/>
                <a:ea typeface="Noto Sans KR"/>
                <a:cs typeface="Noto Sans KR"/>
              </a:defRPr>
            </a:pPr>
          </a:p>
        </c:txPr>
        <c:crossAx val="48672768"/>
        <c:majorUnit val="20"/>
      </c:valAx>
      <c:spPr>
        <a:solidFill xmlns:a="http://schemas.openxmlformats.org/drawingml/2006/main">
          <a:srgbClr val="F6F4EE"/>
        </a:solidFill>
      </c:spPr>
    </c:plotArea>
    <c:plotVisOnly val="1"/>
  </c:chart>
  <c:spPr>
    <a:solidFill xmlns:a="http://schemas.openxmlformats.org/drawingml/2006/main">
      <a:srgbClr val="F6F4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0" name="S01-subject-field">
            <a:extLst xmlns:a="http://schemas.openxmlformats.org/drawingml/2006/main">
              <a:ext uri="{FF2B5EF4-FFF2-40B4-BE49-F238E27FC236}">
                <a16:creationId xmlns:a16="http://schemas.microsoft.com/office/drawing/2014/main" id="{746ADAD8-0A0A-42C3-9E30-426E7EC522FD}"/>
              </a:ext>
            </a:extLst>
          </p:cNvPr>
          <p:cNvSpPr>
            <a:spLocks xmlns:a="http://schemas.openxmlformats.org/drawingml/2006/main" noGrp="1"/>
          </p:cNvSpPr>
          <p:nvPr/>
        </p:nvSpPr>
        <p:spPr>
          <a:xfrm xmlns:a="http://schemas.openxmlformats.org/drawingml/2006/main">
            <a:off x="0" y="0"/>
            <a:ext cx="5638800" cy="6858000"/>
          </a:xfrm>
          <a:prstGeom xmlns:a="http://schemas.openxmlformats.org/drawingml/2006/main" prst="rect">
            <a:avLst/>
          </a:prstGeom>
          <a:solidFill xmlns:a="http://schemas.openxmlformats.org/drawingml/2006/main">
            <a:srgbClr val="1E302F"/>
          </a:solidFill>
          <a:ln xmlns:a="http://schemas.openxmlformats.org/drawingml/2006/main" w="0">
            <a:noFill/>
          </a:ln>
        </p:spPr>
      </p:sp>
      <p:sp>
        <p:nvSpPr>
          <p:cNvPr id="2" name="S01-title">
            <a:extLst xmlns:a="http://schemas.openxmlformats.org/drawingml/2006/main">
              <a:ext uri="{FF2B5EF4-FFF2-40B4-BE49-F238E27FC236}">
                <a16:creationId xmlns:a16="http://schemas.microsoft.com/office/drawing/2014/main" id="{B05C087C-A36B-4835-B418-125462CAABD1}"/>
              </a:ext>
            </a:extLst>
          </p:cNvPr>
          <p:cNvSpPr>
            <a:spLocks xmlns:a="http://schemas.openxmlformats.org/drawingml/2006/main" noGrp="1"/>
          </p:cNvSpPr>
          <p:nvPr/>
        </p:nvSpPr>
        <p:spPr>
          <a:xfrm xmlns:a="http://schemas.openxmlformats.org/drawingml/2006/main">
            <a:off x="609600" y="1266825"/>
            <a:ext cx="45529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75" b="0">
                <a:solidFill>
                  <a:srgbClr val="FFFFFF"/>
                </a:solidFill>
                <a:latin typeface="Noto Sans KR"/>
                <a:ea typeface="Noto Sans KR"/>
                <a:cs typeface="Noto Sans KR"/>
              </a:defRPr>
            </a:pPr>
            <a:r>
              <a:rPr sz="3675" b="0">
                <a:solidFill>
                  <a:srgbClr val="FFFFFF"/>
                </a:solidFill>
                <a:latin typeface="Noto Sans KR"/>
                <a:ea typeface="Noto Sans KR"/>
                <a:cs typeface="Noto Sans KR"/>
              </a:rPr>
              <a:t>센서 이상 탐지</a:t>
            </a:r>
          </a:p>
          <a:p xmlns:a="http://schemas.openxmlformats.org/drawingml/2006/main">
            <a:pPr>
              <a:defRPr sz="3675" b="0">
                <a:solidFill>
                  <a:srgbClr val="FFFFFF"/>
                </a:solidFill>
                <a:latin typeface="Noto Sans KR"/>
                <a:ea typeface="Noto Sans KR"/>
                <a:cs typeface="Noto Sans KR"/>
              </a:defRPr>
            </a:pPr>
            <a:r>
              <a:rPr sz="3675" b="0">
                <a:solidFill>
                  <a:srgbClr val="FFFFFF"/>
                </a:solidFill>
                <a:latin typeface="Noto Sans KR"/>
                <a:ea typeface="Noto Sans KR"/>
                <a:cs typeface="Noto Sans KR"/>
              </a:rPr>
              <a:t>모델의 경량화</a:t>
            </a:r>
          </a:p>
        </p:txBody>
      </p:sp>
      <p:sp>
        <p:nvSpPr>
          <p:cNvPr id="3" name="S01-subtitle">
            <a:extLst xmlns:a="http://schemas.openxmlformats.org/drawingml/2006/main">
              <a:ext uri="{FF2B5EF4-FFF2-40B4-BE49-F238E27FC236}">
                <a16:creationId xmlns:a16="http://schemas.microsoft.com/office/drawing/2014/main" id="{3120C155-0FD1-4A4D-9FC6-90E448CC1487}"/>
              </a:ext>
            </a:extLst>
          </p:cNvPr>
          <p:cNvSpPr>
            <a:spLocks xmlns:a="http://schemas.openxmlformats.org/drawingml/2006/main" noGrp="1"/>
          </p:cNvSpPr>
          <p:nvPr/>
        </p:nvSpPr>
        <p:spPr>
          <a:xfrm xmlns:a="http://schemas.openxmlformats.org/drawingml/2006/main">
            <a:off x="609600" y="3933825"/>
            <a:ext cx="4381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175" b="0">
                <a:solidFill>
                  <a:srgbClr val="B9DDD0"/>
                </a:solidFill>
                <a:latin typeface="Noto Sans KR"/>
                <a:ea typeface="Noto Sans KR"/>
                <a:cs typeface="Noto Sans KR"/>
              </a:defRPr>
            </a:pPr>
            <a:r>
              <a:rPr sz="2175" b="0">
                <a:solidFill>
                  <a:srgbClr val="B9DDD0"/>
                </a:solidFill>
                <a:latin typeface="Noto Sans KR"/>
                <a:ea typeface="Noto Sans KR"/>
                <a:cs typeface="Noto Sans KR"/>
              </a:rPr>
              <a:t>지식 증류와</a:t>
            </a:r>
          </a:p>
          <a:p xmlns:a="http://schemas.openxmlformats.org/drawingml/2006/main">
            <a:pPr>
              <a:defRPr sz="2175" b="0">
                <a:solidFill>
                  <a:srgbClr val="B9DDD0"/>
                </a:solidFill>
                <a:latin typeface="Noto Sans KR"/>
                <a:ea typeface="Noto Sans KR"/>
                <a:cs typeface="Noto Sans KR"/>
              </a:defRPr>
            </a:pPr>
            <a:r>
              <a:rPr sz="2175" b="0">
                <a:solidFill>
                  <a:srgbClr val="B9DDD0"/>
                </a:solidFill>
                <a:latin typeface="Noto Sans KR"/>
                <a:ea typeface="Noto Sans KR"/>
                <a:cs typeface="Noto Sans KR"/>
              </a:rPr>
              <a:t>INT8 양자화</a:t>
            </a:r>
          </a:p>
        </p:txBody>
      </p:sp>
      <p:sp>
        <p:nvSpPr>
          <p:cNvPr id="4" name="S01-comparison">
            <a:extLst xmlns:a="http://schemas.openxmlformats.org/drawingml/2006/main">
              <a:ext uri="{FF2B5EF4-FFF2-40B4-BE49-F238E27FC236}">
                <a16:creationId xmlns:a16="http://schemas.microsoft.com/office/drawing/2014/main" id="{51CC5895-193D-49BD-A1D7-879EA49C3539}"/>
              </a:ext>
            </a:extLst>
          </p:cNvPr>
          <p:cNvSpPr>
            <a:spLocks xmlns:a="http://schemas.openxmlformats.org/drawingml/2006/main" noGrp="1"/>
          </p:cNvSpPr>
          <p:nvPr/>
        </p:nvSpPr>
        <p:spPr>
          <a:xfrm xmlns:a="http://schemas.openxmlformats.org/drawingml/2006/main">
            <a:off x="6210300" y="1009650"/>
            <a:ext cx="5353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Noto Sans KR"/>
                <a:ea typeface="Noto Sans KR"/>
                <a:cs typeface="Noto Sans KR"/>
              </a:defRPr>
            </a:pPr>
            <a:r>
              <a:rPr sz="2850" b="0">
                <a:solidFill>
                  <a:srgbClr val="1E302F"/>
                </a:solidFill>
                <a:latin typeface="Noto Sans KR"/>
                <a:ea typeface="Noto Sans KR"/>
                <a:cs typeface="Noto Sans KR"/>
              </a:rPr>
              <a:t>경량화에 따른 변화</a:t>
            </a:r>
          </a:p>
        </p:txBody>
      </p:sp>
      <p:sp>
        <p:nvSpPr>
          <p:cNvPr id="5" name="S01-baseline">
            <a:extLst xmlns:a="http://schemas.openxmlformats.org/drawingml/2006/main">
              <a:ext uri="{FF2B5EF4-FFF2-40B4-BE49-F238E27FC236}">
                <a16:creationId xmlns:a16="http://schemas.microsoft.com/office/drawing/2014/main" id="{218C01A4-902C-41E9-B1A2-9722D27E7550}"/>
              </a:ext>
            </a:extLst>
          </p:cNvPr>
          <p:cNvSpPr>
            <a:spLocks xmlns:a="http://schemas.openxmlformats.org/drawingml/2006/main" noGrp="1"/>
          </p:cNvSpPr>
          <p:nvPr/>
        </p:nvSpPr>
        <p:spPr>
          <a:xfrm xmlns:a="http://schemas.openxmlformats.org/drawingml/2006/main">
            <a:off x="8258175" y="20764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baseline</a:t>
            </a:r>
          </a:p>
        </p:txBody>
      </p:sp>
      <p:sp>
        <p:nvSpPr>
          <p:cNvPr id="6" name="S01-int8">
            <a:extLst xmlns:a="http://schemas.openxmlformats.org/drawingml/2006/main">
              <a:ext uri="{FF2B5EF4-FFF2-40B4-BE49-F238E27FC236}">
                <a16:creationId xmlns:a16="http://schemas.microsoft.com/office/drawing/2014/main" id="{EB63A2B3-810A-465D-B07E-29C3498E6124}"/>
              </a:ext>
            </a:extLst>
          </p:cNvPr>
          <p:cNvSpPr>
            <a:spLocks xmlns:a="http://schemas.openxmlformats.org/drawingml/2006/main" noGrp="1"/>
          </p:cNvSpPr>
          <p:nvPr/>
        </p:nvSpPr>
        <p:spPr>
          <a:xfrm xmlns:a="http://schemas.openxmlformats.org/drawingml/2006/main">
            <a:off x="10382250" y="2076450"/>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int8</a:t>
            </a:r>
          </a:p>
        </p:txBody>
      </p:sp>
      <p:sp>
        <p:nvSpPr>
          <p:cNvPr id="7" name="S01-rule-0">
            <a:extLst xmlns:a="http://schemas.openxmlformats.org/drawingml/2006/main">
              <a:ext uri="{FF2B5EF4-FFF2-40B4-BE49-F238E27FC236}">
                <a16:creationId xmlns:a16="http://schemas.microsoft.com/office/drawing/2014/main" id="{BF039235-0D75-447F-9A6F-E9DCFEF45893}"/>
              </a:ext>
            </a:extLst>
          </p:cNvPr>
          <p:cNvSpPr>
            <a:spLocks xmlns:a="http://schemas.openxmlformats.org/drawingml/2006/main" noGrp="1"/>
          </p:cNvSpPr>
          <p:nvPr/>
        </p:nvSpPr>
        <p:spPr>
          <a:xfrm xmlns:a="http://schemas.openxmlformats.org/drawingml/2006/main">
            <a:off x="6210300" y="2581275"/>
            <a:ext cx="5372100" cy="0"/>
          </a:xfrm>
          <a:prstGeom xmlns:a="http://schemas.openxmlformats.org/drawingml/2006/main" prst="line">
            <a:avLst/>
          </a:prstGeom>
          <a:ln xmlns:a="http://schemas.openxmlformats.org/drawingml/2006/main" w="9525">
            <a:solidFill>
              <a:srgbClr val="CFD8D1"/>
            </a:solidFill>
          </a:ln>
        </p:spPr>
      </p:sp>
      <p:sp>
        <p:nvSpPr>
          <p:cNvPr id="8" name="S01-label-1">
            <a:extLst xmlns:a="http://schemas.openxmlformats.org/drawingml/2006/main">
              <a:ext uri="{FF2B5EF4-FFF2-40B4-BE49-F238E27FC236}">
                <a16:creationId xmlns:a16="http://schemas.microsoft.com/office/drawing/2014/main" id="{45E3E10B-E549-45FF-B799-B830B7E58081}"/>
              </a:ext>
            </a:extLst>
          </p:cNvPr>
          <p:cNvSpPr>
            <a:spLocks xmlns:a="http://schemas.openxmlformats.org/drawingml/2006/main" noGrp="1"/>
          </p:cNvSpPr>
          <p:nvPr/>
        </p:nvSpPr>
        <p:spPr>
          <a:xfrm xmlns:a="http://schemas.openxmlformats.org/drawingml/2006/main">
            <a:off x="6210300" y="2762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지연 (ms)</a:t>
            </a:r>
          </a:p>
        </p:txBody>
      </p:sp>
      <p:sp>
        <p:nvSpPr>
          <p:cNvPr id="9" name="S01-value-base-1">
            <a:extLst xmlns:a="http://schemas.openxmlformats.org/drawingml/2006/main">
              <a:ext uri="{FF2B5EF4-FFF2-40B4-BE49-F238E27FC236}">
                <a16:creationId xmlns:a16="http://schemas.microsoft.com/office/drawing/2014/main" id="{74E6EC8D-4550-4034-A07F-4E320B5163B8}"/>
              </a:ext>
            </a:extLst>
          </p:cNvPr>
          <p:cNvSpPr>
            <a:spLocks xmlns:a="http://schemas.openxmlformats.org/drawingml/2006/main" noGrp="1"/>
          </p:cNvSpPr>
          <p:nvPr/>
        </p:nvSpPr>
        <p:spPr>
          <a:xfrm xmlns:a="http://schemas.openxmlformats.org/drawingml/2006/main">
            <a:off x="8258175" y="27622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Noto Sans KR"/>
                <a:ea typeface="Noto Sans KR"/>
                <a:cs typeface="Noto Sans KR"/>
              </a:defRPr>
            </a:pPr>
            <a:r>
              <a:rPr sz="2850" b="0">
                <a:solidFill>
                  <a:srgbClr val="1E302F"/>
                </a:solidFill>
                <a:latin typeface="Noto Sans KR"/>
                <a:ea typeface="Noto Sans KR"/>
                <a:cs typeface="Noto Sans KR"/>
              </a:rPr>
              <a:t>120</a:t>
            </a:r>
          </a:p>
        </p:txBody>
      </p:sp>
      <p:sp>
        <p:nvSpPr>
          <p:cNvPr id="10" name="S01-value-int8-1">
            <a:extLst xmlns:a="http://schemas.openxmlformats.org/drawingml/2006/main">
              <a:ext uri="{FF2B5EF4-FFF2-40B4-BE49-F238E27FC236}">
                <a16:creationId xmlns:a16="http://schemas.microsoft.com/office/drawing/2014/main" id="{26149F20-24F3-4DAC-A6ED-51C51909EE0D}"/>
              </a:ext>
            </a:extLst>
          </p:cNvPr>
          <p:cNvSpPr>
            <a:spLocks xmlns:a="http://schemas.openxmlformats.org/drawingml/2006/main" noGrp="1"/>
          </p:cNvSpPr>
          <p:nvPr/>
        </p:nvSpPr>
        <p:spPr>
          <a:xfrm xmlns:a="http://schemas.openxmlformats.org/drawingml/2006/main">
            <a:off x="10382250" y="2762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Noto Sans KR"/>
                <a:ea typeface="Noto Sans KR"/>
                <a:cs typeface="Noto Sans KR"/>
              </a:defRPr>
            </a:pPr>
            <a:r>
              <a:rPr sz="2850" b="0">
                <a:solidFill>
                  <a:srgbClr val="1E302F"/>
                </a:solidFill>
                <a:latin typeface="Noto Sans KR"/>
                <a:ea typeface="Noto Sans KR"/>
                <a:cs typeface="Noto Sans KR"/>
              </a:rPr>
              <a:t>54</a:t>
            </a:r>
          </a:p>
        </p:txBody>
      </p:sp>
      <p:sp>
        <p:nvSpPr>
          <p:cNvPr id="11" name="S01-rule-1">
            <a:extLst xmlns:a="http://schemas.openxmlformats.org/drawingml/2006/main">
              <a:ext uri="{FF2B5EF4-FFF2-40B4-BE49-F238E27FC236}">
                <a16:creationId xmlns:a16="http://schemas.microsoft.com/office/drawing/2014/main" id="{80BDCC95-E5FA-4A01-821F-97507A8949DB}"/>
              </a:ext>
            </a:extLst>
          </p:cNvPr>
          <p:cNvSpPr>
            <a:spLocks xmlns:a="http://schemas.openxmlformats.org/drawingml/2006/main" noGrp="1"/>
          </p:cNvSpPr>
          <p:nvPr/>
        </p:nvSpPr>
        <p:spPr>
          <a:xfrm xmlns:a="http://schemas.openxmlformats.org/drawingml/2006/main">
            <a:off x="6210300" y="3648075"/>
            <a:ext cx="5372100" cy="0"/>
          </a:xfrm>
          <a:prstGeom xmlns:a="http://schemas.openxmlformats.org/drawingml/2006/main" prst="line">
            <a:avLst/>
          </a:prstGeom>
          <a:ln xmlns:a="http://schemas.openxmlformats.org/drawingml/2006/main" w="9525">
            <a:solidFill>
              <a:srgbClr val="CFD8D1"/>
            </a:solidFill>
          </a:ln>
        </p:spPr>
      </p:sp>
      <p:sp>
        <p:nvSpPr>
          <p:cNvPr id="12" name="S01-label-2">
            <a:extLst xmlns:a="http://schemas.openxmlformats.org/drawingml/2006/main">
              <a:ext uri="{FF2B5EF4-FFF2-40B4-BE49-F238E27FC236}">
                <a16:creationId xmlns:a16="http://schemas.microsoft.com/office/drawing/2014/main" id="{2B2D0290-4108-48BA-A598-2BEFF4B8EF6F}"/>
              </a:ext>
            </a:extLst>
          </p:cNvPr>
          <p:cNvSpPr>
            <a:spLocks xmlns:a="http://schemas.openxmlformats.org/drawingml/2006/main" noGrp="1"/>
          </p:cNvSpPr>
          <p:nvPr/>
        </p:nvSpPr>
        <p:spPr>
          <a:xfrm xmlns:a="http://schemas.openxmlformats.org/drawingml/2006/main">
            <a:off x="6210300" y="38290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F1</a:t>
            </a:r>
          </a:p>
        </p:txBody>
      </p:sp>
      <p:sp>
        <p:nvSpPr>
          <p:cNvPr id="13" name="S01-value-base-2">
            <a:extLst xmlns:a="http://schemas.openxmlformats.org/drawingml/2006/main">
              <a:ext uri="{FF2B5EF4-FFF2-40B4-BE49-F238E27FC236}">
                <a16:creationId xmlns:a16="http://schemas.microsoft.com/office/drawing/2014/main" id="{C764B51C-EC38-48B5-A7A0-EA7CFFAD3AA8}"/>
              </a:ext>
            </a:extLst>
          </p:cNvPr>
          <p:cNvSpPr>
            <a:spLocks xmlns:a="http://schemas.openxmlformats.org/drawingml/2006/main" noGrp="1"/>
          </p:cNvSpPr>
          <p:nvPr/>
        </p:nvSpPr>
        <p:spPr>
          <a:xfrm xmlns:a="http://schemas.openxmlformats.org/drawingml/2006/main">
            <a:off x="8258175" y="38290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Noto Sans KR"/>
                <a:ea typeface="Noto Sans KR"/>
                <a:cs typeface="Noto Sans KR"/>
              </a:defRPr>
            </a:pPr>
            <a:r>
              <a:rPr sz="2850" b="0">
                <a:solidFill>
                  <a:srgbClr val="1E302F"/>
                </a:solidFill>
                <a:latin typeface="Noto Sans KR"/>
                <a:ea typeface="Noto Sans KR"/>
                <a:cs typeface="Noto Sans KR"/>
              </a:rPr>
              <a:t>0.910</a:t>
            </a:r>
          </a:p>
        </p:txBody>
      </p:sp>
      <p:sp>
        <p:nvSpPr>
          <p:cNvPr id="14" name="S01-value-int8-2">
            <a:extLst xmlns:a="http://schemas.openxmlformats.org/drawingml/2006/main">
              <a:ext uri="{FF2B5EF4-FFF2-40B4-BE49-F238E27FC236}">
                <a16:creationId xmlns:a16="http://schemas.microsoft.com/office/drawing/2014/main" id="{6E96A88D-11F9-432C-85F1-F0A99C4706D3}"/>
              </a:ext>
            </a:extLst>
          </p:cNvPr>
          <p:cNvSpPr>
            <a:spLocks xmlns:a="http://schemas.openxmlformats.org/drawingml/2006/main" noGrp="1"/>
          </p:cNvSpPr>
          <p:nvPr/>
        </p:nvSpPr>
        <p:spPr>
          <a:xfrm xmlns:a="http://schemas.openxmlformats.org/drawingml/2006/main">
            <a:off x="10382250" y="38290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Noto Sans KR"/>
                <a:ea typeface="Noto Sans KR"/>
                <a:cs typeface="Noto Sans KR"/>
              </a:defRPr>
            </a:pPr>
            <a:r>
              <a:rPr sz="2850" b="0">
                <a:solidFill>
                  <a:srgbClr val="1E302F"/>
                </a:solidFill>
                <a:latin typeface="Noto Sans KR"/>
                <a:ea typeface="Noto Sans KR"/>
                <a:cs typeface="Noto Sans KR"/>
              </a:rPr>
              <a:t>0.896</a:t>
            </a:r>
          </a:p>
        </p:txBody>
      </p:sp>
      <p:sp>
        <p:nvSpPr>
          <p:cNvPr id="15" name="S01-rule-2">
            <a:extLst xmlns:a="http://schemas.openxmlformats.org/drawingml/2006/main">
              <a:ext uri="{FF2B5EF4-FFF2-40B4-BE49-F238E27FC236}">
                <a16:creationId xmlns:a16="http://schemas.microsoft.com/office/drawing/2014/main" id="{B53B1632-7D20-4231-BDE6-17CEF74C1CC4}"/>
              </a:ext>
            </a:extLst>
          </p:cNvPr>
          <p:cNvSpPr>
            <a:spLocks xmlns:a="http://schemas.openxmlformats.org/drawingml/2006/main" noGrp="1"/>
          </p:cNvSpPr>
          <p:nvPr/>
        </p:nvSpPr>
        <p:spPr>
          <a:xfrm xmlns:a="http://schemas.openxmlformats.org/drawingml/2006/main">
            <a:off x="6210300" y="4714875"/>
            <a:ext cx="5372100" cy="0"/>
          </a:xfrm>
          <a:prstGeom xmlns:a="http://schemas.openxmlformats.org/drawingml/2006/main" prst="line">
            <a:avLst/>
          </a:prstGeom>
          <a:ln xmlns:a="http://schemas.openxmlformats.org/drawingml/2006/main" w="9525">
            <a:solidFill>
              <a:srgbClr val="CFD8D1"/>
            </a:solidFill>
          </a:ln>
        </p:spPr>
      </p:sp>
      <p:sp>
        <p:nvSpPr>
          <p:cNvPr id="16" name="S01-label-3">
            <a:extLst xmlns:a="http://schemas.openxmlformats.org/drawingml/2006/main">
              <a:ext uri="{FF2B5EF4-FFF2-40B4-BE49-F238E27FC236}">
                <a16:creationId xmlns:a16="http://schemas.microsoft.com/office/drawing/2014/main" id="{E67A4E41-02A8-4624-BDA6-5E44FDE3D74F}"/>
              </a:ext>
            </a:extLst>
          </p:cNvPr>
          <p:cNvSpPr>
            <a:spLocks xmlns:a="http://schemas.openxmlformats.org/drawingml/2006/main" noGrp="1"/>
          </p:cNvSpPr>
          <p:nvPr/>
        </p:nvSpPr>
        <p:spPr>
          <a:xfrm xmlns:a="http://schemas.openxmlformats.org/drawingml/2006/main">
            <a:off x="6210300" y="48958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모델 크기 (MB)</a:t>
            </a:r>
          </a:p>
        </p:txBody>
      </p:sp>
      <p:sp>
        <p:nvSpPr>
          <p:cNvPr id="17" name="S01-value-base-3">
            <a:extLst xmlns:a="http://schemas.openxmlformats.org/drawingml/2006/main">
              <a:ext uri="{FF2B5EF4-FFF2-40B4-BE49-F238E27FC236}">
                <a16:creationId xmlns:a16="http://schemas.microsoft.com/office/drawing/2014/main" id="{C745DB92-3669-462A-ACDE-9AD59CC5A81B}"/>
              </a:ext>
            </a:extLst>
          </p:cNvPr>
          <p:cNvSpPr>
            <a:spLocks xmlns:a="http://schemas.openxmlformats.org/drawingml/2006/main" noGrp="1"/>
          </p:cNvSpPr>
          <p:nvPr/>
        </p:nvSpPr>
        <p:spPr>
          <a:xfrm xmlns:a="http://schemas.openxmlformats.org/drawingml/2006/main">
            <a:off x="8258175" y="489585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Noto Sans KR"/>
                <a:ea typeface="Noto Sans KR"/>
                <a:cs typeface="Noto Sans KR"/>
              </a:defRPr>
            </a:pPr>
            <a:r>
              <a:rPr sz="2850" b="0">
                <a:solidFill>
                  <a:srgbClr val="1E302F"/>
                </a:solidFill>
                <a:latin typeface="Noto Sans KR"/>
                <a:ea typeface="Noto Sans KR"/>
                <a:cs typeface="Noto Sans KR"/>
              </a:rPr>
              <a:t>48</a:t>
            </a:r>
          </a:p>
        </p:txBody>
      </p:sp>
      <p:sp>
        <p:nvSpPr>
          <p:cNvPr id="18" name="S01-value-int8-3">
            <a:extLst xmlns:a="http://schemas.openxmlformats.org/drawingml/2006/main">
              <a:ext uri="{FF2B5EF4-FFF2-40B4-BE49-F238E27FC236}">
                <a16:creationId xmlns:a16="http://schemas.microsoft.com/office/drawing/2014/main" id="{9118243B-031F-4971-9948-0DA8F577A0F3}"/>
              </a:ext>
            </a:extLst>
          </p:cNvPr>
          <p:cNvSpPr>
            <a:spLocks xmlns:a="http://schemas.openxmlformats.org/drawingml/2006/main" noGrp="1"/>
          </p:cNvSpPr>
          <p:nvPr/>
        </p:nvSpPr>
        <p:spPr>
          <a:xfrm xmlns:a="http://schemas.openxmlformats.org/drawingml/2006/main">
            <a:off x="10382250" y="48958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850" b="0">
                <a:solidFill>
                  <a:srgbClr val="1E302F"/>
                </a:solidFill>
                <a:latin typeface="Noto Sans KR"/>
                <a:ea typeface="Noto Sans KR"/>
                <a:cs typeface="Noto Sans KR"/>
              </a:defRPr>
            </a:pPr>
            <a:r>
              <a:rPr sz="2850" b="0">
                <a:solidFill>
                  <a:srgbClr val="1E302F"/>
                </a:solidFill>
                <a:latin typeface="Noto Sans KR"/>
                <a:ea typeface="Noto Sans KR"/>
                <a:cs typeface="Noto Sans KR"/>
              </a:rPr>
              <a:t>12</a:t>
            </a:r>
          </a:p>
        </p:txBody>
      </p:sp>
      <p:sp>
        <p:nvSpPr>
          <p:cNvPr id="19" name="S01-disclosure">
            <a:extLst xmlns:a="http://schemas.openxmlformats.org/drawingml/2006/main">
              <a:ext uri="{FF2B5EF4-FFF2-40B4-BE49-F238E27FC236}">
                <a16:creationId xmlns:a16="http://schemas.microsoft.com/office/drawing/2014/main" id="{F1963806-6430-4657-AA19-3DB7DEA9D695}"/>
              </a:ext>
            </a:extLst>
          </p:cNvPr>
          <p:cNvSpPr>
            <a:spLocks xmlns:a="http://schemas.openxmlformats.org/drawingml/2006/main" noGrp="1"/>
          </p:cNvSpPr>
          <p:nvPr/>
        </p:nvSpPr>
        <p:spPr>
          <a:xfrm xmlns:a="http://schemas.openxmlformats.org/drawingml/2006/main">
            <a:off x="609600" y="6372225"/>
            <a:ext cx="457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B9DDD0"/>
                </a:solidFill>
                <a:latin typeface="Noto Sans KR"/>
                <a:ea typeface="Noto Sans KR"/>
                <a:cs typeface="Noto Sans KR"/>
              </a:defRPr>
            </a:pPr>
            <a:r>
              <a:rPr sz="1275" b="0">
                <a:solidFill>
                  <a:srgbClr val="B9DDD0"/>
                </a:solidFill>
                <a:latin typeface="Noto Sans KR"/>
                <a:ea typeface="Noto Sans KR"/>
                <a:cs typeface="Noto Sans KR"/>
              </a:rPr>
              <a:t>가상 데이터</a:t>
            </a:r>
          </a:p>
        </p:txBody>
      </p:sp>
    </p:spTree>
    <p:extLst>
      <p:ext uri="{BB962C8B-B14F-4D97-AF65-F5344CB8AC3E}">
        <p14:creationId xmlns:p14="http://schemas.microsoft.com/office/powerpoint/2010/main" val="1297296397"/>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2" name="S02-title">
            <a:extLst xmlns:a="http://schemas.openxmlformats.org/drawingml/2006/main">
              <a:ext uri="{FF2B5EF4-FFF2-40B4-BE49-F238E27FC236}">
                <a16:creationId xmlns:a16="http://schemas.microsoft.com/office/drawing/2014/main" id="{786A9605-410C-4A7E-B424-A686CEC00249}"/>
              </a:ext>
            </a:extLst>
          </p:cNvPr>
          <p:cNvSpPr>
            <a:spLocks xmlns:a="http://schemas.openxmlformats.org/drawingml/2006/main" noGrp="1"/>
          </p:cNvSpPr>
          <p:nvPr/>
        </p:nvSpPr>
        <p:spPr>
          <a:xfrm xmlns:a="http://schemas.openxmlformats.org/drawingml/2006/main">
            <a:off x="685800" y="8953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000" b="0">
                <a:solidFill>
                  <a:srgbClr val="1E302F"/>
                </a:solidFill>
                <a:latin typeface="Noto Sans KR"/>
                <a:ea typeface="Noto Sans KR"/>
                <a:cs typeface="Noto Sans KR"/>
              </a:defRPr>
            </a:pPr>
            <a:r>
              <a:rPr sz="3000" b="0">
                <a:solidFill>
                  <a:srgbClr val="1E302F"/>
                </a:solidFill>
                <a:latin typeface="Noto Sans KR"/>
                <a:ea typeface="Noto Sans KR"/>
                <a:cs typeface="Noto Sans KR"/>
              </a:rPr>
              <a:t>모델과 경량화 과정</a:t>
            </a:r>
          </a:p>
        </p:txBody>
      </p:sp>
      <p:sp>
        <p:nvSpPr>
          <p:cNvPr id="2" name="S02-disclosure">
            <a:extLst xmlns:a="http://schemas.openxmlformats.org/drawingml/2006/main">
              <a:ext uri="{FF2B5EF4-FFF2-40B4-BE49-F238E27FC236}">
                <a16:creationId xmlns:a16="http://schemas.microsoft.com/office/drawing/2014/main" id="{96EB7DA5-7903-4B33-BB88-8D40015B52E7}"/>
              </a:ext>
            </a:extLst>
          </p:cNvPr>
          <p:cNvSpPr>
            <a:spLocks xmlns:a="http://schemas.openxmlformats.org/drawingml/2006/main" noGrp="1"/>
          </p:cNvSpPr>
          <p:nvPr/>
        </p:nvSpPr>
        <p:spPr>
          <a:xfrm xmlns:a="http://schemas.openxmlformats.org/drawingml/2006/main">
            <a:off x="685800" y="63722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a:t>
            </a:r>
          </a:p>
        </p:txBody>
      </p:sp>
      <p:sp>
        <p:nvSpPr>
          <p:cNvPr id="3" name="S02-number">
            <a:extLst xmlns:a="http://schemas.openxmlformats.org/drawingml/2006/main">
              <a:ext uri="{FF2B5EF4-FFF2-40B4-BE49-F238E27FC236}">
                <a16:creationId xmlns:a16="http://schemas.microsoft.com/office/drawing/2014/main" id="{9521993F-D3BF-4C92-A6E3-28D3DADFD1B1}"/>
              </a:ext>
            </a:extLst>
          </p:cNvPr>
          <p:cNvSpPr>
            <a:spLocks xmlns:a="http://schemas.openxmlformats.org/drawingml/2006/main" noGrp="1"/>
          </p:cNvSpPr>
          <p:nvPr/>
        </p:nvSpPr>
        <p:spPr>
          <a:xfrm xmlns:a="http://schemas.openxmlformats.org/drawingml/2006/main">
            <a:off x="11144250" y="6372225"/>
            <a:ext cx="361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02</a:t>
            </a:r>
          </a:p>
        </p:txBody>
      </p:sp>
      <p:sp>
        <p:nvSpPr>
          <p:cNvPr id="4" name="S02-method-field">
            <a:extLst xmlns:a="http://schemas.openxmlformats.org/drawingml/2006/main">
              <a:ext uri="{FF2B5EF4-FFF2-40B4-BE49-F238E27FC236}">
                <a16:creationId xmlns:a16="http://schemas.microsoft.com/office/drawing/2014/main" id="{C24E8D75-3B46-4588-B2F2-E45976467EEB}"/>
              </a:ext>
            </a:extLst>
          </p:cNvPr>
          <p:cNvSpPr>
            <a:spLocks xmlns:a="http://schemas.openxmlformats.org/drawingml/2006/main" noGrp="1"/>
          </p:cNvSpPr>
          <p:nvPr/>
        </p:nvSpPr>
        <p:spPr>
          <a:xfrm xmlns:a="http://schemas.openxmlformats.org/drawingml/2006/main">
            <a:off x="457200" y="1866900"/>
            <a:ext cx="11277600" cy="3467100"/>
          </a:xfrm>
          <a:prstGeom xmlns:a="http://schemas.openxmlformats.org/drawingml/2006/main" prst="rect">
            <a:avLst/>
          </a:prstGeom>
          <a:solidFill xmlns:a="http://schemas.openxmlformats.org/drawingml/2006/main">
            <a:srgbClr val="E8EDE5"/>
          </a:solidFill>
          <a:ln xmlns:a="http://schemas.openxmlformats.org/drawingml/2006/main" w="0">
            <a:noFill/>
          </a:ln>
        </p:spPr>
      </p:sp>
      <p:sp>
        <p:nvSpPr>
          <p:cNvPr id="5" name="S02-marker-1">
            <a:extLst xmlns:a="http://schemas.openxmlformats.org/drawingml/2006/main">
              <a:ext uri="{FF2B5EF4-FFF2-40B4-BE49-F238E27FC236}">
                <a16:creationId xmlns:a16="http://schemas.microsoft.com/office/drawing/2014/main" id="{CB7B1038-9CA5-4DD4-8785-9A82BC813037}"/>
              </a:ext>
            </a:extLst>
          </p:cNvPr>
          <p:cNvSpPr>
            <a:spLocks xmlns:a="http://schemas.openxmlformats.org/drawingml/2006/main" noGrp="1"/>
          </p:cNvSpPr>
          <p:nvPr/>
        </p:nvSpPr>
        <p:spPr>
          <a:xfrm xmlns:a="http://schemas.openxmlformats.org/drawingml/2006/main">
            <a:off x="685800" y="2524125"/>
            <a:ext cx="609600" cy="609600"/>
          </a:xfrm>
          <a:prstGeom xmlns:a="http://schemas.openxmlformats.org/drawingml/2006/main" prst="ellipse">
            <a:avLst/>
          </a:prstGeom>
          <a:solidFill xmlns:a="http://schemas.openxmlformats.org/drawingml/2006/main">
            <a:srgbClr val="287D7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1650">
                <a:solidFill>
                  <a:srgbClr val="FFFFFF"/>
                </a:solidFill>
                <a:latin typeface="Noto Sans KR"/>
                <a:ea typeface="Noto Sans KR"/>
                <a:cs typeface="Noto Sans KR"/>
              </a:defRPr>
            </a:pPr>
            <a:r>
              <a:rPr sz="1650">
                <a:solidFill>
                  <a:srgbClr val="FFFFFF"/>
                </a:solidFill>
                <a:latin typeface="Noto Sans KR"/>
                <a:ea typeface="Noto Sans KR"/>
                <a:cs typeface="Noto Sans KR"/>
              </a:rPr>
              <a:t>01</a:t>
            </a:r>
          </a:p>
        </p:txBody>
      </p:sp>
      <p:sp>
        <p:nvSpPr>
          <p:cNvPr id="6" name="S02-marker-2">
            <a:extLst xmlns:a="http://schemas.openxmlformats.org/drawingml/2006/main">
              <a:ext uri="{FF2B5EF4-FFF2-40B4-BE49-F238E27FC236}">
                <a16:creationId xmlns:a16="http://schemas.microsoft.com/office/drawing/2014/main" id="{C6A6CBFF-31A5-4A08-87FF-72DCF042AFE1}"/>
              </a:ext>
            </a:extLst>
          </p:cNvPr>
          <p:cNvSpPr>
            <a:spLocks xmlns:a="http://schemas.openxmlformats.org/drawingml/2006/main" noGrp="1"/>
          </p:cNvSpPr>
          <p:nvPr/>
        </p:nvSpPr>
        <p:spPr>
          <a:xfrm xmlns:a="http://schemas.openxmlformats.org/drawingml/2006/main">
            <a:off x="4648200" y="2524125"/>
            <a:ext cx="609600" cy="609600"/>
          </a:xfrm>
          <a:prstGeom xmlns:a="http://schemas.openxmlformats.org/drawingml/2006/main" prst="ellipse">
            <a:avLst/>
          </a:prstGeom>
          <a:solidFill xmlns:a="http://schemas.openxmlformats.org/drawingml/2006/main">
            <a:srgbClr val="287D7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1650">
                <a:solidFill>
                  <a:srgbClr val="FFFFFF"/>
                </a:solidFill>
                <a:latin typeface="Noto Sans KR"/>
                <a:ea typeface="Noto Sans KR"/>
                <a:cs typeface="Noto Sans KR"/>
              </a:defRPr>
            </a:pPr>
            <a:r>
              <a:rPr sz="1650">
                <a:solidFill>
                  <a:srgbClr val="FFFFFF"/>
                </a:solidFill>
                <a:latin typeface="Noto Sans KR"/>
                <a:ea typeface="Noto Sans KR"/>
                <a:cs typeface="Noto Sans KR"/>
              </a:rPr>
              <a:t>02</a:t>
            </a:r>
          </a:p>
        </p:txBody>
      </p:sp>
      <p:sp>
        <p:nvSpPr>
          <p:cNvPr id="7" name="S02-marker-3">
            <a:extLst xmlns:a="http://schemas.openxmlformats.org/drawingml/2006/main">
              <a:ext uri="{FF2B5EF4-FFF2-40B4-BE49-F238E27FC236}">
                <a16:creationId xmlns:a16="http://schemas.microsoft.com/office/drawing/2014/main" id="{B79B1A7A-4BFA-45BE-A3A7-D5E23D3986E1}"/>
              </a:ext>
            </a:extLst>
          </p:cNvPr>
          <p:cNvSpPr>
            <a:spLocks xmlns:a="http://schemas.openxmlformats.org/drawingml/2006/main" noGrp="1"/>
          </p:cNvSpPr>
          <p:nvPr/>
        </p:nvSpPr>
        <p:spPr>
          <a:xfrm xmlns:a="http://schemas.openxmlformats.org/drawingml/2006/main">
            <a:off x="8610600" y="2524125"/>
            <a:ext cx="609600" cy="609600"/>
          </a:xfrm>
          <a:prstGeom xmlns:a="http://schemas.openxmlformats.org/drawingml/2006/main" prst="ellipse">
            <a:avLst/>
          </a:prstGeom>
          <a:solidFill xmlns:a="http://schemas.openxmlformats.org/drawingml/2006/main">
            <a:srgbClr val="287D78"/>
          </a:solidFill>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defRPr sz="1650">
                <a:solidFill>
                  <a:srgbClr val="FFFFFF"/>
                </a:solidFill>
                <a:latin typeface="Noto Sans KR"/>
                <a:ea typeface="Noto Sans KR"/>
                <a:cs typeface="Noto Sans KR"/>
              </a:defRPr>
            </a:pPr>
            <a:r>
              <a:rPr sz="1650">
                <a:solidFill>
                  <a:srgbClr val="FFFFFF"/>
                </a:solidFill>
                <a:latin typeface="Noto Sans KR"/>
                <a:ea typeface="Noto Sans KR"/>
                <a:cs typeface="Noto Sans KR"/>
              </a:rPr>
              <a:t>03</a:t>
            </a:r>
          </a:p>
        </p:txBody>
      </p:sp>
      <p:cxnSp>
        <p:nvCxnSpPr>
          <p:cNvPr id="29" name="S02-link-2"/>
          <p:cNvCxnSpPr>
            <a:stCxn xmlns:a="http://schemas.openxmlformats.org/drawingml/2006/main" id="5" idx="6"/>
            <a:endCxn xmlns:a="http://schemas.openxmlformats.org/drawingml/2006/main" id="6" idx="2"/>
          </p:cNvCxnSpPr>
          <p:nvPr/>
        </p:nvCxnSpPr>
        <p:spPr>
          <a:xfrm xmlns:a="http://schemas.openxmlformats.org/drawingml/2006/main">
            <a:off x="1295400" y="2828925"/>
            <a:ext cx="3352800" cy="0"/>
          </a:xfrm>
          <a:prstGeom xmlns:a="http://schemas.openxmlformats.org/drawingml/2006/main" prst="straightConnector1">
            <a:avLst/>
          </a:prstGeom>
          <a:ln xmlns:a="http://schemas.openxmlformats.org/drawingml/2006/main" w="17145">
            <a:solidFill>
              <a:srgbClr val="9EADA5"/>
            </a:solidFill>
            <a:tailEnd type="triangle" w="sm" len="sm"/>
          </a:ln>
        </p:spPr>
      </p:cxnSp>
      <p:cxnSp>
        <p:nvCxnSpPr>
          <p:cNvPr id="30" name="S02-link-3"/>
          <p:cNvCxnSpPr>
            <a:stCxn xmlns:a="http://schemas.openxmlformats.org/drawingml/2006/main" id="6" idx="6"/>
            <a:endCxn xmlns:a="http://schemas.openxmlformats.org/drawingml/2006/main" id="7" idx="2"/>
          </p:cNvCxnSpPr>
          <p:nvPr/>
        </p:nvCxnSpPr>
        <p:spPr>
          <a:xfrm xmlns:a="http://schemas.openxmlformats.org/drawingml/2006/main">
            <a:off x="5257800" y="2828925"/>
            <a:ext cx="3352800" cy="0"/>
          </a:xfrm>
          <a:prstGeom xmlns:a="http://schemas.openxmlformats.org/drawingml/2006/main" prst="straightConnector1">
            <a:avLst/>
          </a:prstGeom>
          <a:ln xmlns:a="http://schemas.openxmlformats.org/drawingml/2006/main" w="17145">
            <a:solidFill>
              <a:srgbClr val="9EADA5"/>
            </a:solidFill>
            <a:tailEnd type="triangle" w="sm" len="sm"/>
          </a:ln>
        </p:spPr>
      </p:cxnSp>
      <p:sp>
        <p:nvSpPr>
          <p:cNvPr id="10" name="S02-flow-2">
            <a:extLst xmlns:a="http://schemas.openxmlformats.org/drawingml/2006/main">
              <a:ext uri="{FF2B5EF4-FFF2-40B4-BE49-F238E27FC236}">
                <a16:creationId xmlns:a16="http://schemas.microsoft.com/office/drawing/2014/main" id="{FE14EF2D-5A51-4CBD-B333-CDBC0A874E7A}"/>
              </a:ext>
            </a:extLst>
          </p:cNvPr>
          <p:cNvSpPr>
            <a:spLocks xmlns:a="http://schemas.openxmlformats.org/drawingml/2006/main" noGrp="1"/>
          </p:cNvSpPr>
          <p:nvPr/>
        </p:nvSpPr>
        <p:spPr>
          <a:xfrm xmlns:a="http://schemas.openxmlformats.org/drawingml/2006/main">
            <a:off x="1524000" y="20574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지식 증류</a:t>
            </a:r>
          </a:p>
        </p:txBody>
      </p:sp>
      <p:sp>
        <p:nvSpPr>
          <p:cNvPr id="11" name="S02-flow-3">
            <a:extLst xmlns:a="http://schemas.openxmlformats.org/drawingml/2006/main">
              <a:ext uri="{FF2B5EF4-FFF2-40B4-BE49-F238E27FC236}">
                <a16:creationId xmlns:a16="http://schemas.microsoft.com/office/drawing/2014/main" id="{3532FF58-1A19-435E-B937-B797FA1501C4}"/>
              </a:ext>
            </a:extLst>
          </p:cNvPr>
          <p:cNvSpPr>
            <a:spLocks xmlns:a="http://schemas.openxmlformats.org/drawingml/2006/main" noGrp="1"/>
          </p:cNvSpPr>
          <p:nvPr/>
        </p:nvSpPr>
        <p:spPr>
          <a:xfrm xmlns:a="http://schemas.openxmlformats.org/drawingml/2006/main">
            <a:off x="5486400" y="20574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INT8 양자화</a:t>
            </a:r>
          </a:p>
        </p:txBody>
      </p:sp>
      <p:sp>
        <p:nvSpPr>
          <p:cNvPr id="12" name="S02-stage-1">
            <a:extLst xmlns:a="http://schemas.openxmlformats.org/drawingml/2006/main">
              <a:ext uri="{FF2B5EF4-FFF2-40B4-BE49-F238E27FC236}">
                <a16:creationId xmlns:a16="http://schemas.microsoft.com/office/drawing/2014/main" id="{86CDB8D6-6FBC-4BC8-816A-7922FB0FE782}"/>
              </a:ext>
            </a:extLst>
          </p:cNvPr>
          <p:cNvSpPr>
            <a:spLocks xmlns:a="http://schemas.openxmlformats.org/drawingml/2006/main" noGrp="1"/>
          </p:cNvSpPr>
          <p:nvPr/>
        </p:nvSpPr>
        <p:spPr>
          <a:xfrm xmlns:a="http://schemas.openxmlformats.org/drawingml/2006/main">
            <a:off x="685800" y="334327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교사 모델</a:t>
            </a:r>
          </a:p>
        </p:txBody>
      </p:sp>
      <p:sp>
        <p:nvSpPr>
          <p:cNvPr id="13" name="S02-name-1">
            <a:extLst xmlns:a="http://schemas.openxmlformats.org/drawingml/2006/main">
              <a:ext uri="{FF2B5EF4-FFF2-40B4-BE49-F238E27FC236}">
                <a16:creationId xmlns:a16="http://schemas.microsoft.com/office/drawing/2014/main" id="{640D8BA7-89D2-4A30-9DC4-C5E9E32B62AB}"/>
              </a:ext>
            </a:extLst>
          </p:cNvPr>
          <p:cNvSpPr>
            <a:spLocks xmlns:a="http://schemas.openxmlformats.org/drawingml/2006/main" noGrp="1"/>
          </p:cNvSpPr>
          <p:nvPr/>
        </p:nvSpPr>
        <p:spPr>
          <a:xfrm xmlns:a="http://schemas.openxmlformats.org/drawingml/2006/main">
            <a:off x="685800" y="38766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246E69"/>
                </a:solidFill>
                <a:latin typeface="Noto Sans KR"/>
                <a:ea typeface="Noto Sans KR"/>
                <a:cs typeface="Noto Sans KR"/>
              </a:defRPr>
            </a:pPr>
            <a:r>
              <a:rPr sz="1575" b="0">
                <a:solidFill>
                  <a:srgbClr val="246E69"/>
                </a:solidFill>
                <a:latin typeface="Noto Sans KR"/>
                <a:ea typeface="Noto Sans KR"/>
                <a:cs typeface="Noto Sans KR"/>
              </a:rPr>
              <a:t>baseline</a:t>
            </a:r>
          </a:p>
        </p:txBody>
      </p:sp>
      <p:sp>
        <p:nvSpPr>
          <p:cNvPr id="14" name="S02-detail-1">
            <a:extLst xmlns:a="http://schemas.openxmlformats.org/drawingml/2006/main">
              <a:ext uri="{FF2B5EF4-FFF2-40B4-BE49-F238E27FC236}">
                <a16:creationId xmlns:a16="http://schemas.microsoft.com/office/drawing/2014/main" id="{FA129D6F-2804-4137-AE49-4FA026B61160}"/>
              </a:ext>
            </a:extLst>
          </p:cNvPr>
          <p:cNvSpPr>
            <a:spLocks xmlns:a="http://schemas.openxmlformats.org/drawingml/2006/main" noGrp="1"/>
          </p:cNvSpPr>
          <p:nvPr/>
        </p:nvSpPr>
        <p:spPr>
          <a:xfrm xmlns:a="http://schemas.openxmlformats.org/drawingml/2006/main">
            <a:off x="685800" y="44386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성능 비교의 기준이자</a:t>
            </a:r>
          </a:p>
          <a:p xmlns:a="http://schemas.openxmlformats.org/drawingml/2006/main">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지식을 전달하는 교사</a:t>
            </a:r>
          </a:p>
        </p:txBody>
      </p:sp>
      <p:sp>
        <p:nvSpPr>
          <p:cNvPr id="15" name="S02-stage-2">
            <a:extLst xmlns:a="http://schemas.openxmlformats.org/drawingml/2006/main">
              <a:ext uri="{FF2B5EF4-FFF2-40B4-BE49-F238E27FC236}">
                <a16:creationId xmlns:a16="http://schemas.microsoft.com/office/drawing/2014/main" id="{1B11E811-0150-4EB2-9BAB-C60189477309}"/>
              </a:ext>
            </a:extLst>
          </p:cNvPr>
          <p:cNvSpPr>
            <a:spLocks xmlns:a="http://schemas.openxmlformats.org/drawingml/2006/main" noGrp="1"/>
          </p:cNvSpPr>
          <p:nvPr/>
        </p:nvSpPr>
        <p:spPr>
          <a:xfrm xmlns:a="http://schemas.openxmlformats.org/drawingml/2006/main">
            <a:off x="4648200" y="334327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학생 모델</a:t>
            </a:r>
          </a:p>
        </p:txBody>
      </p:sp>
      <p:sp>
        <p:nvSpPr>
          <p:cNvPr id="16" name="S02-name-2">
            <a:extLst xmlns:a="http://schemas.openxmlformats.org/drawingml/2006/main">
              <a:ext uri="{FF2B5EF4-FFF2-40B4-BE49-F238E27FC236}">
                <a16:creationId xmlns:a16="http://schemas.microsoft.com/office/drawing/2014/main" id="{F29D79EE-1418-435F-B0D0-981626934636}"/>
              </a:ext>
            </a:extLst>
          </p:cNvPr>
          <p:cNvSpPr>
            <a:spLocks xmlns:a="http://schemas.openxmlformats.org/drawingml/2006/main" noGrp="1"/>
          </p:cNvSpPr>
          <p:nvPr/>
        </p:nvSpPr>
        <p:spPr>
          <a:xfrm xmlns:a="http://schemas.openxmlformats.org/drawingml/2006/main">
            <a:off x="4648200" y="38766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246E69"/>
                </a:solidFill>
                <a:latin typeface="Noto Sans KR"/>
                <a:ea typeface="Noto Sans KR"/>
                <a:cs typeface="Noto Sans KR"/>
              </a:defRPr>
            </a:pPr>
            <a:r>
              <a:rPr sz="1575" b="0">
                <a:solidFill>
                  <a:srgbClr val="246E69"/>
                </a:solidFill>
                <a:latin typeface="Noto Sans KR"/>
                <a:ea typeface="Noto Sans KR"/>
                <a:cs typeface="Noto Sans KR"/>
              </a:rPr>
              <a:t>distilled</a:t>
            </a:r>
          </a:p>
        </p:txBody>
      </p:sp>
      <p:sp>
        <p:nvSpPr>
          <p:cNvPr id="17" name="S02-detail-2">
            <a:extLst xmlns:a="http://schemas.openxmlformats.org/drawingml/2006/main">
              <a:ext uri="{FF2B5EF4-FFF2-40B4-BE49-F238E27FC236}">
                <a16:creationId xmlns:a16="http://schemas.microsoft.com/office/drawing/2014/main" id="{1473EC92-A837-4D39-8D2D-8A2A3F6B6FE2}"/>
              </a:ext>
            </a:extLst>
          </p:cNvPr>
          <p:cNvSpPr>
            <a:spLocks xmlns:a="http://schemas.openxmlformats.org/drawingml/2006/main" noGrp="1"/>
          </p:cNvSpPr>
          <p:nvPr/>
        </p:nvSpPr>
        <p:spPr>
          <a:xfrm xmlns:a="http://schemas.openxmlformats.org/drawingml/2006/main">
            <a:off x="4648200" y="44386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교사의 예측을 활용해</a:t>
            </a:r>
          </a:p>
          <a:p xmlns:a="http://schemas.openxmlformats.org/drawingml/2006/main">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작은 학생 모델을 학습</a:t>
            </a:r>
          </a:p>
        </p:txBody>
      </p:sp>
      <p:sp>
        <p:nvSpPr>
          <p:cNvPr id="18" name="S02-stage-3">
            <a:extLst xmlns:a="http://schemas.openxmlformats.org/drawingml/2006/main">
              <a:ext uri="{FF2B5EF4-FFF2-40B4-BE49-F238E27FC236}">
                <a16:creationId xmlns:a16="http://schemas.microsoft.com/office/drawing/2014/main" id="{0FCDA664-8011-4580-802F-B6CC8D8A128C}"/>
              </a:ext>
            </a:extLst>
          </p:cNvPr>
          <p:cNvSpPr>
            <a:spLocks xmlns:a="http://schemas.openxmlformats.org/drawingml/2006/main" noGrp="1"/>
          </p:cNvSpPr>
          <p:nvPr/>
        </p:nvSpPr>
        <p:spPr>
          <a:xfrm xmlns:a="http://schemas.openxmlformats.org/drawingml/2006/main">
            <a:off x="8610600" y="334327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INT8 학생 모델</a:t>
            </a:r>
          </a:p>
        </p:txBody>
      </p:sp>
      <p:sp>
        <p:nvSpPr>
          <p:cNvPr id="19" name="S02-name-3">
            <a:extLst xmlns:a="http://schemas.openxmlformats.org/drawingml/2006/main">
              <a:ext uri="{FF2B5EF4-FFF2-40B4-BE49-F238E27FC236}">
                <a16:creationId xmlns:a16="http://schemas.microsoft.com/office/drawing/2014/main" id="{4BB01D62-A7CD-4788-A077-9AE76D7AFEFA}"/>
              </a:ext>
            </a:extLst>
          </p:cNvPr>
          <p:cNvSpPr>
            <a:spLocks xmlns:a="http://schemas.openxmlformats.org/drawingml/2006/main" noGrp="1"/>
          </p:cNvSpPr>
          <p:nvPr/>
        </p:nvSpPr>
        <p:spPr>
          <a:xfrm xmlns:a="http://schemas.openxmlformats.org/drawingml/2006/main">
            <a:off x="8610600" y="38766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246E69"/>
                </a:solidFill>
                <a:latin typeface="Noto Sans KR"/>
                <a:ea typeface="Noto Sans KR"/>
                <a:cs typeface="Noto Sans KR"/>
              </a:defRPr>
            </a:pPr>
            <a:r>
              <a:rPr sz="1575" b="0">
                <a:solidFill>
                  <a:srgbClr val="246E69"/>
                </a:solidFill>
                <a:latin typeface="Noto Sans KR"/>
                <a:ea typeface="Noto Sans KR"/>
                <a:cs typeface="Noto Sans KR"/>
              </a:rPr>
              <a:t>int8</a:t>
            </a:r>
          </a:p>
        </p:txBody>
      </p:sp>
      <p:sp>
        <p:nvSpPr>
          <p:cNvPr id="20" name="S02-detail-3">
            <a:extLst xmlns:a="http://schemas.openxmlformats.org/drawingml/2006/main">
              <a:ext uri="{FF2B5EF4-FFF2-40B4-BE49-F238E27FC236}">
                <a16:creationId xmlns:a16="http://schemas.microsoft.com/office/drawing/2014/main" id="{E1186B7D-4F7C-4573-ADD9-0C4FE2E45303}"/>
              </a:ext>
            </a:extLst>
          </p:cNvPr>
          <p:cNvSpPr>
            <a:spLocks xmlns:a="http://schemas.openxmlformats.org/drawingml/2006/main" noGrp="1"/>
          </p:cNvSpPr>
          <p:nvPr/>
        </p:nvSpPr>
        <p:spPr>
          <a:xfrm xmlns:a="http://schemas.openxmlformats.org/drawingml/2006/main">
            <a:off x="8610600" y="44386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모델 내 지정한 수치를</a:t>
            </a:r>
          </a:p>
          <a:p xmlns:a="http://schemas.openxmlformats.org/drawingml/2006/main">
            <a:pPr>
              <a:defRPr sz="1875" b="0">
                <a:solidFill>
                  <a:srgbClr val="586C68"/>
                </a:solidFill>
                <a:latin typeface="Noto Sans KR"/>
                <a:ea typeface="Noto Sans KR"/>
                <a:cs typeface="Noto Sans KR"/>
              </a:defRPr>
            </a:pPr>
            <a:r>
              <a:rPr sz="1875" b="0">
                <a:solidFill>
                  <a:srgbClr val="586C68"/>
                </a:solidFill>
                <a:latin typeface="Noto Sans KR"/>
                <a:ea typeface="Noto Sans KR"/>
                <a:cs typeface="Noto Sans KR"/>
              </a:rPr>
              <a:t>8비트 정수로 표현</a:t>
            </a:r>
          </a:p>
        </p:txBody>
      </p:sp>
      <p:sp>
        <p:nvSpPr>
          <p:cNvPr id="21" name="S02-caveat">
            <a:extLst xmlns:a="http://schemas.openxmlformats.org/drawingml/2006/main">
              <a:ext uri="{FF2B5EF4-FFF2-40B4-BE49-F238E27FC236}">
                <a16:creationId xmlns:a16="http://schemas.microsoft.com/office/drawing/2014/main" id="{9153CEBA-02D6-4537-8A28-8448123C7E3C}"/>
              </a:ext>
            </a:extLst>
          </p:cNvPr>
          <p:cNvSpPr>
            <a:spLocks xmlns:a="http://schemas.openxmlformats.org/drawingml/2006/main" noGrp="1"/>
          </p:cNvSpPr>
          <p:nvPr/>
        </p:nvSpPr>
        <p:spPr>
          <a:xfrm xmlns:a="http://schemas.openxmlformats.org/drawingml/2006/main">
            <a:off x="685800" y="56578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경량화 과정을 설명하기 위한 개념도입니다.</a:t>
            </a:r>
          </a:p>
        </p:txBody>
      </p:sp>
    </p:spTree>
    <p:extLst>
      <p:ext uri="{BB962C8B-B14F-4D97-AF65-F5344CB8AC3E}">
        <p14:creationId xmlns:p14="http://schemas.microsoft.com/office/powerpoint/2010/main" val="285713905"/>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S03-title">
            <a:extLst xmlns:a="http://schemas.openxmlformats.org/drawingml/2006/main">
              <a:ext uri="{FF2B5EF4-FFF2-40B4-BE49-F238E27FC236}">
                <a16:creationId xmlns:a16="http://schemas.microsoft.com/office/drawing/2014/main" id="{C41752D5-DD1F-4376-B169-90418CFAC891}"/>
              </a:ext>
            </a:extLst>
          </p:cNvPr>
          <p:cNvSpPr>
            <a:spLocks xmlns:a="http://schemas.openxmlformats.org/drawingml/2006/main" noGrp="1"/>
          </p:cNvSpPr>
          <p:nvPr/>
        </p:nvSpPr>
        <p:spPr>
          <a:xfrm xmlns:a="http://schemas.openxmlformats.org/drawingml/2006/main">
            <a:off x="685800" y="8953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000" b="0">
                <a:solidFill>
                  <a:srgbClr val="1E302F"/>
                </a:solidFill>
                <a:latin typeface="Noto Sans KR"/>
                <a:ea typeface="Noto Sans KR"/>
                <a:cs typeface="Noto Sans KR"/>
              </a:defRPr>
            </a:pPr>
            <a:r>
              <a:rPr sz="3000" b="0">
                <a:solidFill>
                  <a:srgbClr val="1E302F"/>
                </a:solidFill>
                <a:latin typeface="Noto Sans KR"/>
                <a:ea typeface="Noto Sans KR"/>
                <a:cs typeface="Noto Sans KR"/>
              </a:rPr>
              <a:t>지연, F1, 모델 크기 비교</a:t>
            </a:r>
          </a:p>
        </p:txBody>
      </p:sp>
      <p:sp>
        <p:nvSpPr>
          <p:cNvPr id="2" name="S03-disclosure">
            <a:extLst xmlns:a="http://schemas.openxmlformats.org/drawingml/2006/main">
              <a:ext uri="{FF2B5EF4-FFF2-40B4-BE49-F238E27FC236}">
                <a16:creationId xmlns:a16="http://schemas.microsoft.com/office/drawing/2014/main" id="{EE3275A8-0DAB-4B0D-9609-F428BB302C99}"/>
              </a:ext>
            </a:extLst>
          </p:cNvPr>
          <p:cNvSpPr>
            <a:spLocks xmlns:a="http://schemas.openxmlformats.org/drawingml/2006/main" noGrp="1"/>
          </p:cNvSpPr>
          <p:nvPr/>
        </p:nvSpPr>
        <p:spPr>
          <a:xfrm xmlns:a="http://schemas.openxmlformats.org/drawingml/2006/main">
            <a:off x="685800" y="63722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a:t>
            </a:r>
          </a:p>
        </p:txBody>
      </p:sp>
      <p:sp>
        <p:nvSpPr>
          <p:cNvPr id="3" name="S03-number">
            <a:extLst xmlns:a="http://schemas.openxmlformats.org/drawingml/2006/main">
              <a:ext uri="{FF2B5EF4-FFF2-40B4-BE49-F238E27FC236}">
                <a16:creationId xmlns:a16="http://schemas.microsoft.com/office/drawing/2014/main" id="{0D100BAA-403D-4CEF-A57F-7602E7936EB5}"/>
              </a:ext>
            </a:extLst>
          </p:cNvPr>
          <p:cNvSpPr>
            <a:spLocks xmlns:a="http://schemas.openxmlformats.org/drawingml/2006/main" noGrp="1"/>
          </p:cNvSpPr>
          <p:nvPr/>
        </p:nvSpPr>
        <p:spPr>
          <a:xfrm xmlns:a="http://schemas.openxmlformats.org/drawingml/2006/main">
            <a:off x="11144250" y="6372225"/>
            <a:ext cx="361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03</a:t>
            </a:r>
          </a:p>
        </p:txBody>
      </p:sp>
      <p:sp>
        <p:nvSpPr>
          <p:cNvPr id="4" name="S03-direction">
            <a:extLst xmlns:a="http://schemas.openxmlformats.org/drawingml/2006/main">
              <a:ext uri="{FF2B5EF4-FFF2-40B4-BE49-F238E27FC236}">
                <a16:creationId xmlns:a16="http://schemas.microsoft.com/office/drawing/2014/main" id="{9F7CA977-AE75-46C5-8707-32A90B765367}"/>
              </a:ext>
            </a:extLst>
          </p:cNvPr>
          <p:cNvSpPr>
            <a:spLocks xmlns:a="http://schemas.openxmlformats.org/drawingml/2006/main" noGrp="1"/>
          </p:cNvSpPr>
          <p:nvPr/>
        </p:nvSpPr>
        <p:spPr>
          <a:xfrm xmlns:a="http://schemas.openxmlformats.org/drawingml/2006/main">
            <a:off x="685800" y="16287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지연과 모델 크기는 낮을수록, F1은 높을수록 좋습니다.</a:t>
            </a:r>
          </a:p>
        </p:txBody>
      </p:sp>
      <p:graphicFrame>
        <p:nvGraphicFramePr>
          <p:cNvPr id="11" name=""/>
          <p:cNvGraphicFramePr/>
          <p:nvPr/>
        </p:nvGraphicFramePr>
        <p:xfrm>
          <a:off xmlns:a="http://schemas.openxmlformats.org/drawingml/2006/main" x="609600" y="2343150"/>
          <a:ext xmlns:a="http://schemas.openxmlformats.org/drawingml/2006/main" cx="10972800" cy="2933700"/>
        </p:xfrm>
        <a:graphic xmlns:a="http://schemas.openxmlformats.org/drawingml/2006/main">
          <a:graphicData uri="http://schemas.openxmlformats.org/drawingml/2006/table">
            <a:tbl>
              <a:tblPr/>
              <a:tblGrid>
                <a:gridCol w="3429000"/>
                <a:gridCol w="2667000"/>
                <a:gridCol w="2209800"/>
                <a:gridCol w="2667000"/>
              </a:tblGrid>
              <a:tr h="733425">
                <a:tc>
                  <a:txBody>
                    <a:bodyPr/>
                    <a:lstStyle/>
                    <a:p>
                      <a:pPr algn="l"/>
                      <a:r>
                        <a:rPr sz="1800" b="0">
                          <a:solidFill>
                            <a:srgbClr val="FFFFFF"/>
                          </a:solidFill>
                          <a:latin typeface="Noto Sans KR"/>
                          <a:ea typeface="Noto Sans KR"/>
                          <a:cs typeface="Noto Sans KR"/>
                        </a:rPr>
                        <a:t>모델</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Noto Sans KR"/>
                          <a:ea typeface="Noto Sans KR"/>
                          <a:cs typeface="Noto Sans KR"/>
                        </a:rPr>
                        <a:t>지연 (ms)</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Noto Sans KR"/>
                          <a:ea typeface="Noto Sans KR"/>
                          <a:cs typeface="Noto Sans KR"/>
                        </a:rPr>
                        <a:t>F1</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c>
                  <a:txBody>
                    <a:bodyPr/>
                    <a:lstStyle/>
                    <a:p>
                      <a:pPr algn="ctr"/>
                      <a:r>
                        <a:rPr sz="1800" b="0">
                          <a:solidFill>
                            <a:srgbClr val="FFFFFF"/>
                          </a:solidFill>
                          <a:latin typeface="Noto Sans KR"/>
                          <a:ea typeface="Noto Sans KR"/>
                          <a:cs typeface="Noto Sans KR"/>
                        </a:rPr>
                        <a:t>크기 (MB)</a:t>
                      </a:r>
                    </a:p>
                  </a:txBody>
                  <a:tcPr marL="95250" marR="95250" marT="95250" marB="95250" anchor="ctr">
                    <a:lnL w="12700">
                      <a:noFill/>
                    </a:lnL>
                    <a:lnR w="12700">
                      <a:noFill/>
                    </a:lnR>
                    <a:lnT w="12700">
                      <a:noFill/>
                    </a:lnT>
                    <a:lnB w="12700">
                      <a:noFill/>
                    </a:lnB>
                    <a:lnTlToBr w="12700">
                      <a:noFill/>
                    </a:lnTlToBr>
                    <a:lnBlToTr w="12700">
                      <a:noFill/>
                    </a:lnBlToTr>
                    <a:solidFill>
                      <a:srgbClr val="1E302F"/>
                    </a:solidFill>
                  </a:tcPr>
                </a:tc>
              </a:tr>
              <a:tr h="733425">
                <a:tc>
                  <a:txBody>
                    <a:bodyPr/>
                    <a:lstStyle/>
                    <a:p>
                      <a:pPr algn="l"/>
                      <a:r>
                        <a:rPr sz="2400" b="0">
                          <a:solidFill>
                            <a:srgbClr val="1E302F"/>
                          </a:solidFill>
                          <a:latin typeface="Noto Sans KR"/>
                          <a:ea typeface="Noto Sans KR"/>
                          <a:cs typeface="Noto Sans KR"/>
                        </a:rPr>
                        <a:t>baseline</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Noto Sans KR"/>
                          <a:ea typeface="Noto Sans KR"/>
                          <a:cs typeface="Noto Sans KR"/>
                        </a:rPr>
                        <a:t>120</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Noto Sans KR"/>
                          <a:ea typeface="Noto Sans KR"/>
                          <a:cs typeface="Noto Sans KR"/>
                        </a:rPr>
                        <a:t>0.910</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Noto Sans KR"/>
                          <a:ea typeface="Noto Sans KR"/>
                          <a:cs typeface="Noto Sans KR"/>
                        </a:rPr>
                        <a:t>48</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r>
              <a:tr h="733425">
                <a:tc>
                  <a:txBody>
                    <a:bodyPr/>
                    <a:lstStyle/>
                    <a:p>
                      <a:pPr algn="l"/>
                      <a:r>
                        <a:rPr sz="2400" b="0">
                          <a:solidFill>
                            <a:srgbClr val="1E302F"/>
                          </a:solidFill>
                          <a:latin typeface="Noto Sans KR"/>
                          <a:ea typeface="Noto Sans KR"/>
                          <a:cs typeface="Noto Sans KR"/>
                        </a:rPr>
                        <a:t>distilled</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72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0.902</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c>
                  <a:txBody>
                    <a:bodyPr/>
                    <a:lstStyle/>
                    <a:p>
                      <a:pPr algn="ctr"/>
                      <a:r>
                        <a:rPr sz="2400" b="0">
                          <a:solidFill>
                            <a:srgbClr val="1E302F"/>
                          </a:solidFill>
                          <a:latin typeface="Noto Sans KR"/>
                          <a:ea typeface="Noto Sans KR"/>
                          <a:cs typeface="Noto Sans KR"/>
                        </a:rPr>
                        <a:t>18</a:t>
                      </a:r>
                    </a:p>
                  </a:txBody>
                  <a:tcPr marL="95250" marR="95250" marT="95250" marB="95250" anchor="ctr">
                    <a:lnL w="12700">
                      <a:noFill/>
                    </a:lnL>
                    <a:lnR w="12700">
                      <a:noFill/>
                    </a:lnR>
                    <a:lnT w="12700">
                      <a:noFill/>
                    </a:lnT>
                    <a:lnB w="12700">
                      <a:noFill/>
                    </a:lnB>
                    <a:lnTlToBr w="12700">
                      <a:noFill/>
                    </a:lnTlToBr>
                    <a:lnBlToTr w="12700">
                      <a:noFill/>
                    </a:lnBlToTr>
                    <a:solidFill>
                      <a:srgbClr val="F6F4EE"/>
                    </a:solidFill>
                  </a:tcPr>
                </a:tc>
              </a:tr>
              <a:tr h="733425">
                <a:tc>
                  <a:txBody>
                    <a:bodyPr/>
                    <a:lstStyle/>
                    <a:p>
                      <a:pPr algn="l"/>
                      <a:r>
                        <a:rPr sz="2400" b="0">
                          <a:solidFill>
                            <a:srgbClr val="1E302F"/>
                          </a:solidFill>
                          <a:latin typeface="Noto Sans KR"/>
                          <a:ea typeface="Noto Sans KR"/>
                          <a:cs typeface="Noto Sans KR"/>
                        </a:rPr>
                        <a:t>int8</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Noto Sans KR"/>
                          <a:ea typeface="Noto Sans KR"/>
                          <a:cs typeface="Noto Sans KR"/>
                        </a:rPr>
                        <a:t>54</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Noto Sans KR"/>
                          <a:ea typeface="Noto Sans KR"/>
                          <a:cs typeface="Noto Sans KR"/>
                        </a:rPr>
                        <a:t>0.896</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c>
                  <a:txBody>
                    <a:bodyPr/>
                    <a:lstStyle/>
                    <a:p>
                      <a:pPr algn="ctr"/>
                      <a:r>
                        <a:rPr sz="2400" b="0">
                          <a:solidFill>
                            <a:srgbClr val="1E302F"/>
                          </a:solidFill>
                          <a:latin typeface="Noto Sans KR"/>
                          <a:ea typeface="Noto Sans KR"/>
                          <a:cs typeface="Noto Sans KR"/>
                        </a:rPr>
                        <a:t>12</a:t>
                      </a:r>
                    </a:p>
                  </a:txBody>
                  <a:tcPr marL="95250" marR="95250" marT="95250" marB="95250" anchor="ctr">
                    <a:lnL w="12700">
                      <a:noFill/>
                    </a:lnL>
                    <a:lnR w="12700">
                      <a:noFill/>
                    </a:lnR>
                    <a:lnT w="12700">
                      <a:noFill/>
                    </a:lnT>
                    <a:lnB w="12700">
                      <a:noFill/>
                    </a:lnB>
                    <a:lnTlToBr w="12700">
                      <a:noFill/>
                    </a:lnTlToBr>
                    <a:lnBlToTr w="12700">
                      <a:noFill/>
                    </a:lnBlToTr>
                    <a:solidFill>
                      <a:srgbClr val="E8EDE5"/>
                    </a:solidFill>
                  </a:tcPr>
                </a:tc>
              </a:tr>
            </a:tbl>
          </a:graphicData>
        </a:graphic>
      </p:graphicFrame>
      <p:sp>
        <p:nvSpPr>
          <p:cNvPr id="6" name="S03-limit">
            <a:extLst xmlns:a="http://schemas.openxmlformats.org/drawingml/2006/main">
              <a:ext uri="{FF2B5EF4-FFF2-40B4-BE49-F238E27FC236}">
                <a16:creationId xmlns:a16="http://schemas.microsoft.com/office/drawing/2014/main" id="{A1A9D84A-067B-4845-9DD7-6429EC59FBE6}"/>
              </a:ext>
            </a:extLst>
          </p:cNvPr>
          <p:cNvSpPr>
            <a:spLocks xmlns:a="http://schemas.openxmlformats.org/drawingml/2006/main" noGrp="1"/>
          </p:cNvSpPr>
          <p:nvPr/>
        </p:nvSpPr>
        <p:spPr>
          <a:xfrm xmlns:a="http://schemas.openxmlformats.org/drawingml/2006/main">
            <a:off x="685800" y="56197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586C68"/>
                </a:solidFill>
                <a:latin typeface="Noto Sans KR"/>
                <a:ea typeface="Noto Sans KR"/>
                <a:cs typeface="Noto Sans KR"/>
              </a:defRPr>
            </a:pPr>
            <a:r>
              <a:rPr sz="1575" b="0">
                <a:solidFill>
                  <a:srgbClr val="586C68"/>
                </a:solidFill>
                <a:latin typeface="Noto Sans KR"/>
                <a:ea typeface="Noto Sans KR"/>
                <a:cs typeface="Noto Sans KR"/>
              </a:rPr>
              <a:t>동일 장치·데이터를 가정한 예시이며, 측정 변동성은 평가하지 않았습니다.</a:t>
            </a:r>
          </a:p>
        </p:txBody>
      </p:sp>
    </p:spTree>
    <p:extLst>
      <p:ext uri="{BB962C8B-B14F-4D97-AF65-F5344CB8AC3E}">
        <p14:creationId xmlns:p14="http://schemas.microsoft.com/office/powerpoint/2010/main" val="2008783958"/>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7" name="S04-title">
            <a:extLst xmlns:a="http://schemas.openxmlformats.org/drawingml/2006/main">
              <a:ext uri="{FF2B5EF4-FFF2-40B4-BE49-F238E27FC236}">
                <a16:creationId xmlns:a16="http://schemas.microsoft.com/office/drawing/2014/main" id="{DA8F1443-77C1-4F44-A728-5928FD40DABC}"/>
              </a:ext>
            </a:extLst>
          </p:cNvPr>
          <p:cNvSpPr>
            <a:spLocks xmlns:a="http://schemas.openxmlformats.org/drawingml/2006/main" noGrp="1"/>
          </p:cNvSpPr>
          <p:nvPr/>
        </p:nvSpPr>
        <p:spPr>
          <a:xfrm xmlns:a="http://schemas.openxmlformats.org/drawingml/2006/main">
            <a:off x="685800" y="8953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000" b="0">
                <a:solidFill>
                  <a:srgbClr val="1E302F"/>
                </a:solidFill>
                <a:latin typeface="Noto Sans KR"/>
                <a:ea typeface="Noto Sans KR"/>
                <a:cs typeface="Noto Sans KR"/>
              </a:defRPr>
            </a:pPr>
            <a:r>
              <a:rPr sz="3000" b="0">
                <a:solidFill>
                  <a:srgbClr val="1E302F"/>
                </a:solidFill>
                <a:latin typeface="Noto Sans KR"/>
                <a:ea typeface="Noto Sans KR"/>
                <a:cs typeface="Noto Sans KR"/>
              </a:rPr>
              <a:t>지연은 줄고, F1도 낮아집니다</a:t>
            </a:r>
          </a:p>
        </p:txBody>
      </p:sp>
      <p:sp>
        <p:nvSpPr>
          <p:cNvPr id="2" name="S04-disclosure">
            <a:extLst xmlns:a="http://schemas.openxmlformats.org/drawingml/2006/main">
              <a:ext uri="{FF2B5EF4-FFF2-40B4-BE49-F238E27FC236}">
                <a16:creationId xmlns:a16="http://schemas.microsoft.com/office/drawing/2014/main" id="{5D0B6C74-F2F4-4E52-A1EC-6B61C7AA320C}"/>
              </a:ext>
            </a:extLst>
          </p:cNvPr>
          <p:cNvSpPr>
            <a:spLocks xmlns:a="http://schemas.openxmlformats.org/drawingml/2006/main" noGrp="1"/>
          </p:cNvSpPr>
          <p:nvPr/>
        </p:nvSpPr>
        <p:spPr>
          <a:xfrm xmlns:a="http://schemas.openxmlformats.org/drawingml/2006/main">
            <a:off x="685800" y="63722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가상 데이터</a:t>
            </a:r>
          </a:p>
        </p:txBody>
      </p:sp>
      <p:sp>
        <p:nvSpPr>
          <p:cNvPr id="3" name="S04-number">
            <a:extLst xmlns:a="http://schemas.openxmlformats.org/drawingml/2006/main">
              <a:ext uri="{FF2B5EF4-FFF2-40B4-BE49-F238E27FC236}">
                <a16:creationId xmlns:a16="http://schemas.microsoft.com/office/drawing/2014/main" id="{4780A70D-5067-4C31-907F-3BAD7EE55A92}"/>
              </a:ext>
            </a:extLst>
          </p:cNvPr>
          <p:cNvSpPr>
            <a:spLocks xmlns:a="http://schemas.openxmlformats.org/drawingml/2006/main" noGrp="1"/>
          </p:cNvSpPr>
          <p:nvPr/>
        </p:nvSpPr>
        <p:spPr>
          <a:xfrm xmlns:a="http://schemas.openxmlformats.org/drawingml/2006/main">
            <a:off x="11144250" y="6372225"/>
            <a:ext cx="361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6C68"/>
                </a:solidFill>
                <a:latin typeface="Noto Sans KR"/>
                <a:ea typeface="Noto Sans KR"/>
                <a:cs typeface="Noto Sans KR"/>
              </a:defRPr>
            </a:pPr>
            <a:r>
              <a:rPr sz="1275" b="0">
                <a:solidFill>
                  <a:srgbClr val="586C68"/>
                </a:solidFill>
                <a:latin typeface="Noto Sans KR"/>
                <a:ea typeface="Noto Sans KR"/>
                <a:cs typeface="Noto Sans KR"/>
              </a:rPr>
              <a:t>04</a:t>
            </a:r>
          </a:p>
        </p:txBody>
      </p:sp>
      <p:sp>
        <p:nvSpPr>
          <p:cNvPr id="4" name="S04-interpretation-field">
            <a:extLst xmlns:a="http://schemas.openxmlformats.org/drawingml/2006/main">
              <a:ext uri="{FF2B5EF4-FFF2-40B4-BE49-F238E27FC236}">
                <a16:creationId xmlns:a16="http://schemas.microsoft.com/office/drawing/2014/main" id="{165C88B8-725C-48C2-A646-7BD5533CB354}"/>
              </a:ext>
            </a:extLst>
          </p:cNvPr>
          <p:cNvSpPr>
            <a:spLocks xmlns:a="http://schemas.openxmlformats.org/drawingml/2006/main" noGrp="1"/>
          </p:cNvSpPr>
          <p:nvPr/>
        </p:nvSpPr>
        <p:spPr>
          <a:xfrm xmlns:a="http://schemas.openxmlformats.org/drawingml/2006/main">
            <a:off x="8143875" y="1666875"/>
            <a:ext cx="3590925" cy="4191000"/>
          </a:xfrm>
          <a:prstGeom xmlns:a="http://schemas.openxmlformats.org/drawingml/2006/main" prst="rect">
            <a:avLst/>
          </a:prstGeom>
          <a:solidFill xmlns:a="http://schemas.openxmlformats.org/drawingml/2006/main">
            <a:srgbClr val="1E302F"/>
          </a:solidFill>
          <a:ln xmlns:a="http://schemas.openxmlformats.org/drawingml/2006/main" w="0">
            <a:noFill/>
          </a:ln>
        </p:spPr>
      </p:sp>
      <p:sp>
        <p:nvSpPr>
          <p:cNvPr id="5" name="S04-chart-unit">
            <a:extLst xmlns:a="http://schemas.openxmlformats.org/drawingml/2006/main">
              <a:ext uri="{FF2B5EF4-FFF2-40B4-BE49-F238E27FC236}">
                <a16:creationId xmlns:a16="http://schemas.microsoft.com/office/drawing/2014/main" id="{127418DE-DB21-421E-BF47-EC61D9F182F4}"/>
              </a:ext>
            </a:extLst>
          </p:cNvPr>
          <p:cNvSpPr>
            <a:spLocks xmlns:a="http://schemas.openxmlformats.org/drawingml/2006/main" noGrp="1"/>
          </p:cNvSpPr>
          <p:nvPr/>
        </p:nvSpPr>
        <p:spPr>
          <a:xfrm xmlns:a="http://schemas.openxmlformats.org/drawingml/2006/main">
            <a:off x="685800" y="16478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F1 · 높을수록 좋음</a:t>
            </a:r>
          </a:p>
        </p:txBody>
      </p:sp>
      <p:graphicFrame>
        <p:nvGraphicFramePr>
          <p:cNvPr id="22" name="Chart"/>
          <p:cNvGraphicFramePr/>
          <p:nvPr/>
        </p:nvGraphicFramePr>
        <p:xfrm>
          <a:off xmlns:a="http://schemas.openxmlformats.org/drawingml/2006/main" x="619125" y="2114550"/>
          <a:ext xmlns:a="http://schemas.openxmlformats.org/drawingml/2006/main" cx="7000875" cy="2857500"/>
        </p:xfrm>
        <a:graphic xmlns:a="http://schemas.openxmlformats.org/drawingml/2006/main">
          <a:graphicData uri="http://schemas.openxmlformats.org/drawingml/2006/chart">
            <c:chart xmlns:r="http://schemas.openxmlformats.org/officeDocument/2006/relationships" xmlns:c="http://schemas.openxmlformats.org/drawingml/2006/chart" r:id="Rc01dddce49fe437a"/>
          </a:graphicData>
        </a:graphic>
      </p:graphicFrame>
      <p:sp>
        <p:nvSpPr>
          <p:cNvPr id="7" name="S04-x-unit">
            <a:extLst xmlns:a="http://schemas.openxmlformats.org/drawingml/2006/main">
              <a:ext uri="{FF2B5EF4-FFF2-40B4-BE49-F238E27FC236}">
                <a16:creationId xmlns:a16="http://schemas.microsoft.com/office/drawing/2014/main" id="{92447F2B-B919-4200-84D7-BBF76BC08E30}"/>
              </a:ext>
            </a:extLst>
          </p:cNvPr>
          <p:cNvSpPr>
            <a:spLocks xmlns:a="http://schemas.openxmlformats.org/drawingml/2006/main" noGrp="1"/>
          </p:cNvSpPr>
          <p:nvPr/>
        </p:nvSpPr>
        <p:spPr>
          <a:xfrm xmlns:a="http://schemas.openxmlformats.org/drawingml/2006/main">
            <a:off x="1428750" y="49434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586C68"/>
                </a:solidFill>
                <a:latin typeface="Noto Sans KR"/>
                <a:ea typeface="Noto Sans KR"/>
                <a:cs typeface="Noto Sans KR"/>
              </a:defRPr>
            </a:pPr>
            <a:r>
              <a:rPr sz="1725" b="0">
                <a:solidFill>
                  <a:srgbClr val="586C68"/>
                </a:solidFill>
                <a:latin typeface="Noto Sans KR"/>
                <a:ea typeface="Noto Sans KR"/>
                <a:cs typeface="Noto Sans KR"/>
              </a:rPr>
              <a:t>지연 (ms) · 낮을수록 좋음</a:t>
            </a:r>
          </a:p>
        </p:txBody>
      </p:sp>
      <p:sp>
        <p:nvSpPr>
          <p:cNvPr id="8" name="S04-basis">
            <a:extLst xmlns:a="http://schemas.openxmlformats.org/drawingml/2006/main">
              <a:ext uri="{FF2B5EF4-FFF2-40B4-BE49-F238E27FC236}">
                <a16:creationId xmlns:a16="http://schemas.microsoft.com/office/drawing/2014/main" id="{4040749D-EEEF-4233-A098-9244ADC0CACE}"/>
              </a:ext>
            </a:extLst>
          </p:cNvPr>
          <p:cNvSpPr>
            <a:spLocks xmlns:a="http://schemas.openxmlformats.org/drawingml/2006/main" noGrp="1"/>
          </p:cNvSpPr>
          <p:nvPr/>
        </p:nvSpPr>
        <p:spPr>
          <a:xfrm xmlns:a="http://schemas.openxmlformats.org/drawingml/2006/main">
            <a:off x="8439150" y="18669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B9DDD0"/>
                </a:solidFill>
                <a:latin typeface="Noto Sans KR"/>
                <a:ea typeface="Noto Sans KR"/>
                <a:cs typeface="Noto Sans KR"/>
              </a:defRPr>
            </a:pPr>
            <a:r>
              <a:rPr sz="1800" b="0">
                <a:solidFill>
                  <a:srgbClr val="B9DDD0"/>
                </a:solidFill>
                <a:latin typeface="Noto Sans KR"/>
                <a:ea typeface="Noto Sans KR"/>
                <a:cs typeface="Noto Sans KR"/>
              </a:rPr>
              <a:t>원본 대비 INT8</a:t>
            </a:r>
          </a:p>
        </p:txBody>
      </p:sp>
      <p:sp>
        <p:nvSpPr>
          <p:cNvPr id="9" name="S04-latency">
            <a:extLst xmlns:a="http://schemas.openxmlformats.org/drawingml/2006/main">
              <a:ext uri="{FF2B5EF4-FFF2-40B4-BE49-F238E27FC236}">
                <a16:creationId xmlns:a16="http://schemas.microsoft.com/office/drawing/2014/main" id="{7CA9773E-0243-44F9-861A-E5ABD841EA7A}"/>
              </a:ext>
            </a:extLst>
          </p:cNvPr>
          <p:cNvSpPr>
            <a:spLocks xmlns:a="http://schemas.openxmlformats.org/drawingml/2006/main" noGrp="1"/>
          </p:cNvSpPr>
          <p:nvPr/>
        </p:nvSpPr>
        <p:spPr>
          <a:xfrm xmlns:a="http://schemas.openxmlformats.org/drawingml/2006/main">
            <a:off x="8439150" y="24669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450" b="0">
                <a:solidFill>
                  <a:srgbClr val="FFFFFF"/>
                </a:solidFill>
                <a:latin typeface="Noto Sans KR"/>
                <a:ea typeface="Noto Sans KR"/>
                <a:cs typeface="Noto Sans KR"/>
              </a:defRPr>
            </a:pPr>
            <a:r>
              <a:rPr sz="3450" b="0">
                <a:solidFill>
                  <a:srgbClr val="FFFFFF"/>
                </a:solidFill>
                <a:latin typeface="Noto Sans KR"/>
                <a:ea typeface="Noto Sans KR"/>
                <a:cs typeface="Noto Sans KR"/>
              </a:rPr>
              <a:t>−55%</a:t>
            </a:r>
          </a:p>
        </p:txBody>
      </p:sp>
      <p:sp>
        <p:nvSpPr>
          <p:cNvPr id="10" name="S04-latency-label">
            <a:extLst xmlns:a="http://schemas.openxmlformats.org/drawingml/2006/main">
              <a:ext uri="{FF2B5EF4-FFF2-40B4-BE49-F238E27FC236}">
                <a16:creationId xmlns:a16="http://schemas.microsoft.com/office/drawing/2014/main" id="{3EAD2E6F-447A-4371-8637-5964521115A7}"/>
              </a:ext>
            </a:extLst>
          </p:cNvPr>
          <p:cNvSpPr>
            <a:spLocks xmlns:a="http://schemas.openxmlformats.org/drawingml/2006/main" noGrp="1"/>
          </p:cNvSpPr>
          <p:nvPr/>
        </p:nvSpPr>
        <p:spPr>
          <a:xfrm xmlns:a="http://schemas.openxmlformats.org/drawingml/2006/main">
            <a:off x="8439150" y="3095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D7E6DF"/>
                </a:solidFill>
                <a:latin typeface="Noto Sans KR"/>
                <a:ea typeface="Noto Sans KR"/>
                <a:cs typeface="Noto Sans KR"/>
              </a:defRPr>
            </a:pPr>
            <a:r>
              <a:rPr sz="1650" b="0">
                <a:solidFill>
                  <a:srgbClr val="D7E6DF"/>
                </a:solidFill>
                <a:latin typeface="Noto Sans KR"/>
                <a:ea typeface="Noto Sans KR"/>
                <a:cs typeface="Noto Sans KR"/>
              </a:rPr>
              <a:t>지연 · 120 → 54 ms</a:t>
            </a:r>
          </a:p>
        </p:txBody>
      </p:sp>
      <p:sp>
        <p:nvSpPr>
          <p:cNvPr id="11" name="S04-f1">
            <a:extLst xmlns:a="http://schemas.openxmlformats.org/drawingml/2006/main">
              <a:ext uri="{FF2B5EF4-FFF2-40B4-BE49-F238E27FC236}">
                <a16:creationId xmlns:a16="http://schemas.microsoft.com/office/drawing/2014/main" id="{3C0FC121-FE60-4D02-88E6-3C7DE221DE46}"/>
              </a:ext>
            </a:extLst>
          </p:cNvPr>
          <p:cNvSpPr>
            <a:spLocks xmlns:a="http://schemas.openxmlformats.org/drawingml/2006/main" noGrp="1"/>
          </p:cNvSpPr>
          <p:nvPr/>
        </p:nvSpPr>
        <p:spPr>
          <a:xfrm xmlns:a="http://schemas.openxmlformats.org/drawingml/2006/main">
            <a:off x="8439150" y="38195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450" b="0">
                <a:solidFill>
                  <a:srgbClr val="FFFFFF"/>
                </a:solidFill>
                <a:latin typeface="Noto Sans KR"/>
                <a:ea typeface="Noto Sans KR"/>
                <a:cs typeface="Noto Sans KR"/>
              </a:defRPr>
            </a:pPr>
            <a:r>
              <a:rPr sz="3450" b="0">
                <a:solidFill>
                  <a:srgbClr val="FFFFFF"/>
                </a:solidFill>
                <a:latin typeface="Noto Sans KR"/>
                <a:ea typeface="Noto Sans KR"/>
                <a:cs typeface="Noto Sans KR"/>
              </a:rPr>
              <a:t>−0.014</a:t>
            </a:r>
          </a:p>
        </p:txBody>
      </p:sp>
      <p:sp>
        <p:nvSpPr>
          <p:cNvPr id="12" name="S04-f1-label">
            <a:extLst xmlns:a="http://schemas.openxmlformats.org/drawingml/2006/main">
              <a:ext uri="{FF2B5EF4-FFF2-40B4-BE49-F238E27FC236}">
                <a16:creationId xmlns:a16="http://schemas.microsoft.com/office/drawing/2014/main" id="{399956CA-3003-4B27-A3D7-FFCA4103038C}"/>
              </a:ext>
            </a:extLst>
          </p:cNvPr>
          <p:cNvSpPr>
            <a:spLocks xmlns:a="http://schemas.openxmlformats.org/drawingml/2006/main" noGrp="1"/>
          </p:cNvSpPr>
          <p:nvPr/>
        </p:nvSpPr>
        <p:spPr>
          <a:xfrm xmlns:a="http://schemas.openxmlformats.org/drawingml/2006/main">
            <a:off x="8439150" y="44481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D7E6DF"/>
                </a:solidFill>
                <a:latin typeface="Noto Sans KR"/>
                <a:ea typeface="Noto Sans KR"/>
                <a:cs typeface="Noto Sans KR"/>
              </a:defRPr>
            </a:pPr>
            <a:r>
              <a:rPr sz="1650" b="0">
                <a:solidFill>
                  <a:srgbClr val="D7E6DF"/>
                </a:solidFill>
                <a:latin typeface="Noto Sans KR"/>
                <a:ea typeface="Noto Sans KR"/>
                <a:cs typeface="Noto Sans KR"/>
              </a:rPr>
              <a:t>F1 · 절대 차이</a:t>
            </a:r>
          </a:p>
        </p:txBody>
      </p:sp>
      <p:sp>
        <p:nvSpPr>
          <p:cNvPr id="13" name="S04-size-values">
            <a:extLst xmlns:a="http://schemas.openxmlformats.org/drawingml/2006/main">
              <a:ext uri="{FF2B5EF4-FFF2-40B4-BE49-F238E27FC236}">
                <a16:creationId xmlns:a16="http://schemas.microsoft.com/office/drawing/2014/main" id="{67970E90-184C-4590-8201-3F322856A537}"/>
              </a:ext>
            </a:extLst>
          </p:cNvPr>
          <p:cNvSpPr>
            <a:spLocks xmlns:a="http://schemas.openxmlformats.org/drawingml/2006/main" noGrp="1"/>
          </p:cNvSpPr>
          <p:nvPr/>
        </p:nvSpPr>
        <p:spPr>
          <a:xfrm xmlns:a="http://schemas.openxmlformats.org/drawingml/2006/main">
            <a:off x="8439150" y="52101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75" b="0">
                <a:solidFill>
                  <a:srgbClr val="D7E6DF"/>
                </a:solidFill>
                <a:latin typeface="Noto Sans KR"/>
                <a:ea typeface="Noto Sans KR"/>
                <a:cs typeface="Noto Sans KR"/>
              </a:defRPr>
            </a:pPr>
            <a:r>
              <a:rPr sz="1575" b="0">
                <a:solidFill>
                  <a:srgbClr val="D7E6DF"/>
                </a:solidFill>
                <a:latin typeface="Noto Sans KR"/>
                <a:ea typeface="Noto Sans KR"/>
                <a:cs typeface="Noto Sans KR"/>
              </a:rPr>
              <a:t>크기: 48 → 12 MB (−75%)</a:t>
            </a:r>
          </a:p>
        </p:txBody>
      </p:sp>
      <p:sp>
        <p:nvSpPr>
          <p:cNvPr id="14" name="S04-decomposition-rule">
            <a:extLst xmlns:a="http://schemas.openxmlformats.org/drawingml/2006/main">
              <a:ext uri="{FF2B5EF4-FFF2-40B4-BE49-F238E27FC236}">
                <a16:creationId xmlns:a16="http://schemas.microsoft.com/office/drawing/2014/main" id="{78A7E126-D1B9-40BD-AAC7-E327BCA292AF}"/>
              </a:ext>
            </a:extLst>
          </p:cNvPr>
          <p:cNvSpPr>
            <a:spLocks xmlns:a="http://schemas.openxmlformats.org/drawingml/2006/main" noGrp="1"/>
          </p:cNvSpPr>
          <p:nvPr/>
        </p:nvSpPr>
        <p:spPr>
          <a:xfrm xmlns:a="http://schemas.openxmlformats.org/drawingml/2006/main">
            <a:off x="685800" y="5400675"/>
            <a:ext cx="6858000" cy="0"/>
          </a:xfrm>
          <a:prstGeom xmlns:a="http://schemas.openxmlformats.org/drawingml/2006/main" prst="line">
            <a:avLst/>
          </a:prstGeom>
          <a:ln xmlns:a="http://schemas.openxmlformats.org/drawingml/2006/main" w="9525">
            <a:solidFill>
              <a:srgbClr val="CFD8D1"/>
            </a:solidFill>
          </a:ln>
        </p:spPr>
      </p:sp>
      <p:sp>
        <p:nvSpPr>
          <p:cNvPr id="15" name="S04-stage1">
            <a:extLst xmlns:a="http://schemas.openxmlformats.org/drawingml/2006/main">
              <a:ext uri="{FF2B5EF4-FFF2-40B4-BE49-F238E27FC236}">
                <a16:creationId xmlns:a16="http://schemas.microsoft.com/office/drawing/2014/main" id="{DF1D5DC6-3B5E-4F74-9EEE-E3219DA70966}"/>
              </a:ext>
            </a:extLst>
          </p:cNvPr>
          <p:cNvSpPr>
            <a:spLocks xmlns:a="http://schemas.openxmlformats.org/drawingml/2006/main" noGrp="1"/>
          </p:cNvSpPr>
          <p:nvPr/>
        </p:nvSpPr>
        <p:spPr>
          <a:xfrm xmlns:a="http://schemas.openxmlformats.org/drawingml/2006/main">
            <a:off x="685800" y="550545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증류: 지연 40% 감소, F1 0.008 하락</a:t>
            </a:r>
          </a:p>
        </p:txBody>
      </p:sp>
      <p:sp>
        <p:nvSpPr>
          <p:cNvPr id="16" name="S04-stage2">
            <a:extLst xmlns:a="http://schemas.openxmlformats.org/drawingml/2006/main">
              <a:ext uri="{FF2B5EF4-FFF2-40B4-BE49-F238E27FC236}">
                <a16:creationId xmlns:a16="http://schemas.microsoft.com/office/drawing/2014/main" id="{BD2D646E-0CEF-4328-A558-D244B4964EB7}"/>
              </a:ext>
            </a:extLst>
          </p:cNvPr>
          <p:cNvSpPr>
            <a:spLocks xmlns:a="http://schemas.openxmlformats.org/drawingml/2006/main" noGrp="1"/>
          </p:cNvSpPr>
          <p:nvPr/>
        </p:nvSpPr>
        <p:spPr>
          <a:xfrm xmlns:a="http://schemas.openxmlformats.org/drawingml/2006/main">
            <a:off x="685800" y="58578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추가 INT8 단계: 지연 25% 감소, F1 0.006 하락</a:t>
            </a:r>
          </a:p>
        </p:txBody>
      </p:sp>
    </p:spTree>
    <p:extLst>
      <p:ext uri="{BB962C8B-B14F-4D97-AF65-F5344CB8AC3E}">
        <p14:creationId xmlns:p14="http://schemas.microsoft.com/office/powerpoint/2010/main" val="1937587754"/>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S05-finding-field">
            <a:extLst xmlns:a="http://schemas.openxmlformats.org/drawingml/2006/main">
              <a:ext uri="{FF2B5EF4-FFF2-40B4-BE49-F238E27FC236}">
                <a16:creationId xmlns:a16="http://schemas.microsoft.com/office/drawing/2014/main" id="{0ED6B1DB-9D9C-43A6-A827-E4A5AC5844C7}"/>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E302F"/>
          </a:solidFill>
          <a:ln xmlns:a="http://schemas.openxmlformats.org/drawingml/2006/main" w="0">
            <a:noFill/>
          </a:ln>
        </p:spPr>
      </p:sp>
      <p:sp>
        <p:nvSpPr>
          <p:cNvPr id="2" name="S05-main">
            <a:extLst xmlns:a="http://schemas.openxmlformats.org/drawingml/2006/main">
              <a:ext uri="{FF2B5EF4-FFF2-40B4-BE49-F238E27FC236}">
                <a16:creationId xmlns:a16="http://schemas.microsoft.com/office/drawing/2014/main" id="{3F25CD10-6CC4-4C22-844B-B03D009A1D0C}"/>
              </a:ext>
            </a:extLst>
          </p:cNvPr>
          <p:cNvSpPr>
            <a:spLocks xmlns:a="http://schemas.openxmlformats.org/drawingml/2006/main" noGrp="1"/>
          </p:cNvSpPr>
          <p:nvPr/>
        </p:nvSpPr>
        <p:spPr>
          <a:xfrm xmlns:a="http://schemas.openxmlformats.org/drawingml/2006/main">
            <a:off x="609600" y="1428750"/>
            <a:ext cx="4781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0">
                <a:solidFill>
                  <a:srgbClr val="FFFFFF"/>
                </a:solidFill>
                <a:latin typeface="Noto Sans KR"/>
                <a:ea typeface="Noto Sans KR"/>
                <a:cs typeface="Noto Sans KR"/>
              </a:defRPr>
            </a:pPr>
            <a:r>
              <a:rPr sz="3600" b="0">
                <a:solidFill>
                  <a:srgbClr val="FFFFFF"/>
                </a:solidFill>
                <a:latin typeface="Noto Sans KR"/>
                <a:ea typeface="Noto Sans KR"/>
                <a:cs typeface="Noto Sans KR"/>
              </a:rPr>
              <a:t>효율 개선에는</a:t>
            </a:r>
          </a:p>
          <a:p xmlns:a="http://schemas.openxmlformats.org/drawingml/2006/main">
            <a:pPr>
              <a:defRPr sz="3600" b="0">
                <a:solidFill>
                  <a:srgbClr val="FFFFFF"/>
                </a:solidFill>
                <a:latin typeface="Noto Sans KR"/>
                <a:ea typeface="Noto Sans KR"/>
                <a:cs typeface="Noto Sans KR"/>
              </a:defRPr>
            </a:pPr>
            <a:r>
              <a:rPr sz="3600" b="0">
                <a:solidFill>
                  <a:srgbClr val="FFFFFF"/>
                </a:solidFill>
                <a:latin typeface="Noto Sans KR"/>
                <a:ea typeface="Noto Sans KR"/>
                <a:cs typeface="Noto Sans KR"/>
              </a:rPr>
              <a:t>F1 저하가 따릅니다</a:t>
            </a:r>
          </a:p>
        </p:txBody>
      </p:sp>
      <p:sp>
        <p:nvSpPr>
          <p:cNvPr id="3" name="S05-interpretation">
            <a:extLst xmlns:a="http://schemas.openxmlformats.org/drawingml/2006/main">
              <a:ext uri="{FF2B5EF4-FFF2-40B4-BE49-F238E27FC236}">
                <a16:creationId xmlns:a16="http://schemas.microsoft.com/office/drawing/2014/main" id="{D5FE73C6-67DD-4B77-AD2D-9CFC8A8B50AB}"/>
              </a:ext>
            </a:extLst>
          </p:cNvPr>
          <p:cNvSpPr>
            <a:spLocks xmlns:a="http://schemas.openxmlformats.org/drawingml/2006/main" noGrp="1"/>
          </p:cNvSpPr>
          <p:nvPr/>
        </p:nvSpPr>
        <p:spPr>
          <a:xfrm xmlns:a="http://schemas.openxmlformats.org/drawingml/2006/main">
            <a:off x="609600" y="369570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025" b="0">
                <a:solidFill>
                  <a:srgbClr val="B9DDD0"/>
                </a:solidFill>
                <a:latin typeface="Noto Sans KR"/>
                <a:ea typeface="Noto Sans KR"/>
                <a:cs typeface="Noto Sans KR"/>
              </a:defRPr>
            </a:pPr>
            <a:r>
              <a:rPr sz="2025" b="0">
                <a:solidFill>
                  <a:srgbClr val="B9DDD0"/>
                </a:solidFill>
                <a:latin typeface="Noto Sans KR"/>
                <a:ea typeface="Noto Sans KR"/>
                <a:cs typeface="Noto Sans KR"/>
              </a:rPr>
              <a:t>허용 가능한 F1 저하와</a:t>
            </a:r>
          </a:p>
          <a:p xmlns:a="http://schemas.openxmlformats.org/drawingml/2006/main">
            <a:pPr>
              <a:defRPr sz="2025" b="0">
                <a:solidFill>
                  <a:srgbClr val="B9DDD0"/>
                </a:solidFill>
                <a:latin typeface="Noto Sans KR"/>
                <a:ea typeface="Noto Sans KR"/>
                <a:cs typeface="Noto Sans KR"/>
              </a:defRPr>
            </a:pPr>
            <a:r>
              <a:rPr sz="2025" b="0">
                <a:solidFill>
                  <a:srgbClr val="B9DDD0"/>
                </a:solidFill>
                <a:latin typeface="Noto Sans KR"/>
                <a:ea typeface="Noto Sans KR"/>
                <a:cs typeface="Noto Sans KR"/>
              </a:rPr>
              <a:t>지연 한도를 먼저 정해야 합니다.</a:t>
            </a:r>
          </a:p>
        </p:txBody>
      </p:sp>
      <p:sp>
        <p:nvSpPr>
          <p:cNvPr id="4" name="S05-label1">
            <a:extLst xmlns:a="http://schemas.openxmlformats.org/drawingml/2006/main">
              <a:ext uri="{FF2B5EF4-FFF2-40B4-BE49-F238E27FC236}">
                <a16:creationId xmlns:a16="http://schemas.microsoft.com/office/drawing/2014/main" id="{B625A3C0-7B40-4491-A71D-B365EE1AEBD4}"/>
              </a:ext>
            </a:extLst>
          </p:cNvPr>
          <p:cNvSpPr>
            <a:spLocks xmlns:a="http://schemas.openxmlformats.org/drawingml/2006/main" noGrp="1"/>
          </p:cNvSpPr>
          <p:nvPr/>
        </p:nvSpPr>
        <p:spPr>
          <a:xfrm xmlns:a="http://schemas.openxmlformats.org/drawingml/2006/main">
            <a:off x="6515100" y="1152525"/>
            <a:ext cx="499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배포 기준</a:t>
            </a:r>
          </a:p>
        </p:txBody>
      </p:sp>
      <p:sp>
        <p:nvSpPr>
          <p:cNvPr id="5" name="S05-body1">
            <a:extLst xmlns:a="http://schemas.openxmlformats.org/drawingml/2006/main">
              <a:ext uri="{FF2B5EF4-FFF2-40B4-BE49-F238E27FC236}">
                <a16:creationId xmlns:a16="http://schemas.microsoft.com/office/drawing/2014/main" id="{96D4C030-EF27-4168-A4F6-206227A34148}"/>
              </a:ext>
            </a:extLst>
          </p:cNvPr>
          <p:cNvSpPr>
            <a:spLocks xmlns:a="http://schemas.openxmlformats.org/drawingml/2006/main" noGrp="1"/>
          </p:cNvSpPr>
          <p:nvPr/>
        </p:nvSpPr>
        <p:spPr>
          <a:xfrm xmlns:a="http://schemas.openxmlformats.org/drawingml/2006/main">
            <a:off x="6515100" y="1704975"/>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허용할 F1 저하와 지연 한도</a:t>
            </a:r>
          </a:p>
        </p:txBody>
      </p:sp>
      <p:sp>
        <p:nvSpPr>
          <p:cNvPr id="6" name="S05-rule-1">
            <a:extLst xmlns:a="http://schemas.openxmlformats.org/drawingml/2006/main">
              <a:ext uri="{FF2B5EF4-FFF2-40B4-BE49-F238E27FC236}">
                <a16:creationId xmlns:a16="http://schemas.microsoft.com/office/drawing/2014/main" id="{C0F1DA74-3D48-474E-9D98-35AAA1904F1E}"/>
              </a:ext>
            </a:extLst>
          </p:cNvPr>
          <p:cNvSpPr>
            <a:spLocks xmlns:a="http://schemas.openxmlformats.org/drawingml/2006/main" noGrp="1"/>
          </p:cNvSpPr>
          <p:nvPr/>
        </p:nvSpPr>
        <p:spPr>
          <a:xfrm xmlns:a="http://schemas.openxmlformats.org/drawingml/2006/main">
            <a:off x="6515100" y="2276475"/>
            <a:ext cx="4991100" cy="0"/>
          </a:xfrm>
          <a:prstGeom xmlns:a="http://schemas.openxmlformats.org/drawingml/2006/main" prst="line">
            <a:avLst/>
          </a:prstGeom>
          <a:ln xmlns:a="http://schemas.openxmlformats.org/drawingml/2006/main" w="9525">
            <a:solidFill>
              <a:srgbClr val="CFD8D1"/>
            </a:solidFill>
          </a:ln>
        </p:spPr>
      </p:sp>
      <p:sp>
        <p:nvSpPr>
          <p:cNvPr id="7" name="S05-label2">
            <a:extLst xmlns:a="http://schemas.openxmlformats.org/drawingml/2006/main">
              <a:ext uri="{FF2B5EF4-FFF2-40B4-BE49-F238E27FC236}">
                <a16:creationId xmlns:a16="http://schemas.microsoft.com/office/drawing/2014/main" id="{9ACCA409-2EA2-469A-B367-574DA5AE3EE5}"/>
              </a:ext>
            </a:extLst>
          </p:cNvPr>
          <p:cNvSpPr>
            <a:spLocks xmlns:a="http://schemas.openxmlformats.org/drawingml/2006/main" noGrp="1"/>
          </p:cNvSpPr>
          <p:nvPr/>
        </p:nvSpPr>
        <p:spPr>
          <a:xfrm xmlns:a="http://schemas.openxmlformats.org/drawingml/2006/main">
            <a:off x="6515100" y="2438400"/>
            <a:ext cx="499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측정 신뢰도</a:t>
            </a:r>
          </a:p>
        </p:txBody>
      </p:sp>
      <p:sp>
        <p:nvSpPr>
          <p:cNvPr id="8" name="S05-body2">
            <a:extLst xmlns:a="http://schemas.openxmlformats.org/drawingml/2006/main">
              <a:ext uri="{FF2B5EF4-FFF2-40B4-BE49-F238E27FC236}">
                <a16:creationId xmlns:a16="http://schemas.microsoft.com/office/drawing/2014/main" id="{CDFCC17F-4966-4B9A-836D-A60CA1592AED}"/>
              </a:ext>
            </a:extLst>
          </p:cNvPr>
          <p:cNvSpPr>
            <a:spLocks xmlns:a="http://schemas.openxmlformats.org/drawingml/2006/main" noGrp="1"/>
          </p:cNvSpPr>
          <p:nvPr/>
        </p:nvSpPr>
        <p:spPr>
          <a:xfrm xmlns:a="http://schemas.openxmlformats.org/drawingml/2006/main">
            <a:off x="6515100" y="2990850"/>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실제 데이터에서 반복 측정</a:t>
            </a:r>
          </a:p>
        </p:txBody>
      </p:sp>
      <p:sp>
        <p:nvSpPr>
          <p:cNvPr id="9" name="S05-rule-2">
            <a:extLst xmlns:a="http://schemas.openxmlformats.org/drawingml/2006/main">
              <a:ext uri="{FF2B5EF4-FFF2-40B4-BE49-F238E27FC236}">
                <a16:creationId xmlns:a16="http://schemas.microsoft.com/office/drawing/2014/main" id="{87F7A805-B1DE-4D32-8DF1-167BA6C38117}"/>
              </a:ext>
            </a:extLst>
          </p:cNvPr>
          <p:cNvSpPr>
            <a:spLocks xmlns:a="http://schemas.openxmlformats.org/drawingml/2006/main" noGrp="1"/>
          </p:cNvSpPr>
          <p:nvPr/>
        </p:nvSpPr>
        <p:spPr>
          <a:xfrm xmlns:a="http://schemas.openxmlformats.org/drawingml/2006/main">
            <a:off x="6515100" y="3562350"/>
            <a:ext cx="4991100" cy="0"/>
          </a:xfrm>
          <a:prstGeom xmlns:a="http://schemas.openxmlformats.org/drawingml/2006/main" prst="line">
            <a:avLst/>
          </a:prstGeom>
          <a:ln xmlns:a="http://schemas.openxmlformats.org/drawingml/2006/main" w="9525">
            <a:solidFill>
              <a:srgbClr val="CFD8D1"/>
            </a:solidFill>
          </a:ln>
        </p:spPr>
      </p:sp>
      <p:sp>
        <p:nvSpPr>
          <p:cNvPr id="10" name="S05-label3">
            <a:extLst xmlns:a="http://schemas.openxmlformats.org/drawingml/2006/main">
              <a:ext uri="{FF2B5EF4-FFF2-40B4-BE49-F238E27FC236}">
                <a16:creationId xmlns:a16="http://schemas.microsoft.com/office/drawing/2014/main" id="{63137E54-EFC8-4891-8B2F-3BE5F8A64F7C}"/>
              </a:ext>
            </a:extLst>
          </p:cNvPr>
          <p:cNvSpPr>
            <a:spLocks xmlns:a="http://schemas.openxmlformats.org/drawingml/2006/main" noGrp="1"/>
          </p:cNvSpPr>
          <p:nvPr/>
        </p:nvSpPr>
        <p:spPr>
          <a:xfrm xmlns:a="http://schemas.openxmlformats.org/drawingml/2006/main">
            <a:off x="6515100" y="3724275"/>
            <a:ext cx="4991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325" b="0">
                <a:solidFill>
                  <a:srgbClr val="1E302F"/>
                </a:solidFill>
                <a:latin typeface="Noto Sans KR"/>
                <a:ea typeface="Noto Sans KR"/>
                <a:cs typeface="Noto Sans KR"/>
              </a:defRPr>
            </a:pPr>
            <a:r>
              <a:rPr sz="2325" b="0">
                <a:solidFill>
                  <a:srgbClr val="1E302F"/>
                </a:solidFill>
                <a:latin typeface="Noto Sans KR"/>
                <a:ea typeface="Noto Sans KR"/>
                <a:cs typeface="Noto Sans KR"/>
              </a:rPr>
              <a:t>실패 유형</a:t>
            </a:r>
          </a:p>
        </p:txBody>
      </p:sp>
      <p:sp>
        <p:nvSpPr>
          <p:cNvPr id="11" name="S05-body3">
            <a:extLst xmlns:a="http://schemas.openxmlformats.org/drawingml/2006/main">
              <a:ext uri="{FF2B5EF4-FFF2-40B4-BE49-F238E27FC236}">
                <a16:creationId xmlns:a16="http://schemas.microsoft.com/office/drawing/2014/main" id="{CC70882B-1221-4F7B-80C3-7C5F0E3596A2}"/>
              </a:ext>
            </a:extLst>
          </p:cNvPr>
          <p:cNvSpPr>
            <a:spLocks xmlns:a="http://schemas.openxmlformats.org/drawingml/2006/main" noGrp="1"/>
          </p:cNvSpPr>
          <p:nvPr/>
        </p:nvSpPr>
        <p:spPr>
          <a:xfrm xmlns:a="http://schemas.openxmlformats.org/drawingml/2006/main">
            <a:off x="6515100" y="4276725"/>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86C68"/>
                </a:solidFill>
                <a:latin typeface="Noto Sans KR"/>
                <a:ea typeface="Noto Sans KR"/>
                <a:cs typeface="Noto Sans KR"/>
              </a:defRPr>
            </a:pPr>
            <a:r>
              <a:rPr sz="1800" b="0">
                <a:solidFill>
                  <a:srgbClr val="586C68"/>
                </a:solidFill>
                <a:latin typeface="Noto Sans KR"/>
                <a:ea typeface="Noto Sans KR"/>
                <a:cs typeface="Noto Sans KR"/>
              </a:rPr>
              <a:t>이상 유형별 오탐과 누락 확인</a:t>
            </a:r>
          </a:p>
        </p:txBody>
      </p:sp>
      <p:sp>
        <p:nvSpPr>
          <p:cNvPr id="12" name="S05-limit">
            <a:extLst xmlns:a="http://schemas.openxmlformats.org/drawingml/2006/main">
              <a:ext uri="{FF2B5EF4-FFF2-40B4-BE49-F238E27FC236}">
                <a16:creationId xmlns:a16="http://schemas.microsoft.com/office/drawing/2014/main" id="{2C4079A9-A86E-4BD1-8398-6960655B9426}"/>
              </a:ext>
            </a:extLst>
          </p:cNvPr>
          <p:cNvSpPr>
            <a:spLocks xmlns:a="http://schemas.openxmlformats.org/drawingml/2006/main" noGrp="1"/>
          </p:cNvSpPr>
          <p:nvPr/>
        </p:nvSpPr>
        <p:spPr>
          <a:xfrm xmlns:a="http://schemas.openxmlformats.org/drawingml/2006/main">
            <a:off x="6515100" y="5448300"/>
            <a:ext cx="4991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실제 데이터셋·표본수가 없어</a:t>
            </a:r>
          </a:p>
          <a:p xmlns:a="http://schemas.openxmlformats.org/drawingml/2006/main">
            <a:pPr>
              <a:defRPr sz="1650" b="0">
                <a:solidFill>
                  <a:srgbClr val="586C68"/>
                </a:solidFill>
                <a:latin typeface="Noto Sans KR"/>
                <a:ea typeface="Noto Sans KR"/>
                <a:cs typeface="Noto Sans KR"/>
              </a:defRPr>
            </a:pPr>
            <a:r>
              <a:rPr sz="1650" b="0">
                <a:solidFill>
                  <a:srgbClr val="586C68"/>
                </a:solidFill>
                <a:latin typeface="Noto Sans KR"/>
                <a:ea typeface="Noto Sans KR"/>
                <a:cs typeface="Noto Sans KR"/>
              </a:rPr>
              <a:t>일반화 여부는 확인할 수 없습니다.</a:t>
            </a:r>
          </a:p>
        </p:txBody>
      </p:sp>
      <p:sp>
        <p:nvSpPr>
          <p:cNvPr id="13" name="S05-disclosure">
            <a:extLst xmlns:a="http://schemas.openxmlformats.org/drawingml/2006/main">
              <a:ext uri="{FF2B5EF4-FFF2-40B4-BE49-F238E27FC236}">
                <a16:creationId xmlns:a16="http://schemas.microsoft.com/office/drawing/2014/main" id="{C696A0B6-2120-4791-A822-6B4057645033}"/>
              </a:ext>
            </a:extLst>
          </p:cNvPr>
          <p:cNvSpPr>
            <a:spLocks xmlns:a="http://schemas.openxmlformats.org/drawingml/2006/main" noGrp="1"/>
          </p:cNvSpPr>
          <p:nvPr/>
        </p:nvSpPr>
        <p:spPr>
          <a:xfrm xmlns:a="http://schemas.openxmlformats.org/drawingml/2006/main">
            <a:off x="609600" y="6372225"/>
            <a:ext cx="457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B9DDD0"/>
                </a:solidFill>
                <a:latin typeface="Noto Sans KR"/>
                <a:ea typeface="Noto Sans KR"/>
                <a:cs typeface="Noto Sans KR"/>
              </a:defRPr>
            </a:pPr>
            <a:r>
              <a:rPr sz="1275" b="0">
                <a:solidFill>
                  <a:srgbClr val="B9DDD0"/>
                </a:solidFill>
                <a:latin typeface="Noto Sans KR"/>
                <a:ea typeface="Noto Sans KR"/>
                <a:cs typeface="Noto Sans KR"/>
              </a:rPr>
              <a:t>가상 데이터</a:t>
            </a:r>
          </a:p>
        </p:txBody>
      </p:sp>
    </p:spTree>
    <p:extLst>
      <p:ext uri="{BB962C8B-B14F-4D97-AF65-F5344CB8AC3E}">
        <p14:creationId xmlns:p14="http://schemas.microsoft.com/office/powerpoint/2010/main" val="9714750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dc:title>Presentation</dc:title>
  <ns2:created xsi:type="dcterms:W3CDTF">2026-10-02T08:03:13.3280000Z</ns2:created>
  <ns2:modified xsi:type="dcterms:W3CDTF">2026-10-02T08:03:13.3290000Z</ns2:modified>
</ns0:coreProperties>
</file>