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14cc3704e454cbe" /><Relationship Type="http://schemas.openxmlformats.org/officeDocument/2006/relationships/extended-properties" Target="/docProps/app.xml" Id="Rd68e4977925842af" /><Relationship Type="http://schemas.openxmlformats.org/officeDocument/2006/relationships/officeDocument" Target="/ppt/presentation.xml" Id="R28fbc7be7ef74ef7" /></Relationships>
</file>

<file path=ppt/presentation.xml><?xml version="1.0" encoding="utf-8"?>
<p:presentation xmlns:p="http://schemas.openxmlformats.org/presentationml/2006/main">
  <p:sldMasterIdLst>
    <p:sldMasterId xmlns:r="http://schemas.openxmlformats.org/officeDocument/2006/relationships" id="2147483648" r:id="R7a6b9d531ab246a6"/>
  </p:sldMasterIdLst>
  <p:notesMasterIdLst>
    <p:notesMasterId xmlns:r="http://schemas.openxmlformats.org/officeDocument/2006/relationships" r:id="R9ab6643869fc4891"/>
  </p:notesMasterIdLst>
  <p:sldIdLst>
    <p:sldId xmlns:r="http://schemas.openxmlformats.org/officeDocument/2006/relationships" id="256" r:id="R4d6fd4c1ab624a59"/>
    <p:sldId xmlns:r="http://schemas.openxmlformats.org/officeDocument/2006/relationships" id="257" r:id="R1bf21b3b9c1e4c39"/>
    <p:sldId xmlns:r="http://schemas.openxmlformats.org/officeDocument/2006/relationships" id="258" r:id="Rcef7c3c8fcbb4376"/>
    <p:sldId xmlns:r="http://schemas.openxmlformats.org/officeDocument/2006/relationships" id="259" r:id="R230993b4db544639"/>
    <p:sldId xmlns:r="http://schemas.openxmlformats.org/officeDocument/2006/relationships" id="260" r:id="Rba005615136646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61320d4fa547d4" /><Relationship Type="http://schemas.openxmlformats.org/officeDocument/2006/relationships/slideMaster" Target="/ppt/slideMasters/slideMaster1.xml" Id="R7a6b9d531ab246a6" /><Relationship Type="http://schemas.openxmlformats.org/officeDocument/2006/relationships/notesMaster" Target="/ppt/notesMasters/notesMaster1.xml" Id="R9ab6643869fc4891" /><Relationship Type="http://schemas.openxmlformats.org/officeDocument/2006/relationships/presProps" Target="/ppt/presProps.xml" Id="R8d808bae9d6a4cb9" /><Relationship Type="http://schemas.openxmlformats.org/officeDocument/2006/relationships/tableStyles" Target="/ppt/tableStyles.xml" Id="R99de986e3b9e4dfc" /><Relationship Type="http://schemas.openxmlformats.org/officeDocument/2006/relationships/slide" Target="/ppt/slides/slide1.xml" Id="R4d6fd4c1ab624a59" /><Relationship Type="http://schemas.openxmlformats.org/officeDocument/2006/relationships/slide" Target="/ppt/slides/slide2.xml" Id="R1bf21b3b9c1e4c39" /><Relationship Type="http://schemas.openxmlformats.org/officeDocument/2006/relationships/slide" Target="/ppt/slides/slide3.xml" Id="Rcef7c3c8fcbb4376" /><Relationship Type="http://schemas.openxmlformats.org/officeDocument/2006/relationships/slide" Target="/ppt/slides/slide4.xml" Id="R230993b4db544639" /><Relationship Type="http://schemas.openxmlformats.org/officeDocument/2006/relationships/slide" Target="/ppt/slides/slide5.xml" Id="Rba005615136646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491de5c3664d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8b59c1d84540a5" /><Relationship Type="http://schemas.openxmlformats.org/officeDocument/2006/relationships/notesMaster" Target="/ppt/notesMasters/notesMaster1.xml" Id="Reff4ea9e4a8147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4b27be3263440b" /><Relationship Type="http://schemas.openxmlformats.org/officeDocument/2006/relationships/notesMaster" Target="/ppt/notesMasters/notesMaster1.xml" Id="R5d94a0ee484045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f12f153c2e41e0" /><Relationship Type="http://schemas.openxmlformats.org/officeDocument/2006/relationships/notesMaster" Target="/ppt/notesMasters/notesMaster1.xml" Id="R55cec5da0ab842c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c1f52b325f437d" /><Relationship Type="http://schemas.openxmlformats.org/officeDocument/2006/relationships/notesMaster" Target="/ppt/notesMasters/notesMaster1.xml" Id="R7e0950e76b124c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06eccf6f564e47" /><Relationship Type="http://schemas.openxmlformats.org/officeDocument/2006/relationships/notesMaster" Target="/ppt/notesMasters/notesMaster1.xml" Id="Rb3d884c6fe5b44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All performance values in this deck are fictional user-supplied examples. They are not empirical findings. A common device and dataset are assumed, but their identities are unspecified. The cover is AI-generated conceptual artwork, not a model architecture or a measurement.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The teacher provides prediction knowledge for learning a smaller student; INT8 represents student numbers using 8-bit integers. Architecture, loss, quantization scope, and PTQ versus QAT are unspecified. Do not assume preservation of all teacher knowledge or claim a particular implementation. In the animated edition, reveal distillation on click 1 and INT8 on click 2. Concept sources: Hinton et al. (2015), https://arxiv.org/abs/1503.02531 ; Jacob et al. (2017), https://arxiv.org/abs/1712.05877 . No empirical results were taken from those papers.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Fictional values: baseline 120 ms / F1 0.910 / 48 MB; distilled 72 ms / 0.902 / 18 MB; int8 54 ms / 0.896 / 12 MB. The same device and data are assumed. Sample count, variance, dataset, split, device specifications, latency statistic, and F1 aggregation are unspecified. These are arithmetic comparisons, not evidence of statistical significance or 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Overall latency reduction (120−54)/120 = 55%; size reduction (48−12)/48 = 75%; F1 absolute difference 0.896−0.910 = −0.014. Distillation latency reduction (120−72)/120 = 40%, F1 difference −0.008. Additional INT8 latency reduction (72−54)/72 = 25%, F1 difference −0.006. Do not add 40% and 25% because their denominators differ. No statistical inference is possible from the fictional summaries.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These fictional values illustrate an efficiency–F1 trade-off. They do not select a universally best model. Define the acceptable loss in F1 and the latency budget for the intended environment. Repeat measurements on actual data, estimate variation, and inspect failures by anomaly type. No real dataset or sample count was supplied, so no generalization claim is justified. Total presentation time: 300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5174b401354bf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d049a8597744b1" /><Relationship Type="http://schemas.openxmlformats.org/officeDocument/2006/relationships/slideLayout" Target="/ppt/slideLayouts/slideLayout1.xml" Id="R9ea0fa9188ea4c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ea0fa9188ea4c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19bbb8d952421b" /><Relationship Type="http://schemas.openxmlformats.org/officeDocument/2006/relationships/image" Target="/ppt/media/image.png" Id="Rff2126a0afdc4de5" /><Relationship Type="http://schemas.openxmlformats.org/officeDocument/2006/relationships/notesSlide" Target="/ppt/notesSlides/notesSlide1.xml" Id="R3a18fd5523374c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c0a645836044e5c" /><Relationship Type="http://schemas.openxmlformats.org/officeDocument/2006/relationships/notesSlide" Target="/ppt/notesSlides/notesSlide2.xml" Id="R6507ab1065d142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4aada431fb48c7" /><Relationship Type="http://schemas.openxmlformats.org/officeDocument/2006/relationships/notesSlide" Target="/ppt/notesSlides/notesSlide3.xml" Id="Rb5b3312d252445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5e3e292882841fd" /><Relationship Type="http://schemas.openxmlformats.org/officeDocument/2006/relationships/chart" Target="/ppt/slides/charts/chart1.xml" Id="Rcb00e91b374c40c1" /><Relationship Type="http://schemas.openxmlformats.org/officeDocument/2006/relationships/notesSlide" Target="/ppt/notesSlides/notesSlide4.xml" Id="R138ac757220a4f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423bbec2794407f" /><Relationship Type="http://schemas.openxmlformats.org/officeDocument/2006/relationships/notesSlide" Target="/ppt/notesSlides/notesSlide5.xml" Id="R8a7d03cda148486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Latency (ms)</c:v>
          </c:tx>
          <c:spPr>
            <a:solidFill xmlns:a="http://schemas.openxmlformats.org/drawingml/2006/main">
              <a:srgbClr val="287D78"/>
            </a:solidFill>
          </c:spPr>
          <c:dPt>
            <c:idx val="0"/>
            <c:invertIfNegative val="0"/>
            <c:spPr>
              <a:solidFill xmlns:a="http://schemas.openxmlformats.org/drawingml/2006/main">
                <a:srgbClr val="9EADA5"/>
              </a:solidFill>
            </c:spPr>
          </c:dPt>
          <c:dPt>
            <c:idx val="1"/>
            <c:invertIfNegative val="0"/>
            <c:spPr>
              <a:solidFill xmlns:a="http://schemas.openxmlformats.org/drawingml/2006/main">
                <a:srgbClr val="639D90"/>
              </a:solidFill>
            </c:spPr>
          </c:dPt>
          <c:dPt>
            <c:idx val="2"/>
            <c:invertIfNegative val="0"/>
            <c:spPr>
              <a:solidFill xmlns:a="http://schemas.openxmlformats.org/drawingml/2006/main">
                <a:srgbClr val="287D78"/>
              </a:solidFill>
            </c:spPr>
          </c:dPt>
          <c:cat>
            <c:strRef>
              <c:f>'Chart Data'!$A$2:$A$4</c:f>
              <c:strCache>
                <c:ptCount val="3"/>
                <c:pt idx="0">
                  <c:v>baseline</c:v>
                </c:pt>
                <c:pt idx="1">
                  <c:v>distilled</c:v>
                </c:pt>
                <c:pt idx="2">
                  <c:v>int8</c:v>
                </c:pt>
              </c:strCache>
            </c:strRef>
          </c:cat>
          <c:val>
            <c:numRef>
              <c:f>'Chart Data'!$B$2:$B$4</c:f>
              <c:numCache>
                <c:formatCode>0</c:formatCode>
                <c:ptCount val="3"/>
                <c:pt idx="0">
                  <c:v>120</c:v>
                </c:pt>
                <c:pt idx="1">
                  <c:v>72</c:v>
                </c:pt>
                <c:pt idx="2">
                  <c:v>54</c:v>
                </c:pt>
              </c:numCache>
            </c:numRef>
          </c:val>
        </c:ser>
        <c:dLbls>
          <c:txPr>
            <a:bodyPr xmlns:a="http://schemas.openxmlformats.org/drawingml/2006/main" anchorCtr="1"/>
            <a:lstStyle xmlns:a="http://schemas.openxmlformats.org/drawingml/2006/main"/>
            <a:p xmlns:a="http://schemas.openxmlformats.org/drawingml/2006/main">
              <a:pPr>
                <a:defRPr sz="2025">
                  <a:solidFill>
                    <a:srgbClr val="1E302F"/>
                  </a:solidFill>
                  <a:latin typeface="Segoe UI"/>
                  <a:ea typeface="Segoe UI"/>
                  <a:cs typeface="Segoe UI"/>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FD8D1"/>
            </a:solidFill>
          </a:ln>
        </c:spPr>
        <c:txPr>
          <a:bodyPr xmlns:a="http://schemas.openxmlformats.org/drawingml/2006/main" anchorCtr="1"/>
          <a:lstStyle xmlns:a="http://schemas.openxmlformats.org/drawingml/2006/main"/>
          <a:p xmlns:a="http://schemas.openxmlformats.org/drawingml/2006/main">
            <a:pPr>
              <a:defRPr sz="1725">
                <a:solidFill>
                  <a:srgbClr val="1E302F"/>
                </a:solidFill>
                <a:latin typeface="Segoe UI"/>
                <a:ea typeface="Segoe UI"/>
                <a:cs typeface="Segoe UI"/>
              </a:defRPr>
            </a:pPr>
          </a:p>
        </c:txPr>
        <c:crossAx val="48672768"/>
      </c:catAx>
      <c:valAx>
        <c:axId val="48672768"/>
        <c:scaling>
          <c:orientation val="minMax"/>
          <c:max val="140"/>
          <c:min val="0"/>
        </c:scaling>
        <c:delete val="0"/>
        <c:axPos val="l"/>
        <c:majorGridlines>
          <c:spPr>
            <a:ln xmlns:a="http://schemas.openxmlformats.org/drawingml/2006/main" w="6668">
              <a:solidFill>
                <a:srgbClr val="CFD8D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86C68"/>
                </a:solidFill>
                <a:latin typeface="Segoe UI"/>
                <a:ea typeface="Segoe UI"/>
                <a:cs typeface="Segoe UI"/>
              </a:defRPr>
            </a:pPr>
          </a:p>
        </c:txPr>
        <c:crossAx val="48650112"/>
        <c:crossBetween val="between"/>
        <c:majorUnit val="40"/>
      </c:valAx>
      <c:spPr>
        <a:solidFill xmlns:a="http://schemas.openxmlformats.org/drawingml/2006/main">
          <a:srgbClr val="F6F4EE"/>
        </a:solidFill>
      </c:spPr>
    </c:plotArea>
    <c:plotVisOnly val="1"/>
  </c:chart>
  <c:spPr>
    <a:solidFill xmlns:a="http://schemas.openxmlformats.org/drawingml/2006/main">
      <a:srgbClr val="F6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f2126a0afdc4de5"/>
          <a:srcRect xmlns:a="http://schemas.openxmlformats.org/drawingml/2006/main" l="6092" t="0" r="6092" b="0"/>
          <a:stretch xmlns:a="http://schemas.openxmlformats.org/drawingml/2006/main">
            <a:fillRect l="0" t="0" r="0" b="0"/>
          </a:stretch>
        </p:blipFill>
        <p:spPr>
          <a:xfrm xmlns:a="http://schemas.openxmlformats.org/drawingml/2006/main">
            <a:off x="7372350" y="0"/>
            <a:ext cx="4819650" cy="6858000"/>
          </a:xfrm>
          <a:prstGeom xmlns:a="http://schemas.openxmlformats.org/drawingml/2006/main" prst="rect">
            <a:avLst/>
          </a:prstGeom>
        </p:spPr>
      </p:pic>
      <p:sp>
        <p:nvSpPr>
          <p:cNvPr id="2" name="S01-section">
            <a:extLst xmlns:a="http://schemas.openxmlformats.org/drawingml/2006/main">
              <a:ext uri="{FF2B5EF4-FFF2-40B4-BE49-F238E27FC236}">
                <a16:creationId xmlns:a16="http://schemas.microsoft.com/office/drawing/2014/main" id="{D6E8A9ED-5F1A-40DB-B550-14998D956CD9}"/>
              </a:ext>
            </a:extLst>
          </p:cNvPr>
          <p:cNvSpPr>
            <a:spLocks xmlns:a="http://schemas.openxmlformats.org/drawingml/2006/main" noGrp="1"/>
          </p:cNvSpPr>
          <p:nvPr/>
        </p:nvSpPr>
        <p:spPr>
          <a:xfrm xmlns:a="http://schemas.openxmlformats.org/drawingml/2006/main">
            <a:off x="685800" y="5905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Segoe UI"/>
                <a:ea typeface="Segoe UI"/>
                <a:cs typeface="Segoe UI"/>
              </a:defRPr>
            </a:pPr>
            <a:r>
              <a:rPr sz="1425" b="0">
                <a:solidFill>
                  <a:srgbClr val="287D78"/>
                </a:solidFill>
                <a:latin typeface="Segoe UI"/>
                <a:ea typeface="Segoe UI"/>
                <a:cs typeface="Segoe UI"/>
              </a:rPr>
              <a:t>RESEARCH NOTE / 01</a:t>
            </a:r>
          </a:p>
        </p:txBody>
      </p:sp>
      <p:sp>
        <p:nvSpPr>
          <p:cNvPr id="3" name="S01-title">
            <a:extLst xmlns:a="http://schemas.openxmlformats.org/drawingml/2006/main">
              <a:ext uri="{FF2B5EF4-FFF2-40B4-BE49-F238E27FC236}">
                <a16:creationId xmlns:a16="http://schemas.microsoft.com/office/drawing/2014/main" id="{4C2F98CD-761C-4BE1-B0E6-D8D7623A14E2}"/>
              </a:ext>
            </a:extLst>
          </p:cNvPr>
          <p:cNvSpPr>
            <a:spLocks xmlns:a="http://schemas.openxmlformats.org/drawingml/2006/main" noGrp="1"/>
          </p:cNvSpPr>
          <p:nvPr/>
        </p:nvSpPr>
        <p:spPr>
          <a:xfrm xmlns:a="http://schemas.openxmlformats.org/drawingml/2006/main">
            <a:off x="685800" y="1895475"/>
            <a:ext cx="65913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4200" b="0">
                <a:solidFill>
                  <a:srgbClr val="1E302F"/>
                </a:solidFill>
                <a:latin typeface="Segoe UI"/>
                <a:ea typeface="Segoe UI"/>
                <a:cs typeface="Segoe UI"/>
              </a:defRPr>
            </a:pPr>
            <a:r>
              <a:rPr sz="4200" b="0">
                <a:solidFill>
                  <a:srgbClr val="1E302F"/>
                </a:solidFill>
                <a:latin typeface="Segoe UI"/>
                <a:ea typeface="Segoe UI"/>
                <a:cs typeface="Segoe UI"/>
              </a:rPr>
              <a:t>Smaller models.</a:t>
            </a:r>
          </a:p>
          <a:p xmlns:a="http://schemas.openxmlformats.org/drawingml/2006/main">
            <a:pPr>
              <a:defRPr sz="4200" b="0">
                <a:solidFill>
                  <a:srgbClr val="1E302F"/>
                </a:solidFill>
                <a:latin typeface="Segoe UI"/>
                <a:ea typeface="Segoe UI"/>
                <a:cs typeface="Segoe UI"/>
              </a:defRPr>
            </a:pPr>
            <a:r>
              <a:rPr sz="4200" b="0">
                <a:solidFill>
                  <a:srgbClr val="1E302F"/>
                </a:solidFill>
                <a:latin typeface="Segoe UI"/>
                <a:ea typeface="Segoe UI"/>
                <a:cs typeface="Segoe UI"/>
              </a:rPr>
              <a:t>Considered trade-offs.</a:t>
            </a:r>
          </a:p>
        </p:txBody>
      </p:sp>
      <p:sp>
        <p:nvSpPr>
          <p:cNvPr id="4" name="S01-subtitle">
            <a:extLst xmlns:a="http://schemas.openxmlformats.org/drawingml/2006/main">
              <a:ext uri="{FF2B5EF4-FFF2-40B4-BE49-F238E27FC236}">
                <a16:creationId xmlns:a16="http://schemas.microsoft.com/office/drawing/2014/main" id="{26242D5B-C040-47B5-8284-A994E17ED53A}"/>
              </a:ext>
            </a:extLst>
          </p:cNvPr>
          <p:cNvSpPr>
            <a:spLocks xmlns:a="http://schemas.openxmlformats.org/drawingml/2006/main" noGrp="1"/>
          </p:cNvSpPr>
          <p:nvPr/>
        </p:nvSpPr>
        <p:spPr>
          <a:xfrm xmlns:a="http://schemas.openxmlformats.org/drawingml/2006/main">
            <a:off x="723900" y="3905250"/>
            <a:ext cx="6048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75" b="0">
                <a:solidFill>
                  <a:srgbClr val="586C68"/>
                </a:solidFill>
                <a:latin typeface="Segoe UI"/>
                <a:ea typeface="Segoe UI"/>
                <a:cs typeface="Segoe UI"/>
              </a:defRPr>
            </a:pPr>
            <a:r>
              <a:rPr sz="2175" b="0">
                <a:solidFill>
                  <a:srgbClr val="586C68"/>
                </a:solidFill>
                <a:latin typeface="Segoe UI"/>
                <a:ea typeface="Segoe UI"/>
                <a:cs typeface="Segoe UI"/>
              </a:rPr>
              <a:t>Sensor anomaly detection with</a:t>
            </a:r>
          </a:p>
          <a:p xmlns:a="http://schemas.openxmlformats.org/drawingml/2006/main">
            <a:pPr>
              <a:defRPr sz="2175" b="0">
                <a:solidFill>
                  <a:srgbClr val="586C68"/>
                </a:solidFill>
                <a:latin typeface="Segoe UI"/>
                <a:ea typeface="Segoe UI"/>
                <a:cs typeface="Segoe UI"/>
              </a:defRPr>
            </a:pPr>
            <a:r>
              <a:rPr sz="2175" b="0">
                <a:solidFill>
                  <a:srgbClr val="586C68"/>
                </a:solidFill>
                <a:latin typeface="Segoe UI"/>
                <a:ea typeface="Segoe UI"/>
                <a:cs typeface="Segoe UI"/>
              </a:rPr>
              <a:t>distillation and INT8 quantization</a:t>
            </a:r>
          </a:p>
        </p:txBody>
      </p:sp>
      <p:sp>
        <p:nvSpPr>
          <p:cNvPr id="5" name="S01-context">
            <a:extLst xmlns:a="http://schemas.openxmlformats.org/drawingml/2006/main">
              <a:ext uri="{FF2B5EF4-FFF2-40B4-BE49-F238E27FC236}">
                <a16:creationId xmlns:a16="http://schemas.microsoft.com/office/drawing/2014/main" id="{CE5D0945-2804-42F1-BE98-430B6393548F}"/>
              </a:ext>
            </a:extLst>
          </p:cNvPr>
          <p:cNvSpPr>
            <a:spLocks xmlns:a="http://schemas.openxmlformats.org/drawingml/2006/main" noGrp="1"/>
          </p:cNvSpPr>
          <p:nvPr/>
        </p:nvSpPr>
        <p:spPr>
          <a:xfrm xmlns:a="http://schemas.openxmlformats.org/drawingml/2006/main">
            <a:off x="723900" y="54102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1E302F"/>
                </a:solidFill>
                <a:latin typeface="Segoe UI"/>
                <a:ea typeface="Segoe UI"/>
                <a:cs typeface="Segoe UI"/>
              </a:defRPr>
            </a:pPr>
            <a:r>
              <a:rPr sz="1725" b="0">
                <a:solidFill>
                  <a:srgbClr val="1E302F"/>
                </a:solidFill>
                <a:latin typeface="Segoe UI"/>
                <a:ea typeface="Segoe UI"/>
                <a:cs typeface="Segoe UI"/>
              </a:rPr>
              <a:t>Lab seminar · 5 minutes</a:t>
            </a:r>
          </a:p>
        </p:txBody>
      </p:sp>
      <p:sp>
        <p:nvSpPr>
          <p:cNvPr id="6" name="S01-disclosure">
            <a:extLst xmlns:a="http://schemas.openxmlformats.org/drawingml/2006/main">
              <a:ext uri="{FF2B5EF4-FFF2-40B4-BE49-F238E27FC236}">
                <a16:creationId xmlns:a16="http://schemas.microsoft.com/office/drawing/2014/main" id="{A847D8A6-1E81-4416-955C-608099BBDF94}"/>
              </a:ext>
            </a:extLst>
          </p:cNvPr>
          <p:cNvSpPr>
            <a:spLocks xmlns:a="http://schemas.openxmlformats.org/drawingml/2006/main" noGrp="1"/>
          </p:cNvSpPr>
          <p:nvPr/>
        </p:nvSpPr>
        <p:spPr>
          <a:xfrm xmlns:a="http://schemas.openxmlformats.org/drawingml/2006/main">
            <a:off x="723900" y="6343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Tree>
    <p:extLst>
      <p:ext uri="{BB962C8B-B14F-4D97-AF65-F5344CB8AC3E}">
        <p14:creationId xmlns:p14="http://schemas.microsoft.com/office/powerpoint/2010/main" val="872901537"/>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2" name="S02-section">
            <a:extLst xmlns:a="http://schemas.openxmlformats.org/drawingml/2006/main">
              <a:ext uri="{FF2B5EF4-FFF2-40B4-BE49-F238E27FC236}">
                <a16:creationId xmlns:a16="http://schemas.microsoft.com/office/drawing/2014/main" id="{38AF2B2F-DFDC-44CF-AFD0-A937CEF5A931}"/>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Segoe UI"/>
                <a:ea typeface="Segoe UI"/>
                <a:cs typeface="Segoe UI"/>
              </a:defRPr>
            </a:pPr>
            <a:r>
              <a:rPr sz="1425" b="0">
                <a:solidFill>
                  <a:srgbClr val="287D78"/>
                </a:solidFill>
                <a:latin typeface="Segoe UI"/>
                <a:ea typeface="Segoe UI"/>
                <a:cs typeface="Segoe UI"/>
              </a:rPr>
              <a:t>METHOD / TWO COMPRESSION STEPS</a:t>
            </a:r>
          </a:p>
        </p:txBody>
      </p:sp>
      <p:sp>
        <p:nvSpPr>
          <p:cNvPr id="2" name="S02-title">
            <a:extLst xmlns:a="http://schemas.openxmlformats.org/drawingml/2006/main">
              <a:ext uri="{FF2B5EF4-FFF2-40B4-BE49-F238E27FC236}">
                <a16:creationId xmlns:a16="http://schemas.microsoft.com/office/drawing/2014/main" id="{B0A18481-3748-46C8-B040-D773482F990F}"/>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From a teacher to a compact student</a:t>
            </a:r>
          </a:p>
        </p:txBody>
      </p:sp>
      <p:sp>
        <p:nvSpPr>
          <p:cNvPr id="3" name="S02-disclosure">
            <a:extLst xmlns:a="http://schemas.openxmlformats.org/drawingml/2006/main">
              <a:ext uri="{FF2B5EF4-FFF2-40B4-BE49-F238E27FC236}">
                <a16:creationId xmlns:a16="http://schemas.microsoft.com/office/drawing/2014/main" id="{0D26C020-E687-43A2-9252-B85FDA2591D6}"/>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2-number">
            <a:extLst xmlns:a="http://schemas.openxmlformats.org/drawingml/2006/main">
              <a:ext uri="{FF2B5EF4-FFF2-40B4-BE49-F238E27FC236}">
                <a16:creationId xmlns:a16="http://schemas.microsoft.com/office/drawing/2014/main" id="{16C78E3E-1CEB-47EA-B53A-2BEE9C7E5285}"/>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02</a:t>
            </a:r>
          </a:p>
        </p:txBody>
      </p:sp>
      <p:sp>
        <p:nvSpPr>
          <p:cNvPr id="5" name="S02-marker-1">
            <a:extLst xmlns:a="http://schemas.openxmlformats.org/drawingml/2006/main">
              <a:ext uri="{FF2B5EF4-FFF2-40B4-BE49-F238E27FC236}">
                <a16:creationId xmlns:a16="http://schemas.microsoft.com/office/drawing/2014/main" id="{A1CCCF3E-D131-4C6A-8EBA-BE7D30BBDCC5}"/>
              </a:ext>
            </a:extLst>
          </p:cNvPr>
          <p:cNvSpPr>
            <a:spLocks xmlns:a="http://schemas.openxmlformats.org/drawingml/2006/main" noGrp="1"/>
          </p:cNvSpPr>
          <p:nvPr/>
        </p:nvSpPr>
        <p:spPr>
          <a:xfrm xmlns:a="http://schemas.openxmlformats.org/drawingml/2006/main">
            <a:off x="6858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Segoe UI"/>
                <a:ea typeface="Segoe UI"/>
                <a:cs typeface="Segoe UI"/>
              </a:defRPr>
            </a:pPr>
            <a:r>
              <a:rPr sz="1650">
                <a:solidFill>
                  <a:srgbClr val="287D78"/>
                </a:solidFill>
                <a:latin typeface="Segoe UI"/>
                <a:ea typeface="Segoe UI"/>
                <a:cs typeface="Segoe UI"/>
              </a:rPr>
              <a:t>01</a:t>
            </a:r>
          </a:p>
        </p:txBody>
      </p:sp>
      <p:sp>
        <p:nvSpPr>
          <p:cNvPr id="6" name="S02-marker-2">
            <a:extLst xmlns:a="http://schemas.openxmlformats.org/drawingml/2006/main">
              <a:ext uri="{FF2B5EF4-FFF2-40B4-BE49-F238E27FC236}">
                <a16:creationId xmlns:a16="http://schemas.microsoft.com/office/drawing/2014/main" id="{E30A7E0B-6A7F-4EB3-B049-ED9215FC7920}"/>
              </a:ext>
            </a:extLst>
          </p:cNvPr>
          <p:cNvSpPr>
            <a:spLocks xmlns:a="http://schemas.openxmlformats.org/drawingml/2006/main" noGrp="1"/>
          </p:cNvSpPr>
          <p:nvPr/>
        </p:nvSpPr>
        <p:spPr>
          <a:xfrm xmlns:a="http://schemas.openxmlformats.org/drawingml/2006/main">
            <a:off x="46482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Segoe UI"/>
                <a:ea typeface="Segoe UI"/>
                <a:cs typeface="Segoe UI"/>
              </a:defRPr>
            </a:pPr>
            <a:r>
              <a:rPr sz="1650">
                <a:solidFill>
                  <a:srgbClr val="287D78"/>
                </a:solidFill>
                <a:latin typeface="Segoe UI"/>
                <a:ea typeface="Segoe UI"/>
                <a:cs typeface="Segoe UI"/>
              </a:rPr>
              <a:t>02</a:t>
            </a:r>
          </a:p>
        </p:txBody>
      </p:sp>
      <p:sp>
        <p:nvSpPr>
          <p:cNvPr id="7" name="S02-marker-3">
            <a:extLst xmlns:a="http://schemas.openxmlformats.org/drawingml/2006/main">
              <a:ext uri="{FF2B5EF4-FFF2-40B4-BE49-F238E27FC236}">
                <a16:creationId xmlns:a16="http://schemas.microsoft.com/office/drawing/2014/main" id="{589A3122-8F0E-4C97-A5B4-3A6FE7F24859}"/>
              </a:ext>
            </a:extLst>
          </p:cNvPr>
          <p:cNvSpPr>
            <a:spLocks xmlns:a="http://schemas.openxmlformats.org/drawingml/2006/main" noGrp="1"/>
          </p:cNvSpPr>
          <p:nvPr/>
        </p:nvSpPr>
        <p:spPr>
          <a:xfrm xmlns:a="http://schemas.openxmlformats.org/drawingml/2006/main">
            <a:off x="8610600" y="2333625"/>
            <a:ext cx="533400" cy="533400"/>
          </a:xfrm>
          <a:prstGeom xmlns:a="http://schemas.openxmlformats.org/drawingml/2006/main" prst="ellipse">
            <a:avLst/>
          </a:prstGeom>
          <a:solidFill xmlns:a="http://schemas.openxmlformats.org/drawingml/2006/main">
            <a:srgbClr val="287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FFFFFF"/>
                </a:solidFill>
                <a:latin typeface="Segoe UI"/>
                <a:ea typeface="Segoe UI"/>
                <a:cs typeface="Segoe UI"/>
              </a:defRPr>
            </a:pPr>
            <a:r>
              <a:rPr sz="1650">
                <a:solidFill>
                  <a:srgbClr val="FFFFFF"/>
                </a:solidFill>
                <a:latin typeface="Segoe UI"/>
                <a:ea typeface="Segoe UI"/>
                <a:cs typeface="Segoe UI"/>
              </a:rPr>
              <a:t>03</a:t>
            </a:r>
          </a:p>
        </p:txBody>
      </p:sp>
      <p:cxnSp>
        <p:nvCxnSpPr>
          <p:cNvPr id="29" name="S02-link-2"/>
          <p:cNvCxnSpPr>
            <a:stCxn xmlns:a="http://schemas.openxmlformats.org/drawingml/2006/main" id="5" idx="6"/>
            <a:endCxn xmlns:a="http://schemas.openxmlformats.org/drawingml/2006/main" id="6" idx="2"/>
          </p:cNvCxnSpPr>
          <p:nvPr/>
        </p:nvCxnSpPr>
        <p:spPr>
          <a:xfrm xmlns:a="http://schemas.openxmlformats.org/drawingml/2006/main">
            <a:off x="12192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cxnSp>
        <p:nvCxnSpPr>
          <p:cNvPr id="30" name="S02-link-3"/>
          <p:cNvCxnSpPr>
            <a:stCxn xmlns:a="http://schemas.openxmlformats.org/drawingml/2006/main" id="6" idx="6"/>
            <a:endCxn xmlns:a="http://schemas.openxmlformats.org/drawingml/2006/main" id="7" idx="2"/>
          </p:cNvCxnSpPr>
          <p:nvPr/>
        </p:nvCxnSpPr>
        <p:spPr>
          <a:xfrm xmlns:a="http://schemas.openxmlformats.org/drawingml/2006/main">
            <a:off x="51816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sp>
        <p:nvSpPr>
          <p:cNvPr id="10" name="S02-flow-2">
            <a:extLst xmlns:a="http://schemas.openxmlformats.org/drawingml/2006/main">
              <a:ext uri="{FF2B5EF4-FFF2-40B4-BE49-F238E27FC236}">
                <a16:creationId xmlns:a16="http://schemas.microsoft.com/office/drawing/2014/main" id="{C3FB482B-8C3A-4AF4-9139-6144D2C21705}"/>
              </a:ext>
            </a:extLst>
          </p:cNvPr>
          <p:cNvSpPr>
            <a:spLocks xmlns:a="http://schemas.openxmlformats.org/drawingml/2006/main" noGrp="1"/>
          </p:cNvSpPr>
          <p:nvPr/>
        </p:nvSpPr>
        <p:spPr>
          <a:xfrm xmlns:a="http://schemas.openxmlformats.org/drawingml/2006/main">
            <a:off x="14668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Prediction transfer</a:t>
            </a:r>
          </a:p>
        </p:txBody>
      </p:sp>
      <p:sp>
        <p:nvSpPr>
          <p:cNvPr id="11" name="S02-flow-3">
            <a:extLst xmlns:a="http://schemas.openxmlformats.org/drawingml/2006/main">
              <a:ext uri="{FF2B5EF4-FFF2-40B4-BE49-F238E27FC236}">
                <a16:creationId xmlns:a16="http://schemas.microsoft.com/office/drawing/2014/main" id="{D6EC3D8F-1037-4D7D-8D4F-6F442121BDBC}"/>
              </a:ext>
            </a:extLst>
          </p:cNvPr>
          <p:cNvSpPr>
            <a:spLocks xmlns:a="http://schemas.openxmlformats.org/drawingml/2006/main" noGrp="1"/>
          </p:cNvSpPr>
          <p:nvPr/>
        </p:nvSpPr>
        <p:spPr>
          <a:xfrm xmlns:a="http://schemas.openxmlformats.org/drawingml/2006/main">
            <a:off x="54292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Numeric conversion</a:t>
            </a:r>
          </a:p>
        </p:txBody>
      </p:sp>
      <p:sp>
        <p:nvSpPr>
          <p:cNvPr id="12" name="S02-stage-1">
            <a:extLst xmlns:a="http://schemas.openxmlformats.org/drawingml/2006/main">
              <a:ext uri="{FF2B5EF4-FFF2-40B4-BE49-F238E27FC236}">
                <a16:creationId xmlns:a16="http://schemas.microsoft.com/office/drawing/2014/main" id="{8985360B-9721-48F9-B506-A2502A8D348A}"/>
              </a:ext>
            </a:extLst>
          </p:cNvPr>
          <p:cNvSpPr>
            <a:spLocks xmlns:a="http://schemas.openxmlformats.org/drawingml/2006/main" noGrp="1"/>
          </p:cNvSpPr>
          <p:nvPr/>
        </p:nvSpPr>
        <p:spPr>
          <a:xfrm xmlns:a="http://schemas.openxmlformats.org/drawingml/2006/main">
            <a:off x="6858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250" b="0">
                <a:solidFill>
                  <a:srgbClr val="1E302F"/>
                </a:solidFill>
                <a:latin typeface="Segoe UI"/>
                <a:ea typeface="Segoe UI"/>
                <a:cs typeface="Segoe UI"/>
              </a:defRPr>
            </a:pPr>
            <a:r>
              <a:rPr sz="2250" b="0">
                <a:solidFill>
                  <a:srgbClr val="1E302F"/>
                </a:solidFill>
                <a:latin typeface="Segoe UI"/>
                <a:ea typeface="Segoe UI"/>
                <a:cs typeface="Segoe UI"/>
              </a:rPr>
              <a:t>Baseline</a:t>
            </a:r>
          </a:p>
        </p:txBody>
      </p:sp>
      <p:sp>
        <p:nvSpPr>
          <p:cNvPr id="13" name="S02-name-1">
            <a:extLst xmlns:a="http://schemas.openxmlformats.org/drawingml/2006/main">
              <a:ext uri="{FF2B5EF4-FFF2-40B4-BE49-F238E27FC236}">
                <a16:creationId xmlns:a16="http://schemas.microsoft.com/office/drawing/2014/main" id="{95049510-C349-4929-8584-5DBC90F89AA2}"/>
              </a:ext>
            </a:extLst>
          </p:cNvPr>
          <p:cNvSpPr>
            <a:spLocks xmlns:a="http://schemas.openxmlformats.org/drawingml/2006/main" noGrp="1"/>
          </p:cNvSpPr>
          <p:nvPr/>
        </p:nvSpPr>
        <p:spPr>
          <a:xfrm xmlns:a="http://schemas.openxmlformats.org/drawingml/2006/main">
            <a:off x="6858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Segoe UI"/>
                <a:ea typeface="Segoe UI"/>
                <a:cs typeface="Segoe UI"/>
              </a:defRPr>
            </a:pPr>
            <a:r>
              <a:rPr sz="1575" b="0">
                <a:solidFill>
                  <a:srgbClr val="287D78"/>
                </a:solidFill>
                <a:latin typeface="Segoe UI"/>
                <a:ea typeface="Segoe UI"/>
                <a:cs typeface="Segoe UI"/>
              </a:rPr>
              <a:t>baseline</a:t>
            </a:r>
          </a:p>
        </p:txBody>
      </p:sp>
      <p:sp>
        <p:nvSpPr>
          <p:cNvPr id="14" name="S02-detail-1">
            <a:extLst xmlns:a="http://schemas.openxmlformats.org/drawingml/2006/main">
              <a:ext uri="{FF2B5EF4-FFF2-40B4-BE49-F238E27FC236}">
                <a16:creationId xmlns:a16="http://schemas.microsoft.com/office/drawing/2014/main" id="{125424C2-44BA-44FE-848B-84FD7909F3D1}"/>
              </a:ext>
            </a:extLst>
          </p:cNvPr>
          <p:cNvSpPr>
            <a:spLocks xmlns:a="http://schemas.openxmlformats.org/drawingml/2006/main" noGrp="1"/>
          </p:cNvSpPr>
          <p:nvPr/>
        </p:nvSpPr>
        <p:spPr>
          <a:xfrm xmlns:a="http://schemas.openxmlformats.org/drawingml/2006/main">
            <a:off x="6858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The reference model</a:t>
            </a:r>
          </a:p>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serves as the teacher.</a:t>
            </a:r>
          </a:p>
        </p:txBody>
      </p:sp>
      <p:sp>
        <p:nvSpPr>
          <p:cNvPr id="15" name="S02-stage-2">
            <a:extLst xmlns:a="http://schemas.openxmlformats.org/drawingml/2006/main">
              <a:ext uri="{FF2B5EF4-FFF2-40B4-BE49-F238E27FC236}">
                <a16:creationId xmlns:a16="http://schemas.microsoft.com/office/drawing/2014/main" id="{E5F9886C-E7E3-4633-A958-E5212F8E5317}"/>
              </a:ext>
            </a:extLst>
          </p:cNvPr>
          <p:cNvSpPr>
            <a:spLocks xmlns:a="http://schemas.openxmlformats.org/drawingml/2006/main" noGrp="1"/>
          </p:cNvSpPr>
          <p:nvPr/>
        </p:nvSpPr>
        <p:spPr>
          <a:xfrm xmlns:a="http://schemas.openxmlformats.org/drawingml/2006/main">
            <a:off x="46482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250" b="0">
                <a:solidFill>
                  <a:srgbClr val="1E302F"/>
                </a:solidFill>
                <a:latin typeface="Segoe UI"/>
                <a:ea typeface="Segoe UI"/>
                <a:cs typeface="Segoe UI"/>
              </a:defRPr>
            </a:pPr>
            <a:r>
              <a:rPr sz="2250" b="0">
                <a:solidFill>
                  <a:srgbClr val="1E302F"/>
                </a:solidFill>
                <a:latin typeface="Segoe UI"/>
                <a:ea typeface="Segoe UI"/>
                <a:cs typeface="Segoe UI"/>
              </a:rPr>
              <a:t>Distillation</a:t>
            </a:r>
          </a:p>
        </p:txBody>
      </p:sp>
      <p:sp>
        <p:nvSpPr>
          <p:cNvPr id="16" name="S02-name-2">
            <a:extLst xmlns:a="http://schemas.openxmlformats.org/drawingml/2006/main">
              <a:ext uri="{FF2B5EF4-FFF2-40B4-BE49-F238E27FC236}">
                <a16:creationId xmlns:a16="http://schemas.microsoft.com/office/drawing/2014/main" id="{8E293791-745A-4D99-A079-03922D0FDB19}"/>
              </a:ext>
            </a:extLst>
          </p:cNvPr>
          <p:cNvSpPr>
            <a:spLocks xmlns:a="http://schemas.openxmlformats.org/drawingml/2006/main" noGrp="1"/>
          </p:cNvSpPr>
          <p:nvPr/>
        </p:nvSpPr>
        <p:spPr>
          <a:xfrm xmlns:a="http://schemas.openxmlformats.org/drawingml/2006/main">
            <a:off x="46482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Segoe UI"/>
                <a:ea typeface="Segoe UI"/>
                <a:cs typeface="Segoe UI"/>
              </a:defRPr>
            </a:pPr>
            <a:r>
              <a:rPr sz="1575" b="0">
                <a:solidFill>
                  <a:srgbClr val="287D78"/>
                </a:solidFill>
                <a:latin typeface="Segoe UI"/>
                <a:ea typeface="Segoe UI"/>
                <a:cs typeface="Segoe UI"/>
              </a:rPr>
              <a:t>distilled</a:t>
            </a:r>
          </a:p>
        </p:txBody>
      </p:sp>
      <p:sp>
        <p:nvSpPr>
          <p:cNvPr id="17" name="S02-detail-2">
            <a:extLst xmlns:a="http://schemas.openxmlformats.org/drawingml/2006/main">
              <a:ext uri="{FF2B5EF4-FFF2-40B4-BE49-F238E27FC236}">
                <a16:creationId xmlns:a16="http://schemas.microsoft.com/office/drawing/2014/main" id="{83CF5FE0-4AD3-4D18-9AFA-7920E8EF220E}"/>
              </a:ext>
            </a:extLst>
          </p:cNvPr>
          <p:cNvSpPr>
            <a:spLocks xmlns:a="http://schemas.openxmlformats.org/drawingml/2006/main" noGrp="1"/>
          </p:cNvSpPr>
          <p:nvPr/>
        </p:nvSpPr>
        <p:spPr>
          <a:xfrm xmlns:a="http://schemas.openxmlformats.org/drawingml/2006/main">
            <a:off x="46482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A smaller student learns</a:t>
            </a:r>
          </a:p>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from teacher predictions.</a:t>
            </a:r>
          </a:p>
        </p:txBody>
      </p:sp>
      <p:sp>
        <p:nvSpPr>
          <p:cNvPr id="18" name="S02-stage-3">
            <a:extLst xmlns:a="http://schemas.openxmlformats.org/drawingml/2006/main">
              <a:ext uri="{FF2B5EF4-FFF2-40B4-BE49-F238E27FC236}">
                <a16:creationId xmlns:a16="http://schemas.microsoft.com/office/drawing/2014/main" id="{7DF34022-0808-4707-8EB5-EE5830F647D9}"/>
              </a:ext>
            </a:extLst>
          </p:cNvPr>
          <p:cNvSpPr>
            <a:spLocks xmlns:a="http://schemas.openxmlformats.org/drawingml/2006/main" noGrp="1"/>
          </p:cNvSpPr>
          <p:nvPr/>
        </p:nvSpPr>
        <p:spPr>
          <a:xfrm xmlns:a="http://schemas.openxmlformats.org/drawingml/2006/main">
            <a:off x="86106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250" b="0">
                <a:solidFill>
                  <a:srgbClr val="1E302F"/>
                </a:solidFill>
                <a:latin typeface="Segoe UI"/>
                <a:ea typeface="Segoe UI"/>
                <a:cs typeface="Segoe UI"/>
              </a:defRPr>
            </a:pPr>
            <a:r>
              <a:rPr sz="2250" b="0">
                <a:solidFill>
                  <a:srgbClr val="1E302F"/>
                </a:solidFill>
                <a:latin typeface="Segoe UI"/>
                <a:ea typeface="Segoe UI"/>
                <a:cs typeface="Segoe UI"/>
              </a:rPr>
              <a:t>INT8 quantization</a:t>
            </a:r>
          </a:p>
        </p:txBody>
      </p:sp>
      <p:sp>
        <p:nvSpPr>
          <p:cNvPr id="19" name="S02-name-3">
            <a:extLst xmlns:a="http://schemas.openxmlformats.org/drawingml/2006/main">
              <a:ext uri="{FF2B5EF4-FFF2-40B4-BE49-F238E27FC236}">
                <a16:creationId xmlns:a16="http://schemas.microsoft.com/office/drawing/2014/main" id="{636C148B-A2F9-4F48-A1EE-72E6A939F67A}"/>
              </a:ext>
            </a:extLst>
          </p:cNvPr>
          <p:cNvSpPr>
            <a:spLocks xmlns:a="http://schemas.openxmlformats.org/drawingml/2006/main" noGrp="1"/>
          </p:cNvSpPr>
          <p:nvPr/>
        </p:nvSpPr>
        <p:spPr>
          <a:xfrm xmlns:a="http://schemas.openxmlformats.org/drawingml/2006/main">
            <a:off x="86106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Segoe UI"/>
                <a:ea typeface="Segoe UI"/>
                <a:cs typeface="Segoe UI"/>
              </a:defRPr>
            </a:pPr>
            <a:r>
              <a:rPr sz="1575" b="0">
                <a:solidFill>
                  <a:srgbClr val="287D78"/>
                </a:solidFill>
                <a:latin typeface="Segoe UI"/>
                <a:ea typeface="Segoe UI"/>
                <a:cs typeface="Segoe UI"/>
              </a:rPr>
              <a:t>int8</a:t>
            </a:r>
          </a:p>
        </p:txBody>
      </p:sp>
      <p:sp>
        <p:nvSpPr>
          <p:cNvPr id="20" name="S02-detail-3">
            <a:extLst xmlns:a="http://schemas.openxmlformats.org/drawingml/2006/main">
              <a:ext uri="{FF2B5EF4-FFF2-40B4-BE49-F238E27FC236}">
                <a16:creationId xmlns:a16="http://schemas.microsoft.com/office/drawing/2014/main" id="{EA4199E6-94C7-46AF-BBBF-B1A92E9459A7}"/>
              </a:ext>
            </a:extLst>
          </p:cNvPr>
          <p:cNvSpPr>
            <a:spLocks xmlns:a="http://schemas.openxmlformats.org/drawingml/2006/main" noGrp="1"/>
          </p:cNvSpPr>
          <p:nvPr/>
        </p:nvSpPr>
        <p:spPr>
          <a:xfrm xmlns:a="http://schemas.openxmlformats.org/drawingml/2006/main">
            <a:off x="86106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Represent student numbers</a:t>
            </a:r>
          </a:p>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as 8-bit integers.</a:t>
            </a:r>
          </a:p>
        </p:txBody>
      </p:sp>
      <p:sp>
        <p:nvSpPr>
          <p:cNvPr id="21" name="S02-caveat">
            <a:extLst xmlns:a="http://schemas.openxmlformats.org/drawingml/2006/main">
              <a:ext uri="{FF2B5EF4-FFF2-40B4-BE49-F238E27FC236}">
                <a16:creationId xmlns:a16="http://schemas.microsoft.com/office/drawing/2014/main" id="{C57FDE32-D10D-4606-886B-C68F08802B4B}"/>
              </a:ext>
            </a:extLst>
          </p:cNvPr>
          <p:cNvSpPr>
            <a:spLocks xmlns:a="http://schemas.openxmlformats.org/drawingml/2006/main" noGrp="1"/>
          </p:cNvSpPr>
          <p:nvPr/>
        </p:nvSpPr>
        <p:spPr>
          <a:xfrm xmlns:a="http://schemas.openxmlformats.org/drawingml/2006/main">
            <a:off x="685800" y="565785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Conceptual workflow. Architecture and quantization scope are unspecified.</a:t>
            </a:r>
          </a:p>
        </p:txBody>
      </p:sp>
    </p:spTree>
    <p:extLst>
      <p:ext uri="{BB962C8B-B14F-4D97-AF65-F5344CB8AC3E}">
        <p14:creationId xmlns:p14="http://schemas.microsoft.com/office/powerpoint/2010/main" val="1999575251"/>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9" name="S03-section">
            <a:extLst xmlns:a="http://schemas.openxmlformats.org/drawingml/2006/main">
              <a:ext uri="{FF2B5EF4-FFF2-40B4-BE49-F238E27FC236}">
                <a16:creationId xmlns:a16="http://schemas.microsoft.com/office/drawing/2014/main" id="{533610C8-20CD-4FFE-B28E-BAD1925CE24F}"/>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Segoe UI"/>
                <a:ea typeface="Segoe UI"/>
                <a:cs typeface="Segoe UI"/>
              </a:defRPr>
            </a:pPr>
            <a:r>
              <a:rPr sz="1425" b="0">
                <a:solidFill>
                  <a:srgbClr val="287D78"/>
                </a:solidFill>
                <a:latin typeface="Segoe UI"/>
                <a:ea typeface="Segoe UI"/>
                <a:cs typeface="Segoe UI"/>
              </a:rPr>
              <a:t>EVIDENCE / FICTIONAL COMPARISON</a:t>
            </a:r>
          </a:p>
        </p:txBody>
      </p:sp>
      <p:sp>
        <p:nvSpPr>
          <p:cNvPr id="2" name="S03-title">
            <a:extLst xmlns:a="http://schemas.openxmlformats.org/drawingml/2006/main">
              <a:ext uri="{FF2B5EF4-FFF2-40B4-BE49-F238E27FC236}">
                <a16:creationId xmlns:a16="http://schemas.microsoft.com/office/drawing/2014/main" id="{CE70BED3-63C0-4CDA-8B29-D663C34D27C9}"/>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Three models. One shared comparison.</a:t>
            </a:r>
          </a:p>
        </p:txBody>
      </p:sp>
      <p:sp>
        <p:nvSpPr>
          <p:cNvPr id="3" name="S03-disclosure">
            <a:extLst xmlns:a="http://schemas.openxmlformats.org/drawingml/2006/main">
              <a:ext uri="{FF2B5EF4-FFF2-40B4-BE49-F238E27FC236}">
                <a16:creationId xmlns:a16="http://schemas.microsoft.com/office/drawing/2014/main" id="{58292DC1-2B05-42C8-A46E-08495A59EBFA}"/>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3-number">
            <a:extLst xmlns:a="http://schemas.openxmlformats.org/drawingml/2006/main">
              <a:ext uri="{FF2B5EF4-FFF2-40B4-BE49-F238E27FC236}">
                <a16:creationId xmlns:a16="http://schemas.microsoft.com/office/drawing/2014/main" id="{2A831829-C4C5-4502-AA30-B5947112B1A9}"/>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03</a:t>
            </a:r>
          </a:p>
        </p:txBody>
      </p:sp>
      <p:sp>
        <p:nvSpPr>
          <p:cNvPr id="5" name="S03-direction">
            <a:extLst xmlns:a="http://schemas.openxmlformats.org/drawingml/2006/main">
              <a:ext uri="{FF2B5EF4-FFF2-40B4-BE49-F238E27FC236}">
                <a16:creationId xmlns:a16="http://schemas.microsoft.com/office/drawing/2014/main" id="{5F860A98-9107-4FD4-958D-C1FFF623BA7B}"/>
              </a:ext>
            </a:extLst>
          </p:cNvPr>
          <p:cNvSpPr>
            <a:spLocks xmlns:a="http://schemas.openxmlformats.org/drawingml/2006/main" noGrp="1"/>
          </p:cNvSpPr>
          <p:nvPr/>
        </p:nvSpPr>
        <p:spPr>
          <a:xfrm xmlns:a="http://schemas.openxmlformats.org/drawingml/2006/main">
            <a:off x="685800" y="16287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Lower latency and size are better; higher F1 is better.</a:t>
            </a:r>
          </a:p>
        </p:txBody>
      </p:sp>
      <p:graphicFrame>
        <p:nvGraphicFramePr>
          <p:cNvPr id="14" name=""/>
          <p:cNvGraphicFramePr/>
          <p:nvPr/>
        </p:nvGraphicFramePr>
        <p:xfrm>
          <a:off xmlns:a="http://schemas.openxmlformats.org/drawingml/2006/main" x="609600" y="2314575"/>
          <a:ext xmlns:a="http://schemas.openxmlformats.org/drawingml/2006/main" cx="10972800" cy="2857500"/>
        </p:xfrm>
        <a:graphic xmlns:a="http://schemas.openxmlformats.org/drawingml/2006/main">
          <a:graphicData uri="http://schemas.openxmlformats.org/drawingml/2006/table">
            <a:tbl>
              <a:tblPr/>
              <a:tblGrid>
                <a:gridCol w="3429000"/>
                <a:gridCol w="2667000"/>
                <a:gridCol w="2209800"/>
                <a:gridCol w="2667000"/>
              </a:tblGrid>
              <a:tr h="714375">
                <a:tc>
                  <a:txBody>
                    <a:bodyPr/>
                    <a:lstStyle/>
                    <a:p>
                      <a:pPr algn="l"/>
                      <a:r>
                        <a:rPr sz="1800" b="0">
                          <a:solidFill>
                            <a:srgbClr val="586C68"/>
                          </a:solidFill>
                          <a:latin typeface="Segoe UI"/>
                          <a:ea typeface="Segoe UI"/>
                          <a:cs typeface="Segoe UI"/>
                        </a:rPr>
                        <a:t>Model</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Latency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Size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Segoe UI"/>
                          <a:ea typeface="Segoe UI"/>
                          <a:cs typeface="Segoe UI"/>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Segoe UI"/>
                          <a:ea typeface="Segoe UI"/>
                          <a:cs typeface="Segoe UI"/>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287D78"/>
                          </a:solidFill>
                          <a:latin typeface="Segoe UI"/>
                          <a:ea typeface="Segoe UI"/>
                          <a:cs typeface="Segoe UI"/>
                        </a:rPr>
                        <a:t>int8</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Segoe UI"/>
                          <a:ea typeface="Segoe UI"/>
                          <a:cs typeface="Segoe UI"/>
                        </a:rPr>
                        <a:t>54</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Segoe UI"/>
                          <a:ea typeface="Segoe UI"/>
                          <a:cs typeface="Segoe UI"/>
                        </a:rPr>
                        <a:t>0.896</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Segoe UI"/>
                          <a:ea typeface="Segoe UI"/>
                          <a:cs typeface="Segoe UI"/>
                        </a:rPr>
                        <a:t>12</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r>
            </a:tbl>
          </a:graphicData>
        </a:graphic>
      </p:graphicFrame>
      <p:sp>
        <p:nvSpPr>
          <p:cNvPr id="7" name="S03-header-rule">
            <a:extLst xmlns:a="http://schemas.openxmlformats.org/drawingml/2006/main">
              <a:ext uri="{FF2B5EF4-FFF2-40B4-BE49-F238E27FC236}">
                <a16:creationId xmlns:a16="http://schemas.microsoft.com/office/drawing/2014/main" id="{4F4933A8-7935-4902-85C4-E8CFE5886EB0}"/>
              </a:ext>
            </a:extLst>
          </p:cNvPr>
          <p:cNvSpPr>
            <a:spLocks xmlns:a="http://schemas.openxmlformats.org/drawingml/2006/main" noGrp="1"/>
          </p:cNvSpPr>
          <p:nvPr/>
        </p:nvSpPr>
        <p:spPr>
          <a:xfrm xmlns:a="http://schemas.openxmlformats.org/drawingml/2006/main">
            <a:off x="685800" y="3028950"/>
            <a:ext cx="10820400" cy="0"/>
          </a:xfrm>
          <a:prstGeom xmlns:a="http://schemas.openxmlformats.org/drawingml/2006/main" prst="line">
            <a:avLst/>
          </a:prstGeom>
          <a:ln xmlns:a="http://schemas.openxmlformats.org/drawingml/2006/main" w="9525">
            <a:solidFill>
              <a:srgbClr val="CFD8D1"/>
            </a:solidFill>
          </a:ln>
        </p:spPr>
      </p:sp>
      <p:sp>
        <p:nvSpPr>
          <p:cNvPr id="8" name="S03-limit">
            <a:extLst xmlns:a="http://schemas.openxmlformats.org/drawingml/2006/main">
              <a:ext uri="{FF2B5EF4-FFF2-40B4-BE49-F238E27FC236}">
                <a16:creationId xmlns:a16="http://schemas.microsoft.com/office/drawing/2014/main" id="{B6827B90-3AF9-4418-89BF-646D006B2760}"/>
              </a:ext>
            </a:extLst>
          </p:cNvPr>
          <p:cNvSpPr>
            <a:spLocks xmlns:a="http://schemas.openxmlformats.org/drawingml/2006/main" noGrp="1"/>
          </p:cNvSpPr>
          <p:nvPr/>
        </p:nvSpPr>
        <p:spPr>
          <a:xfrm xmlns:a="http://schemas.openxmlformats.org/drawingml/2006/main">
            <a:off x="685800" y="56197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Same device and data assumed. Sample count, variance and dataset are unspecified.</a:t>
            </a:r>
          </a:p>
        </p:txBody>
      </p:sp>
    </p:spTree>
    <p:extLst>
      <p:ext uri="{BB962C8B-B14F-4D97-AF65-F5344CB8AC3E}">
        <p14:creationId xmlns:p14="http://schemas.microsoft.com/office/powerpoint/2010/main" val="1011031294"/>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S04-section">
            <a:extLst xmlns:a="http://schemas.openxmlformats.org/drawingml/2006/main">
              <a:ext uri="{FF2B5EF4-FFF2-40B4-BE49-F238E27FC236}">
                <a16:creationId xmlns:a16="http://schemas.microsoft.com/office/drawing/2014/main" id="{BC636639-B28F-4A01-9CE4-2ADE76FFCFCA}"/>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Segoe UI"/>
                <a:ea typeface="Segoe UI"/>
                <a:cs typeface="Segoe UI"/>
              </a:defRPr>
            </a:pPr>
            <a:r>
              <a:rPr sz="1425" b="0">
                <a:solidFill>
                  <a:srgbClr val="287D78"/>
                </a:solidFill>
                <a:latin typeface="Segoe UI"/>
                <a:ea typeface="Segoe UI"/>
                <a:cs typeface="Segoe UI"/>
              </a:rPr>
              <a:t>RESULT / BASELINE TO INT8</a:t>
            </a:r>
          </a:p>
        </p:txBody>
      </p:sp>
      <p:sp>
        <p:nvSpPr>
          <p:cNvPr id="2" name="S04-title">
            <a:extLst xmlns:a="http://schemas.openxmlformats.org/drawingml/2006/main">
              <a:ext uri="{FF2B5EF4-FFF2-40B4-BE49-F238E27FC236}">
                <a16:creationId xmlns:a16="http://schemas.microsoft.com/office/drawing/2014/main" id="{F2711B63-5182-4F65-BEE2-70658FD0BC1E}"/>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Lower latency, lower F1</a:t>
            </a:r>
          </a:p>
        </p:txBody>
      </p:sp>
      <p:sp>
        <p:nvSpPr>
          <p:cNvPr id="3" name="S04-disclosure">
            <a:extLst xmlns:a="http://schemas.openxmlformats.org/drawingml/2006/main">
              <a:ext uri="{FF2B5EF4-FFF2-40B4-BE49-F238E27FC236}">
                <a16:creationId xmlns:a16="http://schemas.microsoft.com/office/drawing/2014/main" id="{1169E09D-882C-428B-B46C-44A8F3BC6EE5}"/>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4-number">
            <a:extLst xmlns:a="http://schemas.openxmlformats.org/drawingml/2006/main">
              <a:ext uri="{FF2B5EF4-FFF2-40B4-BE49-F238E27FC236}">
                <a16:creationId xmlns:a16="http://schemas.microsoft.com/office/drawing/2014/main" id="{20447F9E-9B5C-4ACF-8067-BE987339E42F}"/>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04</a:t>
            </a:r>
          </a:p>
        </p:txBody>
      </p:sp>
      <p:sp>
        <p:nvSpPr>
          <p:cNvPr id="5" name="S04-chart-unit">
            <a:extLst xmlns:a="http://schemas.openxmlformats.org/drawingml/2006/main">
              <a:ext uri="{FF2B5EF4-FFF2-40B4-BE49-F238E27FC236}">
                <a16:creationId xmlns:a16="http://schemas.microsoft.com/office/drawing/2014/main" id="{E36052B5-A6F9-4623-8165-C8AFF2552BD9}"/>
              </a:ext>
            </a:extLst>
          </p:cNvPr>
          <p:cNvSpPr>
            <a:spLocks xmlns:a="http://schemas.openxmlformats.org/drawingml/2006/main" noGrp="1"/>
          </p:cNvSpPr>
          <p:nvPr/>
        </p:nvSpPr>
        <p:spPr>
          <a:xfrm xmlns:a="http://schemas.openxmlformats.org/drawingml/2006/main">
            <a:off x="685800" y="1828800"/>
            <a:ext cx="6000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Latency (ms)</a:t>
            </a:r>
          </a:p>
        </p:txBody>
      </p:sp>
      <p:graphicFrame>
        <p:nvGraphicFramePr>
          <p:cNvPr id="22" name="Chart"/>
          <p:cNvGraphicFramePr/>
          <p:nvPr/>
        </p:nvGraphicFramePr>
        <p:xfrm>
          <a:off xmlns:a="http://schemas.openxmlformats.org/drawingml/2006/main" x="552450" y="2343150"/>
          <a:ext xmlns:a="http://schemas.openxmlformats.org/drawingml/2006/main" cx="6810375" cy="2857500"/>
        </p:xfrm>
        <a:graphic xmlns:a="http://schemas.openxmlformats.org/drawingml/2006/main">
          <a:graphicData uri="http://schemas.openxmlformats.org/drawingml/2006/chart">
            <c:chart xmlns:r="http://schemas.openxmlformats.org/officeDocument/2006/relationships" xmlns:c="http://schemas.openxmlformats.org/drawingml/2006/chart" r:id="Rcb00e91b374c40c1"/>
          </a:graphicData>
        </a:graphic>
      </p:graphicFrame>
      <p:sp>
        <p:nvSpPr>
          <p:cNvPr id="7" name="S04-latency">
            <a:extLst xmlns:a="http://schemas.openxmlformats.org/drawingml/2006/main">
              <a:ext uri="{FF2B5EF4-FFF2-40B4-BE49-F238E27FC236}">
                <a16:creationId xmlns:a16="http://schemas.microsoft.com/office/drawing/2014/main" id="{D51546B4-1D7A-4253-87A8-B3272307B943}"/>
              </a:ext>
            </a:extLst>
          </p:cNvPr>
          <p:cNvSpPr>
            <a:spLocks xmlns:a="http://schemas.openxmlformats.org/drawingml/2006/main" noGrp="1"/>
          </p:cNvSpPr>
          <p:nvPr/>
        </p:nvSpPr>
        <p:spPr>
          <a:xfrm xmlns:a="http://schemas.openxmlformats.org/drawingml/2006/main">
            <a:off x="8058150" y="1885950"/>
            <a:ext cx="3276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5325" b="0">
                <a:solidFill>
                  <a:srgbClr val="287D78"/>
                </a:solidFill>
                <a:latin typeface="Segoe UI"/>
                <a:ea typeface="Segoe UI"/>
                <a:cs typeface="Segoe UI"/>
              </a:defRPr>
            </a:pPr>
            <a:r>
              <a:rPr sz="5325" b="0">
                <a:solidFill>
                  <a:srgbClr val="287D78"/>
                </a:solidFill>
                <a:latin typeface="Segoe UI"/>
                <a:ea typeface="Segoe UI"/>
                <a:cs typeface="Segoe UI"/>
              </a:rPr>
              <a:t>55%</a:t>
            </a:r>
          </a:p>
        </p:txBody>
      </p:sp>
      <p:sp>
        <p:nvSpPr>
          <p:cNvPr id="8" name="S04-latency-label">
            <a:extLst xmlns:a="http://schemas.openxmlformats.org/drawingml/2006/main">
              <a:ext uri="{FF2B5EF4-FFF2-40B4-BE49-F238E27FC236}">
                <a16:creationId xmlns:a16="http://schemas.microsoft.com/office/drawing/2014/main" id="{7AF19377-FAD8-4B0E-84D6-C88DC070BAA3}"/>
              </a:ext>
            </a:extLst>
          </p:cNvPr>
          <p:cNvSpPr>
            <a:spLocks xmlns:a="http://schemas.openxmlformats.org/drawingml/2006/main" noGrp="1"/>
          </p:cNvSpPr>
          <p:nvPr/>
        </p:nvSpPr>
        <p:spPr>
          <a:xfrm xmlns:a="http://schemas.openxmlformats.org/drawingml/2006/main">
            <a:off x="8058150" y="2714625"/>
            <a:ext cx="3448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Segoe UI"/>
                <a:ea typeface="Segoe UI"/>
                <a:cs typeface="Segoe UI"/>
              </a:defRPr>
            </a:pPr>
            <a:r>
              <a:rPr sz="1725" b="0">
                <a:solidFill>
                  <a:srgbClr val="586C68"/>
                </a:solidFill>
                <a:latin typeface="Segoe UI"/>
                <a:ea typeface="Segoe UI"/>
                <a:cs typeface="Segoe UI"/>
              </a:rPr>
              <a:t>lower latency · 120 → 54 ms</a:t>
            </a:r>
          </a:p>
        </p:txBody>
      </p:sp>
      <p:sp>
        <p:nvSpPr>
          <p:cNvPr id="9" name="S04-size">
            <a:extLst xmlns:a="http://schemas.openxmlformats.org/drawingml/2006/main">
              <a:ext uri="{FF2B5EF4-FFF2-40B4-BE49-F238E27FC236}">
                <a16:creationId xmlns:a16="http://schemas.microsoft.com/office/drawing/2014/main" id="{E86F22F7-99DC-49C0-8EA3-1C600B671779}"/>
              </a:ext>
            </a:extLst>
          </p:cNvPr>
          <p:cNvSpPr>
            <a:spLocks xmlns:a="http://schemas.openxmlformats.org/drawingml/2006/main" noGrp="1"/>
          </p:cNvSpPr>
          <p:nvPr/>
        </p:nvSpPr>
        <p:spPr>
          <a:xfrm xmlns:a="http://schemas.openxmlformats.org/drawingml/2006/main">
            <a:off x="8058150" y="3352800"/>
            <a:ext cx="152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975" b="0">
                <a:solidFill>
                  <a:srgbClr val="1E302F"/>
                </a:solidFill>
                <a:latin typeface="Segoe UI"/>
                <a:ea typeface="Segoe UI"/>
                <a:cs typeface="Segoe UI"/>
              </a:defRPr>
            </a:pPr>
            <a:r>
              <a:rPr sz="3975" b="0">
                <a:solidFill>
                  <a:srgbClr val="1E302F"/>
                </a:solidFill>
                <a:latin typeface="Segoe UI"/>
                <a:ea typeface="Segoe UI"/>
                <a:cs typeface="Segoe UI"/>
              </a:rPr>
              <a:t>75%</a:t>
            </a:r>
          </a:p>
        </p:txBody>
      </p:sp>
      <p:sp>
        <p:nvSpPr>
          <p:cNvPr id="10" name="S04-f1">
            <a:extLst xmlns:a="http://schemas.openxmlformats.org/drawingml/2006/main">
              <a:ext uri="{FF2B5EF4-FFF2-40B4-BE49-F238E27FC236}">
                <a16:creationId xmlns:a16="http://schemas.microsoft.com/office/drawing/2014/main" id="{0FCD41A2-3991-4C2D-B5EF-51FDD86D8E73}"/>
              </a:ext>
            </a:extLst>
          </p:cNvPr>
          <p:cNvSpPr>
            <a:spLocks xmlns:a="http://schemas.openxmlformats.org/drawingml/2006/main" noGrp="1"/>
          </p:cNvSpPr>
          <p:nvPr/>
        </p:nvSpPr>
        <p:spPr>
          <a:xfrm xmlns:a="http://schemas.openxmlformats.org/drawingml/2006/main">
            <a:off x="9906000" y="3352800"/>
            <a:ext cx="1657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525" b="0">
                <a:solidFill>
                  <a:srgbClr val="A3563E"/>
                </a:solidFill>
                <a:latin typeface="Segoe UI"/>
                <a:ea typeface="Segoe UI"/>
                <a:cs typeface="Segoe UI"/>
              </a:defRPr>
            </a:pPr>
            <a:r>
              <a:rPr sz="3525" b="0">
                <a:solidFill>
                  <a:srgbClr val="A3563E"/>
                </a:solidFill>
                <a:latin typeface="Segoe UI"/>
                <a:ea typeface="Segoe UI"/>
                <a:cs typeface="Segoe UI"/>
              </a:rPr>
              <a:t>−0.014</a:t>
            </a:r>
          </a:p>
        </p:txBody>
      </p:sp>
      <p:sp>
        <p:nvSpPr>
          <p:cNvPr id="11" name="S04-size-label">
            <a:extLst xmlns:a="http://schemas.openxmlformats.org/drawingml/2006/main">
              <a:ext uri="{FF2B5EF4-FFF2-40B4-BE49-F238E27FC236}">
                <a16:creationId xmlns:a16="http://schemas.microsoft.com/office/drawing/2014/main" id="{C6FCB46E-3BC3-4326-8492-B1CF566E6F91}"/>
              </a:ext>
            </a:extLst>
          </p:cNvPr>
          <p:cNvSpPr>
            <a:spLocks xmlns:a="http://schemas.openxmlformats.org/drawingml/2006/main" noGrp="1"/>
          </p:cNvSpPr>
          <p:nvPr/>
        </p:nvSpPr>
        <p:spPr>
          <a:xfrm xmlns:a="http://schemas.openxmlformats.org/drawingml/2006/main">
            <a:off x="8058150" y="4076700"/>
            <a:ext cx="1752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smaller model</a:t>
            </a:r>
          </a:p>
        </p:txBody>
      </p:sp>
      <p:sp>
        <p:nvSpPr>
          <p:cNvPr id="12" name="S04-f1-label">
            <a:extLst xmlns:a="http://schemas.openxmlformats.org/drawingml/2006/main">
              <a:ext uri="{FF2B5EF4-FFF2-40B4-BE49-F238E27FC236}">
                <a16:creationId xmlns:a16="http://schemas.microsoft.com/office/drawing/2014/main" id="{DF2DAA3B-0B09-48FF-8978-997403DABA6D}"/>
              </a:ext>
            </a:extLst>
          </p:cNvPr>
          <p:cNvSpPr>
            <a:spLocks xmlns:a="http://schemas.openxmlformats.org/drawingml/2006/main" noGrp="1"/>
          </p:cNvSpPr>
          <p:nvPr/>
        </p:nvSpPr>
        <p:spPr>
          <a:xfrm xmlns:a="http://schemas.openxmlformats.org/drawingml/2006/main">
            <a:off x="9906000" y="4076700"/>
            <a:ext cx="16573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Segoe UI"/>
                <a:ea typeface="Segoe UI"/>
                <a:cs typeface="Segoe UI"/>
              </a:defRPr>
            </a:pPr>
            <a:r>
              <a:rPr sz="1575" b="0">
                <a:solidFill>
                  <a:srgbClr val="586C68"/>
                </a:solidFill>
                <a:latin typeface="Segoe UI"/>
                <a:ea typeface="Segoe UI"/>
                <a:cs typeface="Segoe UI"/>
              </a:rPr>
              <a:t>F1 difference</a:t>
            </a:r>
          </a:p>
        </p:txBody>
      </p:sp>
      <p:sp>
        <p:nvSpPr>
          <p:cNvPr id="13" name="S04-size-values">
            <a:extLst xmlns:a="http://schemas.openxmlformats.org/drawingml/2006/main">
              <a:ext uri="{FF2B5EF4-FFF2-40B4-BE49-F238E27FC236}">
                <a16:creationId xmlns:a16="http://schemas.microsoft.com/office/drawing/2014/main" id="{DEB4987F-D5F1-4E13-9ECD-BF1E86019B54}"/>
              </a:ext>
            </a:extLst>
          </p:cNvPr>
          <p:cNvSpPr>
            <a:spLocks xmlns:a="http://schemas.openxmlformats.org/drawingml/2006/main" noGrp="1"/>
          </p:cNvSpPr>
          <p:nvPr/>
        </p:nvSpPr>
        <p:spPr>
          <a:xfrm xmlns:a="http://schemas.openxmlformats.org/drawingml/2006/main">
            <a:off x="8058150" y="4524375"/>
            <a:ext cx="1762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1E302F"/>
                </a:solidFill>
                <a:latin typeface="Segoe UI"/>
                <a:ea typeface="Segoe UI"/>
                <a:cs typeface="Segoe UI"/>
              </a:defRPr>
            </a:pPr>
            <a:r>
              <a:rPr sz="1650" b="0">
                <a:solidFill>
                  <a:srgbClr val="1E302F"/>
                </a:solidFill>
                <a:latin typeface="Segoe UI"/>
                <a:ea typeface="Segoe UI"/>
                <a:cs typeface="Segoe UI"/>
              </a:rPr>
              <a:t>48 → 12 MB</a:t>
            </a:r>
          </a:p>
        </p:txBody>
      </p:sp>
      <p:sp>
        <p:nvSpPr>
          <p:cNvPr id="14" name="S04-f1-values">
            <a:extLst xmlns:a="http://schemas.openxmlformats.org/drawingml/2006/main">
              <a:ext uri="{FF2B5EF4-FFF2-40B4-BE49-F238E27FC236}">
                <a16:creationId xmlns:a16="http://schemas.microsoft.com/office/drawing/2014/main" id="{E5AFD2F2-0A46-4796-985A-BB72239C16CC}"/>
              </a:ext>
            </a:extLst>
          </p:cNvPr>
          <p:cNvSpPr>
            <a:spLocks xmlns:a="http://schemas.openxmlformats.org/drawingml/2006/main" noGrp="1"/>
          </p:cNvSpPr>
          <p:nvPr/>
        </p:nvSpPr>
        <p:spPr>
          <a:xfrm xmlns:a="http://schemas.openxmlformats.org/drawingml/2006/main">
            <a:off x="9906000" y="4524375"/>
            <a:ext cx="1657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1E302F"/>
                </a:solidFill>
                <a:latin typeface="Segoe UI"/>
                <a:ea typeface="Segoe UI"/>
                <a:cs typeface="Segoe UI"/>
              </a:defRPr>
            </a:pPr>
            <a:r>
              <a:rPr sz="1575" b="0">
                <a:solidFill>
                  <a:srgbClr val="1E302F"/>
                </a:solidFill>
                <a:latin typeface="Segoe UI"/>
                <a:ea typeface="Segoe UI"/>
                <a:cs typeface="Segoe UI"/>
              </a:rPr>
              <a:t>0.910 → 0.896</a:t>
            </a:r>
          </a:p>
        </p:txBody>
      </p:sp>
      <p:sp>
        <p:nvSpPr>
          <p:cNvPr id="15" name="S04-stage1">
            <a:extLst xmlns:a="http://schemas.openxmlformats.org/drawingml/2006/main">
              <a:ext uri="{FF2B5EF4-FFF2-40B4-BE49-F238E27FC236}">
                <a16:creationId xmlns:a16="http://schemas.microsoft.com/office/drawing/2014/main" id="{6A9C1FD7-A266-4FB7-8965-BC9BE4EC65F6}"/>
              </a:ext>
            </a:extLst>
          </p:cNvPr>
          <p:cNvSpPr>
            <a:spLocks xmlns:a="http://schemas.openxmlformats.org/drawingml/2006/main" noGrp="1"/>
          </p:cNvSpPr>
          <p:nvPr/>
        </p:nvSpPr>
        <p:spPr>
          <a:xfrm xmlns:a="http://schemas.openxmlformats.org/drawingml/2006/main">
            <a:off x="685800" y="54673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Segoe UI"/>
                <a:ea typeface="Segoe UI"/>
                <a:cs typeface="Segoe UI"/>
              </a:defRPr>
            </a:pPr>
            <a:r>
              <a:rPr sz="1650" b="0">
                <a:solidFill>
                  <a:srgbClr val="586C68"/>
                </a:solidFill>
                <a:latin typeface="Segoe UI"/>
                <a:ea typeface="Segoe UI"/>
                <a:cs typeface="Segoe UI"/>
              </a:rPr>
              <a:t>Distillation: latency −40%; F1 −0.008</a:t>
            </a:r>
          </a:p>
        </p:txBody>
      </p:sp>
      <p:sp>
        <p:nvSpPr>
          <p:cNvPr id="16" name="S04-stage2">
            <a:extLst xmlns:a="http://schemas.openxmlformats.org/drawingml/2006/main">
              <a:ext uri="{FF2B5EF4-FFF2-40B4-BE49-F238E27FC236}">
                <a16:creationId xmlns:a16="http://schemas.microsoft.com/office/drawing/2014/main" id="{C8BF7D9E-B914-41F4-9848-53C09B8400B1}"/>
              </a:ext>
            </a:extLst>
          </p:cNvPr>
          <p:cNvSpPr>
            <a:spLocks xmlns:a="http://schemas.openxmlformats.org/drawingml/2006/main" noGrp="1"/>
          </p:cNvSpPr>
          <p:nvPr/>
        </p:nvSpPr>
        <p:spPr>
          <a:xfrm xmlns:a="http://schemas.openxmlformats.org/drawingml/2006/main">
            <a:off x="685800" y="58102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Segoe UI"/>
                <a:ea typeface="Segoe UI"/>
                <a:cs typeface="Segoe UI"/>
              </a:defRPr>
            </a:pPr>
            <a:r>
              <a:rPr sz="1650" b="0">
                <a:solidFill>
                  <a:srgbClr val="586C68"/>
                </a:solidFill>
                <a:latin typeface="Segoe UI"/>
                <a:ea typeface="Segoe UI"/>
                <a:cs typeface="Segoe UI"/>
              </a:rPr>
              <a:t>Additional INT8 step: latency −25%; F1 −0.006</a:t>
            </a:r>
          </a:p>
        </p:txBody>
      </p:sp>
    </p:spTree>
    <p:extLst>
      <p:ext uri="{BB962C8B-B14F-4D97-AF65-F5344CB8AC3E}">
        <p14:creationId xmlns:p14="http://schemas.microsoft.com/office/powerpoint/2010/main" val="1633204563"/>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5" name="S05-section">
            <a:extLst xmlns:a="http://schemas.openxmlformats.org/drawingml/2006/main">
              <a:ext uri="{FF2B5EF4-FFF2-40B4-BE49-F238E27FC236}">
                <a16:creationId xmlns:a16="http://schemas.microsoft.com/office/drawing/2014/main" id="{4C19C853-E6B9-461C-9EC7-7EE3FA1203C8}"/>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Segoe UI"/>
                <a:ea typeface="Segoe UI"/>
                <a:cs typeface="Segoe UI"/>
              </a:defRPr>
            </a:pPr>
            <a:r>
              <a:rPr sz="1425" b="0">
                <a:solidFill>
                  <a:srgbClr val="287D78"/>
                </a:solidFill>
                <a:latin typeface="Segoe UI"/>
                <a:ea typeface="Segoe UI"/>
                <a:cs typeface="Segoe UI"/>
              </a:rPr>
              <a:t>NEXT / DEFINE THE ACCEPTABLE TRADE-OFF</a:t>
            </a:r>
          </a:p>
        </p:txBody>
      </p:sp>
      <p:sp>
        <p:nvSpPr>
          <p:cNvPr id="2" name="S05-title">
            <a:extLst xmlns:a="http://schemas.openxmlformats.org/drawingml/2006/main">
              <a:ext uri="{FF2B5EF4-FFF2-40B4-BE49-F238E27FC236}">
                <a16:creationId xmlns:a16="http://schemas.microsoft.com/office/drawing/2014/main" id="{F2634974-6713-4142-9EA7-CE889EB9FAE3}"/>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Segoe UI"/>
                <a:ea typeface="Segoe UI"/>
                <a:cs typeface="Segoe UI"/>
              </a:defRPr>
            </a:pPr>
            <a:r>
              <a:rPr sz="3225" b="0">
                <a:solidFill>
                  <a:srgbClr val="1E302F"/>
                </a:solidFill>
                <a:latin typeface="Segoe UI"/>
                <a:ea typeface="Segoe UI"/>
                <a:cs typeface="Segoe UI"/>
              </a:rPr>
              <a:t>Decide what the trade-off is worth</a:t>
            </a:r>
          </a:p>
        </p:txBody>
      </p:sp>
      <p:sp>
        <p:nvSpPr>
          <p:cNvPr id="3" name="S05-disclosure">
            <a:extLst xmlns:a="http://schemas.openxmlformats.org/drawingml/2006/main">
              <a:ext uri="{FF2B5EF4-FFF2-40B4-BE49-F238E27FC236}">
                <a16:creationId xmlns:a16="http://schemas.microsoft.com/office/drawing/2014/main" id="{BFC2A32B-D2F4-4DD0-AD21-BD9C3F67C5DE}"/>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4" name="S05-number">
            <a:extLst xmlns:a="http://schemas.openxmlformats.org/drawingml/2006/main">
              <a:ext uri="{FF2B5EF4-FFF2-40B4-BE49-F238E27FC236}">
                <a16:creationId xmlns:a16="http://schemas.microsoft.com/office/drawing/2014/main" id="{E378D239-3D97-45CC-8321-8823A487088C}"/>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Segoe UI"/>
                <a:ea typeface="Segoe UI"/>
                <a:cs typeface="Segoe UI"/>
              </a:defRPr>
            </a:pPr>
            <a:r>
              <a:rPr sz="1275" b="0">
                <a:solidFill>
                  <a:srgbClr val="586C68"/>
                </a:solidFill>
                <a:latin typeface="Segoe UI"/>
                <a:ea typeface="Segoe UI"/>
                <a:cs typeface="Segoe UI"/>
              </a:rPr>
              <a:t>05</a:t>
            </a:r>
          </a:p>
        </p:txBody>
      </p:sp>
      <p:sp>
        <p:nvSpPr>
          <p:cNvPr id="5" name="S05-main">
            <a:extLst xmlns:a="http://schemas.openxmlformats.org/drawingml/2006/main">
              <a:ext uri="{FF2B5EF4-FFF2-40B4-BE49-F238E27FC236}">
                <a16:creationId xmlns:a16="http://schemas.microsoft.com/office/drawing/2014/main" id="{27DA5E0A-96B5-4B69-874C-DD0381FCFD63}"/>
              </a:ext>
            </a:extLst>
          </p:cNvPr>
          <p:cNvSpPr>
            <a:spLocks xmlns:a="http://schemas.openxmlformats.org/drawingml/2006/main" noGrp="1"/>
          </p:cNvSpPr>
          <p:nvPr/>
        </p:nvSpPr>
        <p:spPr>
          <a:xfrm xmlns:a="http://schemas.openxmlformats.org/drawingml/2006/main">
            <a:off x="685800" y="199072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675" b="0">
                <a:solidFill>
                  <a:srgbClr val="287D78"/>
                </a:solidFill>
                <a:latin typeface="Segoe UI"/>
                <a:ea typeface="Segoe UI"/>
                <a:cs typeface="Segoe UI"/>
              </a:defRPr>
            </a:pPr>
            <a:r>
              <a:rPr sz="3675" b="0">
                <a:solidFill>
                  <a:srgbClr val="287D78"/>
                </a:solidFill>
                <a:latin typeface="Segoe UI"/>
                <a:ea typeface="Segoe UI"/>
                <a:cs typeface="Segoe UI"/>
              </a:rPr>
              <a:t>Efficiency gains come with lower F1</a:t>
            </a:r>
          </a:p>
        </p:txBody>
      </p:sp>
      <p:sp>
        <p:nvSpPr>
          <p:cNvPr id="6" name="S05-rule-1">
            <a:extLst xmlns:a="http://schemas.openxmlformats.org/drawingml/2006/main">
              <a:ext uri="{FF2B5EF4-FFF2-40B4-BE49-F238E27FC236}">
                <a16:creationId xmlns:a16="http://schemas.microsoft.com/office/drawing/2014/main" id="{9CB55CD0-84B1-438B-8667-050BCC257CC1}"/>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ln xmlns:a="http://schemas.openxmlformats.org/drawingml/2006/main" w="9525">
            <a:solidFill>
              <a:srgbClr val="CFD8D1"/>
            </a:solidFill>
          </a:ln>
        </p:spPr>
      </p:sp>
      <p:sp>
        <p:nvSpPr>
          <p:cNvPr id="7" name="S05-label1">
            <a:extLst xmlns:a="http://schemas.openxmlformats.org/drawingml/2006/main">
              <a:ext uri="{FF2B5EF4-FFF2-40B4-BE49-F238E27FC236}">
                <a16:creationId xmlns:a16="http://schemas.microsoft.com/office/drawing/2014/main" id="{19CB2F7F-7D59-40B3-A705-65074EECCE48}"/>
              </a:ext>
            </a:extLst>
          </p:cNvPr>
          <p:cNvSpPr>
            <a:spLocks xmlns:a="http://schemas.openxmlformats.org/drawingml/2006/main" noGrp="1"/>
          </p:cNvSpPr>
          <p:nvPr/>
        </p:nvSpPr>
        <p:spPr>
          <a:xfrm xmlns:a="http://schemas.openxmlformats.org/drawingml/2006/main">
            <a:off x="685800" y="32575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E302F"/>
                </a:solidFill>
                <a:latin typeface="Segoe UI"/>
                <a:ea typeface="Segoe UI"/>
                <a:cs typeface="Segoe UI"/>
              </a:defRPr>
            </a:pPr>
            <a:r>
              <a:rPr sz="1875" b="0">
                <a:solidFill>
                  <a:srgbClr val="1E302F"/>
                </a:solidFill>
                <a:latin typeface="Segoe UI"/>
                <a:ea typeface="Segoe UI"/>
                <a:cs typeface="Segoe UI"/>
              </a:rPr>
              <a:t>Set the threshold</a:t>
            </a:r>
          </a:p>
        </p:txBody>
      </p:sp>
      <p:sp>
        <p:nvSpPr>
          <p:cNvPr id="8" name="S05-body1">
            <a:extLst xmlns:a="http://schemas.openxmlformats.org/drawingml/2006/main">
              <a:ext uri="{FF2B5EF4-FFF2-40B4-BE49-F238E27FC236}">
                <a16:creationId xmlns:a16="http://schemas.microsoft.com/office/drawing/2014/main" id="{F8D4A716-829E-445A-8D85-F1F389B2925B}"/>
              </a:ext>
            </a:extLst>
          </p:cNvPr>
          <p:cNvSpPr>
            <a:spLocks xmlns:a="http://schemas.openxmlformats.org/drawingml/2006/main" noGrp="1"/>
          </p:cNvSpPr>
          <p:nvPr/>
        </p:nvSpPr>
        <p:spPr>
          <a:xfrm xmlns:a="http://schemas.openxmlformats.org/drawingml/2006/main">
            <a:off x="3829050" y="32575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Acceptable F1 loss and latency budget.</a:t>
            </a:r>
          </a:p>
        </p:txBody>
      </p:sp>
      <p:sp>
        <p:nvSpPr>
          <p:cNvPr id="9" name="S05-rule-2">
            <a:extLst xmlns:a="http://schemas.openxmlformats.org/drawingml/2006/main">
              <a:ext uri="{FF2B5EF4-FFF2-40B4-BE49-F238E27FC236}">
                <a16:creationId xmlns:a16="http://schemas.microsoft.com/office/drawing/2014/main" id="{4E24EA9A-26E7-41E2-B062-7FEBDD63D46C}"/>
              </a:ext>
            </a:extLst>
          </p:cNvPr>
          <p:cNvSpPr>
            <a:spLocks xmlns:a="http://schemas.openxmlformats.org/drawingml/2006/main" noGrp="1"/>
          </p:cNvSpPr>
          <p:nvPr/>
        </p:nvSpPr>
        <p:spPr>
          <a:xfrm xmlns:a="http://schemas.openxmlformats.org/drawingml/2006/main">
            <a:off x="685800" y="3962400"/>
            <a:ext cx="10820400" cy="0"/>
          </a:xfrm>
          <a:prstGeom xmlns:a="http://schemas.openxmlformats.org/drawingml/2006/main" prst="line">
            <a:avLst/>
          </a:prstGeom>
          <a:ln xmlns:a="http://schemas.openxmlformats.org/drawingml/2006/main" w="9525">
            <a:solidFill>
              <a:srgbClr val="CFD8D1"/>
            </a:solidFill>
          </a:ln>
        </p:spPr>
      </p:sp>
      <p:sp>
        <p:nvSpPr>
          <p:cNvPr id="10" name="S05-label2">
            <a:extLst xmlns:a="http://schemas.openxmlformats.org/drawingml/2006/main">
              <a:ext uri="{FF2B5EF4-FFF2-40B4-BE49-F238E27FC236}">
                <a16:creationId xmlns:a16="http://schemas.microsoft.com/office/drawing/2014/main" id="{BF8C2591-9A1E-4116-AF1A-A960257A7944}"/>
              </a:ext>
            </a:extLst>
          </p:cNvPr>
          <p:cNvSpPr>
            <a:spLocks xmlns:a="http://schemas.openxmlformats.org/drawingml/2006/main" noGrp="1"/>
          </p:cNvSpPr>
          <p:nvPr/>
        </p:nvSpPr>
        <p:spPr>
          <a:xfrm xmlns:a="http://schemas.openxmlformats.org/drawingml/2006/main">
            <a:off x="685800" y="40957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E302F"/>
                </a:solidFill>
                <a:latin typeface="Segoe UI"/>
                <a:ea typeface="Segoe UI"/>
                <a:cs typeface="Segoe UI"/>
              </a:defRPr>
            </a:pPr>
            <a:r>
              <a:rPr sz="1875" b="0">
                <a:solidFill>
                  <a:srgbClr val="1E302F"/>
                </a:solidFill>
                <a:latin typeface="Segoe UI"/>
                <a:ea typeface="Segoe UI"/>
                <a:cs typeface="Segoe UI"/>
              </a:rPr>
              <a:t>Test the behavior</a:t>
            </a:r>
          </a:p>
        </p:txBody>
      </p:sp>
      <p:sp>
        <p:nvSpPr>
          <p:cNvPr id="11" name="S05-body2">
            <a:extLst xmlns:a="http://schemas.openxmlformats.org/drawingml/2006/main">
              <a:ext uri="{FF2B5EF4-FFF2-40B4-BE49-F238E27FC236}">
                <a16:creationId xmlns:a16="http://schemas.microsoft.com/office/drawing/2014/main" id="{9C0232FA-8F00-40F2-8497-E1B643158554}"/>
              </a:ext>
            </a:extLst>
          </p:cNvPr>
          <p:cNvSpPr>
            <a:spLocks xmlns:a="http://schemas.openxmlformats.org/drawingml/2006/main" noGrp="1"/>
          </p:cNvSpPr>
          <p:nvPr/>
        </p:nvSpPr>
        <p:spPr>
          <a:xfrm xmlns:a="http://schemas.openxmlformats.org/drawingml/2006/main">
            <a:off x="3829050" y="40957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Repeat measurements; inspect failures by anomaly type.</a:t>
            </a:r>
          </a:p>
        </p:txBody>
      </p:sp>
      <p:sp>
        <p:nvSpPr>
          <p:cNvPr id="12" name="S05-rule-3">
            <a:extLst xmlns:a="http://schemas.openxmlformats.org/drawingml/2006/main">
              <a:ext uri="{FF2B5EF4-FFF2-40B4-BE49-F238E27FC236}">
                <a16:creationId xmlns:a16="http://schemas.microsoft.com/office/drawing/2014/main" id="{13263353-6662-4892-8755-BB00AE96FC9F}"/>
              </a:ext>
            </a:extLst>
          </p:cNvPr>
          <p:cNvSpPr>
            <a:spLocks xmlns:a="http://schemas.openxmlformats.org/drawingml/2006/main" noGrp="1"/>
          </p:cNvSpPr>
          <p:nvPr/>
        </p:nvSpPr>
        <p:spPr>
          <a:xfrm xmlns:a="http://schemas.openxmlformats.org/drawingml/2006/main">
            <a:off x="685800" y="4800600"/>
            <a:ext cx="10820400" cy="0"/>
          </a:xfrm>
          <a:prstGeom xmlns:a="http://schemas.openxmlformats.org/drawingml/2006/main" prst="line">
            <a:avLst/>
          </a:prstGeom>
          <a:ln xmlns:a="http://schemas.openxmlformats.org/drawingml/2006/main" w="9525">
            <a:solidFill>
              <a:srgbClr val="CFD8D1"/>
            </a:solidFill>
          </a:ln>
        </p:spPr>
      </p:sp>
      <p:sp>
        <p:nvSpPr>
          <p:cNvPr id="13" name="S05-label3">
            <a:extLst xmlns:a="http://schemas.openxmlformats.org/drawingml/2006/main">
              <a:ext uri="{FF2B5EF4-FFF2-40B4-BE49-F238E27FC236}">
                <a16:creationId xmlns:a16="http://schemas.microsoft.com/office/drawing/2014/main" id="{48C5EE6A-6070-41C2-A5A8-A34B86D65264}"/>
              </a:ext>
            </a:extLst>
          </p:cNvPr>
          <p:cNvSpPr>
            <a:spLocks xmlns:a="http://schemas.openxmlformats.org/drawingml/2006/main" noGrp="1"/>
          </p:cNvSpPr>
          <p:nvPr/>
        </p:nvSpPr>
        <p:spPr>
          <a:xfrm xmlns:a="http://schemas.openxmlformats.org/drawingml/2006/main">
            <a:off x="685800" y="49339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E302F"/>
                </a:solidFill>
                <a:latin typeface="Segoe UI"/>
                <a:ea typeface="Segoe UI"/>
                <a:cs typeface="Segoe UI"/>
              </a:defRPr>
            </a:pPr>
            <a:r>
              <a:rPr sz="1875" b="0">
                <a:solidFill>
                  <a:srgbClr val="1E302F"/>
                </a:solidFill>
                <a:latin typeface="Segoe UI"/>
                <a:ea typeface="Segoe UI"/>
                <a:cs typeface="Segoe UI"/>
              </a:rPr>
              <a:t>Keep the limit visible</a:t>
            </a:r>
          </a:p>
        </p:txBody>
      </p:sp>
      <p:sp>
        <p:nvSpPr>
          <p:cNvPr id="14" name="S05-body3">
            <a:extLst xmlns:a="http://schemas.openxmlformats.org/drawingml/2006/main">
              <a:ext uri="{FF2B5EF4-FFF2-40B4-BE49-F238E27FC236}">
                <a16:creationId xmlns:a16="http://schemas.microsoft.com/office/drawing/2014/main" id="{CFB01367-3082-43F8-8DD6-04D660FEE560}"/>
              </a:ext>
            </a:extLst>
          </p:cNvPr>
          <p:cNvSpPr>
            <a:spLocks xmlns:a="http://schemas.openxmlformats.org/drawingml/2006/main" noGrp="1"/>
          </p:cNvSpPr>
          <p:nvPr/>
        </p:nvSpPr>
        <p:spPr>
          <a:xfrm xmlns:a="http://schemas.openxmlformats.org/drawingml/2006/main">
            <a:off x="3829050" y="49339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Segoe UI"/>
                <a:ea typeface="Segoe UI"/>
                <a:cs typeface="Segoe UI"/>
              </a:defRPr>
            </a:pPr>
            <a:r>
              <a:rPr sz="1800" b="0">
                <a:solidFill>
                  <a:srgbClr val="586C68"/>
                </a:solidFill>
                <a:latin typeface="Segoe UI"/>
                <a:ea typeface="Segoe UI"/>
                <a:cs typeface="Segoe UI"/>
              </a:rPr>
              <a:t>No real dataset or sample count: no generalization claim.</a:t>
            </a:r>
          </a:p>
        </p:txBody>
      </p:sp>
    </p:spTree>
    <p:extLst>
      <p:ext uri="{BB962C8B-B14F-4D97-AF65-F5344CB8AC3E}">
        <p14:creationId xmlns:p14="http://schemas.microsoft.com/office/powerpoint/2010/main" val="13593244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Walnut Exporter</dc:creator>
  <dc:title>Presentation</dc:title>
  <ns2:created xsi:type="dcterms:W3CDTF">2026-10-02T07:08:55.9010000Z</ns2:created>
  <ns2:modified xsi:type="dcterms:W3CDTF">2026-10-02T07:08:55.9010000Z</ns2:modified>
</ns0:coreProperties>
</file>