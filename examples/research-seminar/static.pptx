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f771ce558f14694" /><Relationship Type="http://schemas.openxmlformats.org/officeDocument/2006/relationships/extended-properties" Target="/docProps/app.xml" Id="Rd06850dca9a1464a" /><Relationship Type="http://schemas.openxmlformats.org/officeDocument/2006/relationships/officeDocument" Target="/ppt/presentation.xml" Id="Rfa4f032c09794f1f" /></Relationships>
</file>

<file path=ppt/presentation.xml><?xml version="1.0" encoding="utf-8"?>
<p:presentation xmlns:p="http://schemas.openxmlformats.org/presentationml/2006/main">
  <p:sldMasterIdLst>
    <p:sldMasterId xmlns:r="http://schemas.openxmlformats.org/officeDocument/2006/relationships" id="2147483648" r:id="R736c0fcb0cc049a6"/>
  </p:sldMasterIdLst>
  <p:notesMasterIdLst>
    <p:notesMasterId xmlns:r="http://schemas.openxmlformats.org/officeDocument/2006/relationships" r:id="R6965ec197ab74d6d"/>
  </p:notesMasterIdLst>
  <p:sldIdLst>
    <p:sldId xmlns:r="http://schemas.openxmlformats.org/officeDocument/2006/relationships" id="256" r:id="R234e294416714b73"/>
    <p:sldId xmlns:r="http://schemas.openxmlformats.org/officeDocument/2006/relationships" id="257" r:id="R519b25595680473c"/>
    <p:sldId xmlns:r="http://schemas.openxmlformats.org/officeDocument/2006/relationships" id="258" r:id="Re03a05b388a842fe"/>
    <p:sldId xmlns:r="http://schemas.openxmlformats.org/officeDocument/2006/relationships" id="259" r:id="R9ba5a81473874967"/>
    <p:sldId xmlns:r="http://schemas.openxmlformats.org/officeDocument/2006/relationships" id="260" r:id="R6b2f8a72948943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b5c73fd8d640eb" /><Relationship Type="http://schemas.openxmlformats.org/officeDocument/2006/relationships/slideMaster" Target="/ppt/slideMasters/slideMaster1.xml" Id="R736c0fcb0cc049a6" /><Relationship Type="http://schemas.openxmlformats.org/officeDocument/2006/relationships/notesMaster" Target="/ppt/notesMasters/notesMaster1.xml" Id="R6965ec197ab74d6d" /><Relationship Type="http://schemas.openxmlformats.org/officeDocument/2006/relationships/presProps" Target="/ppt/presProps.xml" Id="Rca6747f41d334c01" /><Relationship Type="http://schemas.openxmlformats.org/officeDocument/2006/relationships/tableStyles" Target="/ppt/tableStyles.xml" Id="R3470d82264504d45" /><Relationship Type="http://schemas.openxmlformats.org/officeDocument/2006/relationships/slide" Target="/ppt/slides/slide1.xml" Id="R234e294416714b73" /><Relationship Type="http://schemas.openxmlformats.org/officeDocument/2006/relationships/slide" Target="/ppt/slides/slide2.xml" Id="R519b25595680473c" /><Relationship Type="http://schemas.openxmlformats.org/officeDocument/2006/relationships/slide" Target="/ppt/slides/slide3.xml" Id="Re03a05b388a842fe" /><Relationship Type="http://schemas.openxmlformats.org/officeDocument/2006/relationships/slide" Target="/ppt/slides/slide4.xml" Id="R9ba5a81473874967" /><Relationship Type="http://schemas.openxmlformats.org/officeDocument/2006/relationships/slide" Target="/ppt/slides/slide5.xml" Id="R6b2f8a72948943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a3d3c78ff544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227cab7e44954" /><Relationship Type="http://schemas.openxmlformats.org/officeDocument/2006/relationships/notesMaster" Target="/ppt/notesMasters/notesMaster1.xml" Id="Ra416460cb16049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f6df7e457e42fc" /><Relationship Type="http://schemas.openxmlformats.org/officeDocument/2006/relationships/notesMaster" Target="/ppt/notesMasters/notesMaster1.xml" Id="R1656fd8a411943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1f8cd7cb6d47e8" /><Relationship Type="http://schemas.openxmlformats.org/officeDocument/2006/relationships/notesMaster" Target="/ppt/notesMasters/notesMaster1.xml" Id="R2d333e9d16ca45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c424003cd4a40" /><Relationship Type="http://schemas.openxmlformats.org/officeDocument/2006/relationships/notesMaster" Target="/ppt/notesMasters/notesMaster1.xml" Id="R97c902207b9e4e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4eee8bd2084f71" /><Relationship Type="http://schemas.openxmlformats.org/officeDocument/2006/relationships/notesMaster" Target="/ppt/notesMasters/notesMaster1.xml" Id="R609ceef26a05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examine model compression for sensor anomaly detection and compare baseline with INT8 latency, F1 and model size. All values are fictional user-supplied examples, not empirical findings. A common device and dataset are assumed but unspecified. No acceptable accuracy-loss threshold is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teacher provides prediction knowledge for learning a smaller student; INT8 represents student numbers using 8-bit integers. Architecture, loss, quantization scope, and PTQ versus QAT are unspecified. Do not assume preservation of all teacher knowledge or claim a particular implementation. Concept sources: Hinton et al. (2015), https://arxiv.org/abs/1503.02531 ; Jacob et al. (2017), https://arxiv.org/abs/1712.05877 . No empirical results were taken from those 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values: baseline 120 ms / F1 0.910 / 48 MB; distilled 72 ms / 0.902 / 18 MB; int8 54 ms / 0.896 / 12 MB. The same device and data are assumed. Sample count, variance, dataset, split, device specifications, latency statistic, and F1 aggregation are unspecified. These are arithmetic comparisons, not evidence of statistical significance or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latency reduction (120−54)/120 = 55%; size reduction (48−12)/48 = 75%; F1 absolute difference 0.896−0.910 = −0.014. Distillation latency reduction (120−72)/120 = 40%, F1 difference −0.008. Additional INT8 latency reduction (72−54)/72 = 25%, F1 difference −0.006. Do not add 40% and 25% because their denominators differ. No statistical inference is possible from the fictional summaries.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fictional values illustrate an efficiency–F1 trade-off. They do not select a universally best model. Define the acceptable loss in F1 and the latency budget for the intended environment. Repeat measurements on actual data, estimate variation, and inspect failures by anomaly type. No real dataset or sample count was supplied, so no generalization claim is justified.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ae093373f4e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8f6c32cc4e4c2f" /><Relationship Type="http://schemas.openxmlformats.org/officeDocument/2006/relationships/slideLayout" Target="/ppt/slideLayouts/slideLayout1.xml" Id="Rb82930f73c2248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2930f73c2248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6cf339104648ad" /><Relationship Type="http://schemas.openxmlformats.org/officeDocument/2006/relationships/notesSlide" Target="/ppt/notesSlides/notesSlide1.xml" Id="R269d363a26c243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99db1d838742a2" /><Relationship Type="http://schemas.openxmlformats.org/officeDocument/2006/relationships/notesSlide" Target="/ppt/notesSlides/notesSlide2.xml" Id="Raaaca22f2415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46f2309363433e" /><Relationship Type="http://schemas.openxmlformats.org/officeDocument/2006/relationships/notesSlide" Target="/ppt/notesSlides/notesSlide3.xml" Id="R47a84feb30994b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7ab9c6a3504901" /><Relationship Type="http://schemas.openxmlformats.org/officeDocument/2006/relationships/chart" Target="/ppt/slides/charts/chart1.xml" Id="R9fadcdf7ecae4f1c" /><Relationship Type="http://schemas.openxmlformats.org/officeDocument/2006/relationships/notesSlide" Target="/ppt/notesSlides/notesSlide4.xml" Id="Rf4aefae29c8043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34a01510984f7c" /><Relationship Type="http://schemas.openxmlformats.org/officeDocument/2006/relationships/notesSlide" Target="/ppt/notesSlides/notesSlide5.xml" Id="R9d11b1d05a674f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Models</c:v>
          </c:tx>
          <c:spPr>
            <a:solidFill xmlns:a="http://schemas.openxmlformats.org/drawingml/2006/main">
              <a:srgbClr val="287D78"/>
            </a:solidFill>
            <a:ln xmlns:a="http://schemas.openxmlformats.org/drawingml/2006/main" w="0">
              <a:noFill/>
            </a:ln>
          </c:spPr>
          <c:marker>
            <c:symbol val="circle"/>
            <c:size val="10"/>
            <c:spPr>
              <ns0:solidFill xmlns:ns0="http://schemas.openxmlformats.org/drawingml/2006/main">
                <ns0:srgbClr val="287D78"/>
              </ns0:solidFill>
              <ns1:ln xmlns:ns1="http://schemas.openxmlformats.org/drawingml/2006/main">
                <ns1:noFill/>
              </ns1:ln>
            </c:spPr>
          </c:marker>
          <c:dLbls>
            <c:dLbl>
              <c:idx val="0"/>
              <c:tx>
                <c:rich>
                  <a:bodyPr xmlns:a="http://schemas.openxmlformats.org/drawingml/2006/main"/>
                  <a:lstStyle xmlns:a="http://schemas.openxmlformats.org/drawingml/2006/main"/>
                  <a:p xmlns:a="http://schemas.openxmlformats.org/drawingml/2006/main">
                    <a:r>
                      <a:rPr sz="1800">
                        <a:solidFill>
                          <a:srgbClr val="1E302F"/>
                        </a:solidFill>
                        <a:latin typeface="Segoe UI"/>
                        <a:ea typeface="Segoe UI"/>
                        <a:cs typeface="Segoe UI"/>
                      </a:rPr>
                      <a:t>baseline</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Segoe UI"/>
                      <a:ea typeface="Segoe UI"/>
                      <a:cs typeface="Segoe UI"/>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solidFill>
                          <a:srgbClr val="1E302F"/>
                        </a:solidFill>
                        <a:latin typeface="Segoe UI"/>
                        <a:ea typeface="Segoe UI"/>
                        <a:cs typeface="Segoe UI"/>
                      </a:rPr>
                      <a:t>distilled</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Segoe UI"/>
                      <a:ea typeface="Segoe UI"/>
                      <a:cs typeface="Segoe UI"/>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solidFill>
                          <a:srgbClr val="1E302F"/>
                        </a:solidFill>
                        <a:latin typeface="Segoe UI"/>
                        <a:ea typeface="Segoe UI"/>
                        <a:cs typeface="Segoe UI"/>
                      </a:rPr>
                      <a:t>int8</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Segoe UI"/>
                      <a:ea typeface="Segoe UI"/>
                      <a:cs typeface="Segoe UI"/>
                    </a:defRPr>
                  </a:pPr>
                </a:p>
              </c:txPr>
              <c:showLegendKey val="0"/>
              <c:showVal val="0"/>
              <c:showCatName val="0"/>
              <c:showSerName val="0"/>
              <c:showPercent val="0"/>
              <c:showBubbleSize val="0"/>
            </c:dLbl>
          </c:dLbls>
          <c:xVal>
            <c:numRef>
              <c:f>'Chart Data'!$A$2:$A$4</c:f>
              <c:numCache>
                <c:formatCode>General</c:formatCode>
                <c:ptCount val="3"/>
                <c:pt idx="0">
                  <c:v>120</c:v>
                </c:pt>
                <c:pt idx="1">
                  <c:v>72</c:v>
                </c:pt>
                <c:pt idx="2">
                  <c:v>54</c:v>
                </c:pt>
              </c:numCache>
            </c:numRef>
          </c:xVal>
          <c:yVal>
            <c:numRef>
              <c:f>'Chart Data'!$B$2:$B$4</c:f>
              <c:numCache>
                <c:formatCode>0.000</c:formatCode>
                <c:ptCount val="3"/>
                <c:pt idx="0">
                  <c:v>0.91</c:v>
                </c:pt>
                <c:pt idx="1">
                  <c:v>0.902</c:v>
                </c:pt>
                <c:pt idx="2">
                  <c:v>0.896</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E302F"/>
                  </a:solidFill>
                  <a:latin typeface="Segoe UI"/>
                  <a:ea typeface="Segoe UI"/>
                  <a:cs typeface="Segoe UI"/>
                </a:defRPr>
              </a:pPr>
            </a:p>
          </c:txPr>
          <c:showLegendKey val="0"/>
          <c:showVal val="0"/>
          <c:showCatName val="0"/>
          <c:showSerName val="0"/>
          <c:showPercent val="0"/>
          <c:showBubbleSize val="0"/>
          <c:showLeaderLines val="0"/>
        </c:dLbls>
        <c:axId val="48650112"/>
        <c:axId val="48672768"/>
      </c:scatterChart>
      <c:valAx>
        <c:axId val="48672768"/>
        <c:scaling>
          <c:orientation val="minMax"/>
          <c:max val="0.915"/>
          <c:min val="0.89"/>
        </c:scaling>
        <c:delete val="0"/>
        <c:axPos val="l"/>
        <c:majorGridlines>
          <c:spPr>
            <a:ln xmlns:a="http://schemas.openxmlformats.org/drawingml/2006/main" w="6668">
              <a:solidFill>
                <a:srgbClr val="CFD8D1"/>
              </a:solidFill>
            </a:ln>
          </c:spPr>
        </c:majorGridlines>
        <c:numFmt formatCode="0.000"/>
        <c:majorTickMark val="none"/>
        <c:minorTickMark val="none"/>
        <c:spPr>
          <a:ln xmlns:a="http://schemas.openxmlformats.org/drawingml/2006/main" w="9525">
            <a:solidFill>
              <a:srgbClr val="CFD8D1"/>
            </a:solidFill>
          </a:ln>
        </c:spPr>
        <c:txPr>
          <a:bodyPr xmlns:a="http://schemas.openxmlformats.org/drawingml/2006/main" anchorCtr="1"/>
          <a:lstStyle xmlns:a="http://schemas.openxmlformats.org/drawingml/2006/main"/>
          <a:p xmlns:a="http://schemas.openxmlformats.org/drawingml/2006/main">
            <a:pPr>
              <a:defRPr sz="1725">
                <a:solidFill>
                  <a:srgbClr val="1E302F"/>
                </a:solidFill>
                <a:latin typeface="Segoe UI"/>
                <a:ea typeface="Segoe UI"/>
                <a:cs typeface="Segoe UI"/>
              </a:defRPr>
            </a:pPr>
          </a:p>
        </c:txPr>
        <c:crossAx val="48650112"/>
        <c:majorUnit val="0.005"/>
      </c:valAx>
      <c:valAx>
        <c:axId val="48650112"/>
        <c:scaling>
          <c:orientation val="minMax"/>
          <c:max val="140"/>
          <c:min val="40"/>
        </c:scaling>
        <c:delete val="0"/>
        <c:axPos val="b"/>
        <c:numFmt formatCode="0"/>
        <c:majorTickMark val="none"/>
        <c:minorTickMark val="none"/>
        <c:spPr>
          <a:ln xmlns:a="http://schemas.openxmlformats.org/drawingml/2006/main" w="9525">
            <a:solidFill>
              <a:srgbClr val="CFD8D1"/>
            </a:solidFill>
          </a:ln>
        </c:spPr>
        <c:txPr>
          <a:bodyPr xmlns:a="http://schemas.openxmlformats.org/drawingml/2006/main" anchorCtr="1"/>
          <a:lstStyle xmlns:a="http://schemas.openxmlformats.org/drawingml/2006/main"/>
          <a:p xmlns:a="http://schemas.openxmlformats.org/drawingml/2006/main">
            <a:pPr>
              <a:defRPr sz="1725">
                <a:solidFill>
                  <a:srgbClr val="1E302F"/>
                </a:solidFill>
                <a:latin typeface="Segoe UI"/>
                <a:ea typeface="Segoe UI"/>
                <a:cs typeface="Segoe UI"/>
              </a:defRPr>
            </a:pPr>
          </a:p>
        </c:txPr>
        <c:crossAx val="48672768"/>
        <c:majorUnit val="20"/>
      </c:valAx>
      <c:spPr>
        <a:solidFill xmlns:a="http://schemas.openxmlformats.org/drawingml/2006/main">
          <a:srgbClr val="F6F4EE"/>
        </a:solidFill>
      </c:spPr>
    </c:plotArea>
    <c:plotVisOnly val="1"/>
  </c:chart>
  <c:spPr>
    <a:solidFill xmlns:a="http://schemas.openxmlformats.org/drawingml/2006/main">
      <a:srgbClr val="F6F4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0" name="S01-subject-field">
            <a:extLst xmlns:a="http://schemas.openxmlformats.org/drawingml/2006/main">
              <a:ext uri="{FF2B5EF4-FFF2-40B4-BE49-F238E27FC236}">
                <a16:creationId xmlns:a16="http://schemas.microsoft.com/office/drawing/2014/main" id="{6737AA12-7A0A-4B3F-B56B-AF331F72F84B}"/>
              </a:ext>
            </a:extLst>
          </p:cNvPr>
          <p:cNvSpPr>
            <a:spLocks xmlns:a="http://schemas.openxmlformats.org/drawingml/2006/main" noGrp="1"/>
          </p:cNvSpPr>
          <p:nvPr/>
        </p:nvSpPr>
        <p:spPr>
          <a:xfrm xmlns:a="http://schemas.openxmlformats.org/drawingml/2006/main">
            <a:off x="0" y="0"/>
            <a:ext cx="5638800" cy="6858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2" name="S01-title">
            <a:extLst xmlns:a="http://schemas.openxmlformats.org/drawingml/2006/main">
              <a:ext uri="{FF2B5EF4-FFF2-40B4-BE49-F238E27FC236}">
                <a16:creationId xmlns:a16="http://schemas.microsoft.com/office/drawing/2014/main" id="{0C9F25F4-DAAA-4730-875E-904C613FE82F}"/>
              </a:ext>
            </a:extLst>
          </p:cNvPr>
          <p:cNvSpPr>
            <a:spLocks xmlns:a="http://schemas.openxmlformats.org/drawingml/2006/main" noGrp="1"/>
          </p:cNvSpPr>
          <p:nvPr/>
        </p:nvSpPr>
        <p:spPr>
          <a:xfrm xmlns:a="http://schemas.openxmlformats.org/drawingml/2006/main">
            <a:off x="609600" y="1266825"/>
            <a:ext cx="45529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900" b="0">
                <a:solidFill>
                  <a:srgbClr val="FFFFFF"/>
                </a:solidFill>
                <a:latin typeface="Segoe UI"/>
                <a:ea typeface="Segoe UI"/>
                <a:cs typeface="Segoe UI"/>
              </a:defRPr>
            </a:pPr>
            <a:r>
              <a:rPr sz="3900" b="0">
                <a:solidFill>
                  <a:srgbClr val="FFFFFF"/>
                </a:solidFill>
                <a:latin typeface="Segoe UI"/>
                <a:ea typeface="Segoe UI"/>
                <a:cs typeface="Segoe UI"/>
              </a:rPr>
              <a:t>Sensor anomaly</a:t>
            </a:r>
          </a:p>
          <a:p xmlns:a="http://schemas.openxmlformats.org/drawingml/2006/main">
            <a:pPr>
              <a:defRPr sz="3900" b="0">
                <a:solidFill>
                  <a:srgbClr val="FFFFFF"/>
                </a:solidFill>
                <a:latin typeface="Segoe UI"/>
                <a:ea typeface="Segoe UI"/>
                <a:cs typeface="Segoe UI"/>
              </a:defRPr>
            </a:pPr>
            <a:r>
              <a:rPr sz="3900" b="0">
                <a:solidFill>
                  <a:srgbClr val="FFFFFF"/>
                </a:solidFill>
                <a:latin typeface="Segoe UI"/>
                <a:ea typeface="Segoe UI"/>
                <a:cs typeface="Segoe UI"/>
              </a:rPr>
              <a:t>detection with</a:t>
            </a:r>
          </a:p>
          <a:p xmlns:a="http://schemas.openxmlformats.org/drawingml/2006/main">
            <a:pPr>
              <a:defRPr sz="3900" b="0">
                <a:solidFill>
                  <a:srgbClr val="FFFFFF"/>
                </a:solidFill>
                <a:latin typeface="Segoe UI"/>
                <a:ea typeface="Segoe UI"/>
                <a:cs typeface="Segoe UI"/>
              </a:defRPr>
            </a:pPr>
            <a:r>
              <a:rPr sz="3900" b="0">
                <a:solidFill>
                  <a:srgbClr val="FFFFFF"/>
                </a:solidFill>
                <a:latin typeface="Segoe UI"/>
                <a:ea typeface="Segoe UI"/>
                <a:cs typeface="Segoe UI"/>
              </a:rPr>
              <a:t>smaller models</a:t>
            </a:r>
          </a:p>
        </p:txBody>
      </p:sp>
      <p:sp>
        <p:nvSpPr>
          <p:cNvPr id="3" name="S01-subtitle">
            <a:extLst xmlns:a="http://schemas.openxmlformats.org/drawingml/2006/main">
              <a:ext uri="{FF2B5EF4-FFF2-40B4-BE49-F238E27FC236}">
                <a16:creationId xmlns:a16="http://schemas.microsoft.com/office/drawing/2014/main" id="{6103CC81-40F6-43C7-885B-572D7F7578F1}"/>
              </a:ext>
            </a:extLst>
          </p:cNvPr>
          <p:cNvSpPr>
            <a:spLocks xmlns:a="http://schemas.openxmlformats.org/drawingml/2006/main" noGrp="1"/>
          </p:cNvSpPr>
          <p:nvPr/>
        </p:nvSpPr>
        <p:spPr>
          <a:xfrm xmlns:a="http://schemas.openxmlformats.org/drawingml/2006/main">
            <a:off x="609600" y="3933825"/>
            <a:ext cx="4381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75" b="0">
                <a:solidFill>
                  <a:srgbClr val="B9DDD0"/>
                </a:solidFill>
                <a:latin typeface="Segoe UI"/>
                <a:ea typeface="Segoe UI"/>
                <a:cs typeface="Segoe UI"/>
              </a:defRPr>
            </a:pPr>
            <a:r>
              <a:rPr sz="2175" b="0">
                <a:solidFill>
                  <a:srgbClr val="B9DDD0"/>
                </a:solidFill>
                <a:latin typeface="Segoe UI"/>
                <a:ea typeface="Segoe UI"/>
                <a:cs typeface="Segoe UI"/>
              </a:rPr>
              <a:t>Knowledge distillation</a:t>
            </a:r>
          </a:p>
          <a:p xmlns:a="http://schemas.openxmlformats.org/drawingml/2006/main">
            <a:pPr>
              <a:defRPr sz="2175" b="0">
                <a:solidFill>
                  <a:srgbClr val="B9DDD0"/>
                </a:solidFill>
                <a:latin typeface="Segoe UI"/>
                <a:ea typeface="Segoe UI"/>
                <a:cs typeface="Segoe UI"/>
              </a:defRPr>
            </a:pPr>
            <a:r>
              <a:rPr sz="2175" b="0">
                <a:solidFill>
                  <a:srgbClr val="B9DDD0"/>
                </a:solidFill>
                <a:latin typeface="Segoe UI"/>
                <a:ea typeface="Segoe UI"/>
                <a:cs typeface="Segoe UI"/>
              </a:rPr>
              <a:t>and INT8 quantization</a:t>
            </a:r>
          </a:p>
        </p:txBody>
      </p:sp>
      <p:sp>
        <p:nvSpPr>
          <p:cNvPr id="4" name="S01-comparison">
            <a:extLst xmlns:a="http://schemas.openxmlformats.org/drawingml/2006/main">
              <a:ext uri="{FF2B5EF4-FFF2-40B4-BE49-F238E27FC236}">
                <a16:creationId xmlns:a16="http://schemas.microsoft.com/office/drawing/2014/main" id="{D0FD71D8-BFD1-4ACF-A99B-6FD94B12D908}"/>
              </a:ext>
            </a:extLst>
          </p:cNvPr>
          <p:cNvSpPr>
            <a:spLocks xmlns:a="http://schemas.openxmlformats.org/drawingml/2006/main" noGrp="1"/>
          </p:cNvSpPr>
          <p:nvPr/>
        </p:nvSpPr>
        <p:spPr>
          <a:xfrm xmlns:a="http://schemas.openxmlformats.org/drawingml/2006/main">
            <a:off x="6210300" y="1009650"/>
            <a:ext cx="535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000" b="0">
                <a:solidFill>
                  <a:srgbClr val="1E302F"/>
                </a:solidFill>
                <a:latin typeface="Segoe UI"/>
                <a:ea typeface="Segoe UI"/>
                <a:cs typeface="Segoe UI"/>
              </a:defRPr>
            </a:pPr>
            <a:r>
              <a:rPr sz="3000" b="0">
                <a:solidFill>
                  <a:srgbClr val="1E302F"/>
                </a:solidFill>
                <a:latin typeface="Segoe UI"/>
                <a:ea typeface="Segoe UI"/>
                <a:cs typeface="Segoe UI"/>
              </a:rPr>
              <a:t>The compression trade-off</a:t>
            </a:r>
          </a:p>
        </p:txBody>
      </p:sp>
      <p:sp>
        <p:nvSpPr>
          <p:cNvPr id="5" name="S01-baseline">
            <a:extLst xmlns:a="http://schemas.openxmlformats.org/drawingml/2006/main">
              <a:ext uri="{FF2B5EF4-FFF2-40B4-BE49-F238E27FC236}">
                <a16:creationId xmlns:a16="http://schemas.microsoft.com/office/drawing/2014/main" id="{8B099AB0-BAEF-4D02-9388-32A0C80324A1}"/>
              </a:ext>
            </a:extLst>
          </p:cNvPr>
          <p:cNvSpPr>
            <a:spLocks xmlns:a="http://schemas.openxmlformats.org/drawingml/2006/main" noGrp="1"/>
          </p:cNvSpPr>
          <p:nvPr/>
        </p:nvSpPr>
        <p:spPr>
          <a:xfrm xmlns:a="http://schemas.openxmlformats.org/drawingml/2006/main">
            <a:off x="8258175" y="20764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baseline</a:t>
            </a:r>
          </a:p>
        </p:txBody>
      </p:sp>
      <p:sp>
        <p:nvSpPr>
          <p:cNvPr id="6" name="S01-int8">
            <a:extLst xmlns:a="http://schemas.openxmlformats.org/drawingml/2006/main">
              <a:ext uri="{FF2B5EF4-FFF2-40B4-BE49-F238E27FC236}">
                <a16:creationId xmlns:a16="http://schemas.microsoft.com/office/drawing/2014/main" id="{CFC95C89-72B9-41C9-B83A-5F837747245D}"/>
              </a:ext>
            </a:extLst>
          </p:cNvPr>
          <p:cNvSpPr>
            <a:spLocks xmlns:a="http://schemas.openxmlformats.org/drawingml/2006/main" noGrp="1"/>
          </p:cNvSpPr>
          <p:nvPr/>
        </p:nvSpPr>
        <p:spPr>
          <a:xfrm xmlns:a="http://schemas.openxmlformats.org/drawingml/2006/main">
            <a:off x="10382250" y="207645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int8</a:t>
            </a:r>
          </a:p>
        </p:txBody>
      </p:sp>
      <p:sp>
        <p:nvSpPr>
          <p:cNvPr id="7" name="S01-rule-0">
            <a:extLst xmlns:a="http://schemas.openxmlformats.org/drawingml/2006/main">
              <a:ext uri="{FF2B5EF4-FFF2-40B4-BE49-F238E27FC236}">
                <a16:creationId xmlns:a16="http://schemas.microsoft.com/office/drawing/2014/main" id="{FBDA2CE0-DCA7-453E-9DDA-C3735D83D305}"/>
              </a:ext>
            </a:extLst>
          </p:cNvPr>
          <p:cNvSpPr>
            <a:spLocks xmlns:a="http://schemas.openxmlformats.org/drawingml/2006/main" noGrp="1"/>
          </p:cNvSpPr>
          <p:nvPr/>
        </p:nvSpPr>
        <p:spPr>
          <a:xfrm xmlns:a="http://schemas.openxmlformats.org/drawingml/2006/main">
            <a:off x="6210300" y="2581275"/>
            <a:ext cx="5372100" cy="0"/>
          </a:xfrm>
          <a:prstGeom xmlns:a="http://schemas.openxmlformats.org/drawingml/2006/main" prst="line">
            <a:avLst/>
          </a:prstGeom>
          <a:ln xmlns:a="http://schemas.openxmlformats.org/drawingml/2006/main" w="9525">
            <a:solidFill>
              <a:srgbClr val="CFD8D1"/>
            </a:solidFill>
          </a:ln>
        </p:spPr>
      </p:sp>
      <p:sp>
        <p:nvSpPr>
          <p:cNvPr id="8" name="S01-label-1">
            <a:extLst xmlns:a="http://schemas.openxmlformats.org/drawingml/2006/main">
              <a:ext uri="{FF2B5EF4-FFF2-40B4-BE49-F238E27FC236}">
                <a16:creationId xmlns:a16="http://schemas.microsoft.com/office/drawing/2014/main" id="{F74AA925-F749-4AE2-8037-43C53E85D467}"/>
              </a:ext>
            </a:extLst>
          </p:cNvPr>
          <p:cNvSpPr>
            <a:spLocks xmlns:a="http://schemas.openxmlformats.org/drawingml/2006/main" noGrp="1"/>
          </p:cNvSpPr>
          <p:nvPr/>
        </p:nvSpPr>
        <p:spPr>
          <a:xfrm xmlns:a="http://schemas.openxmlformats.org/drawingml/2006/main">
            <a:off x="6210300" y="2762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Latency (ms)</a:t>
            </a:r>
          </a:p>
        </p:txBody>
      </p:sp>
      <p:sp>
        <p:nvSpPr>
          <p:cNvPr id="9" name="S01-value-base-1">
            <a:extLst xmlns:a="http://schemas.openxmlformats.org/drawingml/2006/main">
              <a:ext uri="{FF2B5EF4-FFF2-40B4-BE49-F238E27FC236}">
                <a16:creationId xmlns:a16="http://schemas.microsoft.com/office/drawing/2014/main" id="{71BE3480-8830-40B7-9EC6-707068393FFE}"/>
              </a:ext>
            </a:extLst>
          </p:cNvPr>
          <p:cNvSpPr>
            <a:spLocks xmlns:a="http://schemas.openxmlformats.org/drawingml/2006/main" noGrp="1"/>
          </p:cNvSpPr>
          <p:nvPr/>
        </p:nvSpPr>
        <p:spPr>
          <a:xfrm xmlns:a="http://schemas.openxmlformats.org/drawingml/2006/main">
            <a:off x="8258175" y="27622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120</a:t>
            </a:r>
          </a:p>
        </p:txBody>
      </p:sp>
      <p:sp>
        <p:nvSpPr>
          <p:cNvPr id="10" name="S01-value-int8-1">
            <a:extLst xmlns:a="http://schemas.openxmlformats.org/drawingml/2006/main">
              <a:ext uri="{FF2B5EF4-FFF2-40B4-BE49-F238E27FC236}">
                <a16:creationId xmlns:a16="http://schemas.microsoft.com/office/drawing/2014/main" id="{C8258488-1E02-4433-BEE3-01F2976A324B}"/>
              </a:ext>
            </a:extLst>
          </p:cNvPr>
          <p:cNvSpPr>
            <a:spLocks xmlns:a="http://schemas.openxmlformats.org/drawingml/2006/main" noGrp="1"/>
          </p:cNvSpPr>
          <p:nvPr/>
        </p:nvSpPr>
        <p:spPr>
          <a:xfrm xmlns:a="http://schemas.openxmlformats.org/drawingml/2006/main">
            <a:off x="10382250" y="2762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54</a:t>
            </a:r>
          </a:p>
        </p:txBody>
      </p:sp>
      <p:sp>
        <p:nvSpPr>
          <p:cNvPr id="11" name="S01-rule-1">
            <a:extLst xmlns:a="http://schemas.openxmlformats.org/drawingml/2006/main">
              <a:ext uri="{FF2B5EF4-FFF2-40B4-BE49-F238E27FC236}">
                <a16:creationId xmlns:a16="http://schemas.microsoft.com/office/drawing/2014/main" id="{D4719AA7-D28B-4245-9FCE-1B4B8ECC3357}"/>
              </a:ext>
            </a:extLst>
          </p:cNvPr>
          <p:cNvSpPr>
            <a:spLocks xmlns:a="http://schemas.openxmlformats.org/drawingml/2006/main" noGrp="1"/>
          </p:cNvSpPr>
          <p:nvPr/>
        </p:nvSpPr>
        <p:spPr>
          <a:xfrm xmlns:a="http://schemas.openxmlformats.org/drawingml/2006/main">
            <a:off x="6210300" y="3648075"/>
            <a:ext cx="5372100" cy="0"/>
          </a:xfrm>
          <a:prstGeom xmlns:a="http://schemas.openxmlformats.org/drawingml/2006/main" prst="line">
            <a:avLst/>
          </a:prstGeom>
          <a:ln xmlns:a="http://schemas.openxmlformats.org/drawingml/2006/main" w="9525">
            <a:solidFill>
              <a:srgbClr val="CFD8D1"/>
            </a:solidFill>
          </a:ln>
        </p:spPr>
      </p:sp>
      <p:sp>
        <p:nvSpPr>
          <p:cNvPr id="12" name="S01-label-2">
            <a:extLst xmlns:a="http://schemas.openxmlformats.org/drawingml/2006/main">
              <a:ext uri="{FF2B5EF4-FFF2-40B4-BE49-F238E27FC236}">
                <a16:creationId xmlns:a16="http://schemas.microsoft.com/office/drawing/2014/main" id="{698A14C0-4335-41D7-9A72-396DB57F4DDA}"/>
              </a:ext>
            </a:extLst>
          </p:cNvPr>
          <p:cNvSpPr>
            <a:spLocks xmlns:a="http://schemas.openxmlformats.org/drawingml/2006/main" noGrp="1"/>
          </p:cNvSpPr>
          <p:nvPr/>
        </p:nvSpPr>
        <p:spPr>
          <a:xfrm xmlns:a="http://schemas.openxmlformats.org/drawingml/2006/main">
            <a:off x="6210300" y="38290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F1</a:t>
            </a:r>
          </a:p>
        </p:txBody>
      </p:sp>
      <p:sp>
        <p:nvSpPr>
          <p:cNvPr id="13" name="S01-value-base-2">
            <a:extLst xmlns:a="http://schemas.openxmlformats.org/drawingml/2006/main">
              <a:ext uri="{FF2B5EF4-FFF2-40B4-BE49-F238E27FC236}">
                <a16:creationId xmlns:a16="http://schemas.microsoft.com/office/drawing/2014/main" id="{871DF7F4-C161-4301-ADFC-F2BE27DA6535}"/>
              </a:ext>
            </a:extLst>
          </p:cNvPr>
          <p:cNvSpPr>
            <a:spLocks xmlns:a="http://schemas.openxmlformats.org/drawingml/2006/main" noGrp="1"/>
          </p:cNvSpPr>
          <p:nvPr/>
        </p:nvSpPr>
        <p:spPr>
          <a:xfrm xmlns:a="http://schemas.openxmlformats.org/drawingml/2006/main">
            <a:off x="8258175" y="38290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0.910</a:t>
            </a:r>
          </a:p>
        </p:txBody>
      </p:sp>
      <p:sp>
        <p:nvSpPr>
          <p:cNvPr id="14" name="S01-value-int8-2">
            <a:extLst xmlns:a="http://schemas.openxmlformats.org/drawingml/2006/main">
              <a:ext uri="{FF2B5EF4-FFF2-40B4-BE49-F238E27FC236}">
                <a16:creationId xmlns:a16="http://schemas.microsoft.com/office/drawing/2014/main" id="{1AF6085E-9466-4602-A8DE-DA0E1AD6E712}"/>
              </a:ext>
            </a:extLst>
          </p:cNvPr>
          <p:cNvSpPr>
            <a:spLocks xmlns:a="http://schemas.openxmlformats.org/drawingml/2006/main" noGrp="1"/>
          </p:cNvSpPr>
          <p:nvPr/>
        </p:nvSpPr>
        <p:spPr>
          <a:xfrm xmlns:a="http://schemas.openxmlformats.org/drawingml/2006/main">
            <a:off x="10382250" y="38290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0.896</a:t>
            </a:r>
          </a:p>
        </p:txBody>
      </p:sp>
      <p:sp>
        <p:nvSpPr>
          <p:cNvPr id="15" name="S01-rule-2">
            <a:extLst xmlns:a="http://schemas.openxmlformats.org/drawingml/2006/main">
              <a:ext uri="{FF2B5EF4-FFF2-40B4-BE49-F238E27FC236}">
                <a16:creationId xmlns:a16="http://schemas.microsoft.com/office/drawing/2014/main" id="{923FF4B1-8A7F-4A93-8097-6056F0F34B86}"/>
              </a:ext>
            </a:extLst>
          </p:cNvPr>
          <p:cNvSpPr>
            <a:spLocks xmlns:a="http://schemas.openxmlformats.org/drawingml/2006/main" noGrp="1"/>
          </p:cNvSpPr>
          <p:nvPr/>
        </p:nvSpPr>
        <p:spPr>
          <a:xfrm xmlns:a="http://schemas.openxmlformats.org/drawingml/2006/main">
            <a:off x="6210300" y="4714875"/>
            <a:ext cx="5372100" cy="0"/>
          </a:xfrm>
          <a:prstGeom xmlns:a="http://schemas.openxmlformats.org/drawingml/2006/main" prst="line">
            <a:avLst/>
          </a:prstGeom>
          <a:ln xmlns:a="http://schemas.openxmlformats.org/drawingml/2006/main" w="9525">
            <a:solidFill>
              <a:srgbClr val="CFD8D1"/>
            </a:solidFill>
          </a:ln>
        </p:spPr>
      </p:sp>
      <p:sp>
        <p:nvSpPr>
          <p:cNvPr id="16" name="S01-label-3">
            <a:extLst xmlns:a="http://schemas.openxmlformats.org/drawingml/2006/main">
              <a:ext uri="{FF2B5EF4-FFF2-40B4-BE49-F238E27FC236}">
                <a16:creationId xmlns:a16="http://schemas.microsoft.com/office/drawing/2014/main" id="{216EFDEA-BA8F-4716-8C62-E90476D666C2}"/>
              </a:ext>
            </a:extLst>
          </p:cNvPr>
          <p:cNvSpPr>
            <a:spLocks xmlns:a="http://schemas.openxmlformats.org/drawingml/2006/main" noGrp="1"/>
          </p:cNvSpPr>
          <p:nvPr/>
        </p:nvSpPr>
        <p:spPr>
          <a:xfrm xmlns:a="http://schemas.openxmlformats.org/drawingml/2006/main">
            <a:off x="6210300" y="48958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Model size (MB)</a:t>
            </a:r>
          </a:p>
        </p:txBody>
      </p:sp>
      <p:sp>
        <p:nvSpPr>
          <p:cNvPr id="17" name="S01-value-base-3">
            <a:extLst xmlns:a="http://schemas.openxmlformats.org/drawingml/2006/main">
              <a:ext uri="{FF2B5EF4-FFF2-40B4-BE49-F238E27FC236}">
                <a16:creationId xmlns:a16="http://schemas.microsoft.com/office/drawing/2014/main" id="{E2B01AB0-E115-4415-A0F1-D3D567D267BF}"/>
              </a:ext>
            </a:extLst>
          </p:cNvPr>
          <p:cNvSpPr>
            <a:spLocks xmlns:a="http://schemas.openxmlformats.org/drawingml/2006/main" noGrp="1"/>
          </p:cNvSpPr>
          <p:nvPr/>
        </p:nvSpPr>
        <p:spPr>
          <a:xfrm xmlns:a="http://schemas.openxmlformats.org/drawingml/2006/main">
            <a:off x="8258175" y="48958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48</a:t>
            </a:r>
          </a:p>
        </p:txBody>
      </p:sp>
      <p:sp>
        <p:nvSpPr>
          <p:cNvPr id="18" name="S01-value-int8-3">
            <a:extLst xmlns:a="http://schemas.openxmlformats.org/drawingml/2006/main">
              <a:ext uri="{FF2B5EF4-FFF2-40B4-BE49-F238E27FC236}">
                <a16:creationId xmlns:a16="http://schemas.microsoft.com/office/drawing/2014/main" id="{DABC8681-4239-4D44-819C-41121B9AFB20}"/>
              </a:ext>
            </a:extLst>
          </p:cNvPr>
          <p:cNvSpPr>
            <a:spLocks xmlns:a="http://schemas.openxmlformats.org/drawingml/2006/main" noGrp="1"/>
          </p:cNvSpPr>
          <p:nvPr/>
        </p:nvSpPr>
        <p:spPr>
          <a:xfrm xmlns:a="http://schemas.openxmlformats.org/drawingml/2006/main">
            <a:off x="10382250" y="48958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Segoe UI"/>
                <a:ea typeface="Segoe UI"/>
                <a:cs typeface="Segoe UI"/>
              </a:defRPr>
            </a:pPr>
            <a:r>
              <a:rPr sz="2850" b="0">
                <a:solidFill>
                  <a:srgbClr val="1E302F"/>
                </a:solidFill>
                <a:latin typeface="Segoe UI"/>
                <a:ea typeface="Segoe UI"/>
                <a:cs typeface="Segoe UI"/>
              </a:rPr>
              <a:t>12</a:t>
            </a:r>
          </a:p>
        </p:txBody>
      </p:sp>
      <p:sp>
        <p:nvSpPr>
          <p:cNvPr id="19" name="S01-disclosure">
            <a:extLst xmlns:a="http://schemas.openxmlformats.org/drawingml/2006/main">
              <a:ext uri="{FF2B5EF4-FFF2-40B4-BE49-F238E27FC236}">
                <a16:creationId xmlns:a16="http://schemas.microsoft.com/office/drawing/2014/main" id="{61E693DC-5581-48FC-9C6A-2ADE68F47411}"/>
              </a:ext>
            </a:extLst>
          </p:cNvPr>
          <p:cNvSpPr>
            <a:spLocks xmlns:a="http://schemas.openxmlformats.org/drawingml/2006/main" noGrp="1"/>
          </p:cNvSpPr>
          <p:nvPr/>
        </p:nvSpPr>
        <p:spPr>
          <a:xfrm xmlns:a="http://schemas.openxmlformats.org/drawingml/2006/main">
            <a:off x="609600" y="6372225"/>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B9DDD0"/>
                </a:solidFill>
                <a:latin typeface="Segoe UI"/>
                <a:ea typeface="Segoe UI"/>
                <a:cs typeface="Segoe UI"/>
              </a:defRPr>
            </a:pPr>
            <a:r>
              <a:rPr sz="1275" b="0">
                <a:solidFill>
                  <a:srgbClr val="B9DDD0"/>
                </a:solidFill>
                <a:latin typeface="Segoe UI"/>
                <a:ea typeface="Segoe UI"/>
                <a:cs typeface="Segoe UI"/>
              </a:rPr>
              <a:t>Illustrative data</a:t>
            </a:r>
          </a:p>
        </p:txBody>
      </p:sp>
    </p:spTree>
    <p:extLst>
      <p:ext uri="{BB962C8B-B14F-4D97-AF65-F5344CB8AC3E}">
        <p14:creationId xmlns:p14="http://schemas.microsoft.com/office/powerpoint/2010/main" val="313146245"/>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2" name="S02-title">
            <a:extLst xmlns:a="http://schemas.openxmlformats.org/drawingml/2006/main">
              <a:ext uri="{FF2B5EF4-FFF2-40B4-BE49-F238E27FC236}">
                <a16:creationId xmlns:a16="http://schemas.microsoft.com/office/drawing/2014/main" id="{3DD8C10D-6A5B-4ACA-964E-876524F06AEA}"/>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225" b="0">
                <a:solidFill>
                  <a:srgbClr val="1E302F"/>
                </a:solidFill>
                <a:latin typeface="Segoe UI"/>
                <a:ea typeface="Segoe UI"/>
                <a:cs typeface="Segoe UI"/>
              </a:defRPr>
            </a:pPr>
            <a:r>
              <a:rPr sz="3225" b="0">
                <a:solidFill>
                  <a:srgbClr val="1E302F"/>
                </a:solidFill>
                <a:latin typeface="Segoe UI"/>
                <a:ea typeface="Segoe UI"/>
                <a:cs typeface="Segoe UI"/>
              </a:rPr>
              <a:t>Model states and compression steps</a:t>
            </a:r>
          </a:p>
        </p:txBody>
      </p:sp>
      <p:sp>
        <p:nvSpPr>
          <p:cNvPr id="2" name="S02-disclosure">
            <a:extLst xmlns:a="http://schemas.openxmlformats.org/drawingml/2006/main">
              <a:ext uri="{FF2B5EF4-FFF2-40B4-BE49-F238E27FC236}">
                <a16:creationId xmlns:a16="http://schemas.microsoft.com/office/drawing/2014/main" id="{4BE03733-CA5E-4306-8FFB-2AE6DE88CBBC}"/>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2-number">
            <a:extLst xmlns:a="http://schemas.openxmlformats.org/drawingml/2006/main">
              <a:ext uri="{FF2B5EF4-FFF2-40B4-BE49-F238E27FC236}">
                <a16:creationId xmlns:a16="http://schemas.microsoft.com/office/drawing/2014/main" id="{98DE5F46-113A-4A6A-B73E-766BB4007C4D}"/>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02</a:t>
            </a:r>
          </a:p>
        </p:txBody>
      </p:sp>
      <p:sp>
        <p:nvSpPr>
          <p:cNvPr id="4" name="S02-method-field">
            <a:extLst xmlns:a="http://schemas.openxmlformats.org/drawingml/2006/main">
              <a:ext uri="{FF2B5EF4-FFF2-40B4-BE49-F238E27FC236}">
                <a16:creationId xmlns:a16="http://schemas.microsoft.com/office/drawing/2014/main" id="{C598A134-0903-497E-BE81-94253078B982}"/>
              </a:ext>
            </a:extLst>
          </p:cNvPr>
          <p:cNvSpPr>
            <a:spLocks xmlns:a="http://schemas.openxmlformats.org/drawingml/2006/main" noGrp="1"/>
          </p:cNvSpPr>
          <p:nvPr/>
        </p:nvSpPr>
        <p:spPr>
          <a:xfrm xmlns:a="http://schemas.openxmlformats.org/drawingml/2006/main">
            <a:off x="457200" y="1866900"/>
            <a:ext cx="11277600" cy="3467100"/>
          </a:xfrm>
          <a:prstGeom xmlns:a="http://schemas.openxmlformats.org/drawingml/2006/main" prst="rect">
            <a:avLst/>
          </a:prstGeom>
          <a:solidFill xmlns:a="http://schemas.openxmlformats.org/drawingml/2006/main">
            <a:srgbClr val="E8EDE5"/>
          </a:solidFill>
          <a:ln xmlns:a="http://schemas.openxmlformats.org/drawingml/2006/main" w="0">
            <a:noFill/>
          </a:ln>
        </p:spPr>
      </p:sp>
      <p:sp>
        <p:nvSpPr>
          <p:cNvPr id="5" name="S02-marker-1">
            <a:extLst xmlns:a="http://schemas.openxmlformats.org/drawingml/2006/main">
              <a:ext uri="{FF2B5EF4-FFF2-40B4-BE49-F238E27FC236}">
                <a16:creationId xmlns:a16="http://schemas.microsoft.com/office/drawing/2014/main" id="{F492FFEC-A673-4448-A76C-1A7BC4CA4ECF}"/>
              </a:ext>
            </a:extLst>
          </p:cNvPr>
          <p:cNvSpPr>
            <a:spLocks xmlns:a="http://schemas.openxmlformats.org/drawingml/2006/main" noGrp="1"/>
          </p:cNvSpPr>
          <p:nvPr/>
        </p:nvSpPr>
        <p:spPr>
          <a:xfrm xmlns:a="http://schemas.openxmlformats.org/drawingml/2006/main">
            <a:off x="6858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Segoe UI"/>
                <a:ea typeface="Segoe UI"/>
                <a:cs typeface="Segoe UI"/>
              </a:defRPr>
            </a:pPr>
            <a:r>
              <a:rPr sz="1650">
                <a:solidFill>
                  <a:srgbClr val="FFFFFF"/>
                </a:solidFill>
                <a:latin typeface="Segoe UI"/>
                <a:ea typeface="Segoe UI"/>
                <a:cs typeface="Segoe UI"/>
              </a:rPr>
              <a:t>01</a:t>
            </a:r>
          </a:p>
        </p:txBody>
      </p:sp>
      <p:sp>
        <p:nvSpPr>
          <p:cNvPr id="6" name="S02-marker-2">
            <a:extLst xmlns:a="http://schemas.openxmlformats.org/drawingml/2006/main">
              <a:ext uri="{FF2B5EF4-FFF2-40B4-BE49-F238E27FC236}">
                <a16:creationId xmlns:a16="http://schemas.microsoft.com/office/drawing/2014/main" id="{B94A5622-9213-4617-B319-0ECA3689005B}"/>
              </a:ext>
            </a:extLst>
          </p:cNvPr>
          <p:cNvSpPr>
            <a:spLocks xmlns:a="http://schemas.openxmlformats.org/drawingml/2006/main" noGrp="1"/>
          </p:cNvSpPr>
          <p:nvPr/>
        </p:nvSpPr>
        <p:spPr>
          <a:xfrm xmlns:a="http://schemas.openxmlformats.org/drawingml/2006/main">
            <a:off x="46482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Segoe UI"/>
                <a:ea typeface="Segoe UI"/>
                <a:cs typeface="Segoe UI"/>
              </a:defRPr>
            </a:pPr>
            <a:r>
              <a:rPr sz="1650">
                <a:solidFill>
                  <a:srgbClr val="FFFFFF"/>
                </a:solidFill>
                <a:latin typeface="Segoe UI"/>
                <a:ea typeface="Segoe UI"/>
                <a:cs typeface="Segoe UI"/>
              </a:rPr>
              <a:t>02</a:t>
            </a:r>
          </a:p>
        </p:txBody>
      </p:sp>
      <p:sp>
        <p:nvSpPr>
          <p:cNvPr id="7" name="S02-marker-3">
            <a:extLst xmlns:a="http://schemas.openxmlformats.org/drawingml/2006/main">
              <a:ext uri="{FF2B5EF4-FFF2-40B4-BE49-F238E27FC236}">
                <a16:creationId xmlns:a16="http://schemas.microsoft.com/office/drawing/2014/main" id="{84E50D7F-F685-4483-AC1D-FA4238F014E0}"/>
              </a:ext>
            </a:extLst>
          </p:cNvPr>
          <p:cNvSpPr>
            <a:spLocks xmlns:a="http://schemas.openxmlformats.org/drawingml/2006/main" noGrp="1"/>
          </p:cNvSpPr>
          <p:nvPr/>
        </p:nvSpPr>
        <p:spPr>
          <a:xfrm xmlns:a="http://schemas.openxmlformats.org/drawingml/2006/main">
            <a:off x="86106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Segoe UI"/>
                <a:ea typeface="Segoe UI"/>
                <a:cs typeface="Segoe UI"/>
              </a:defRPr>
            </a:pPr>
            <a:r>
              <a:rPr sz="1650">
                <a:solidFill>
                  <a:srgbClr val="FFFFFF"/>
                </a:solidFill>
                <a:latin typeface="Segoe UI"/>
                <a:ea typeface="Segoe UI"/>
                <a:cs typeface="Segoe UI"/>
              </a:rPr>
              <a:t>03</a:t>
            </a:r>
          </a:p>
        </p:txBody>
      </p:sp>
      <p:cxnSp>
        <p:nvCxnSpPr>
          <p:cNvPr id="29" name="S02-link-2"/>
          <p:cNvCxnSpPr>
            <a:stCxn xmlns:a="http://schemas.openxmlformats.org/drawingml/2006/main" id="5" idx="6"/>
            <a:endCxn xmlns:a="http://schemas.openxmlformats.org/drawingml/2006/main" id="6" idx="2"/>
          </p:cNvCxnSpPr>
          <p:nvPr/>
        </p:nvCxnSpPr>
        <p:spPr>
          <a:xfrm xmlns:a="http://schemas.openxmlformats.org/drawingml/2006/main">
            <a:off x="1295400" y="2828925"/>
            <a:ext cx="3352800" cy="0"/>
          </a:xfrm>
          <a:prstGeom xmlns:a="http://schemas.openxmlformats.org/drawingml/2006/main" prst="straightConnector1">
            <a:avLst/>
          </a:prstGeom>
          <a:ln xmlns:a="http://schemas.openxmlformats.org/drawingml/2006/main" w="17145">
            <a:solidFill>
              <a:srgbClr val="9EADA5"/>
            </a:solidFill>
            <a:tailEnd type="triangle" w="sm" len="sm"/>
          </a:ln>
        </p:spPr>
      </p:cxnSp>
      <p:cxnSp>
        <p:nvCxnSpPr>
          <p:cNvPr id="30" name="S02-link-3"/>
          <p:cNvCxnSpPr>
            <a:stCxn xmlns:a="http://schemas.openxmlformats.org/drawingml/2006/main" id="6" idx="6"/>
            <a:endCxn xmlns:a="http://schemas.openxmlformats.org/drawingml/2006/main" id="7" idx="2"/>
          </p:cNvCxnSpPr>
          <p:nvPr/>
        </p:nvCxnSpPr>
        <p:spPr>
          <a:xfrm xmlns:a="http://schemas.openxmlformats.org/drawingml/2006/main">
            <a:off x="5257800" y="2828925"/>
            <a:ext cx="3352800" cy="0"/>
          </a:xfrm>
          <a:prstGeom xmlns:a="http://schemas.openxmlformats.org/drawingml/2006/main" prst="straightConnector1">
            <a:avLst/>
          </a:prstGeom>
          <a:ln xmlns:a="http://schemas.openxmlformats.org/drawingml/2006/main" w="17145">
            <a:solidFill>
              <a:srgbClr val="9EADA5"/>
            </a:solidFill>
            <a:tailEnd type="triangle" w="sm" len="sm"/>
          </a:ln>
        </p:spPr>
      </p:cxnSp>
      <p:sp>
        <p:nvSpPr>
          <p:cNvPr id="10" name="S02-flow-2">
            <a:extLst xmlns:a="http://schemas.openxmlformats.org/drawingml/2006/main">
              <a:ext uri="{FF2B5EF4-FFF2-40B4-BE49-F238E27FC236}">
                <a16:creationId xmlns:a16="http://schemas.microsoft.com/office/drawing/2014/main" id="{12458779-99FE-4426-BD29-124B119DD2C0}"/>
              </a:ext>
            </a:extLst>
          </p:cNvPr>
          <p:cNvSpPr>
            <a:spLocks xmlns:a="http://schemas.openxmlformats.org/drawingml/2006/main" noGrp="1"/>
          </p:cNvSpPr>
          <p:nvPr/>
        </p:nvSpPr>
        <p:spPr>
          <a:xfrm xmlns:a="http://schemas.openxmlformats.org/drawingml/2006/main">
            <a:off x="1524000" y="20574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Segoe UI"/>
                <a:ea typeface="Segoe UI"/>
                <a:cs typeface="Segoe UI"/>
              </a:defRPr>
            </a:pPr>
            <a:r>
              <a:rPr sz="1575" b="0">
                <a:solidFill>
                  <a:srgbClr val="586C68"/>
                </a:solidFill>
                <a:latin typeface="Segoe UI"/>
                <a:ea typeface="Segoe UI"/>
                <a:cs typeface="Segoe UI"/>
              </a:rPr>
              <a:t>Knowledge distillation</a:t>
            </a:r>
          </a:p>
        </p:txBody>
      </p:sp>
      <p:sp>
        <p:nvSpPr>
          <p:cNvPr id="11" name="S02-flow-3">
            <a:extLst xmlns:a="http://schemas.openxmlformats.org/drawingml/2006/main">
              <a:ext uri="{FF2B5EF4-FFF2-40B4-BE49-F238E27FC236}">
                <a16:creationId xmlns:a16="http://schemas.microsoft.com/office/drawing/2014/main" id="{8B4E7345-704C-4861-8DE4-747978B30CE0}"/>
              </a:ext>
            </a:extLst>
          </p:cNvPr>
          <p:cNvSpPr>
            <a:spLocks xmlns:a="http://schemas.openxmlformats.org/drawingml/2006/main" noGrp="1"/>
          </p:cNvSpPr>
          <p:nvPr/>
        </p:nvSpPr>
        <p:spPr>
          <a:xfrm xmlns:a="http://schemas.openxmlformats.org/drawingml/2006/main">
            <a:off x="5486400" y="20574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Segoe UI"/>
                <a:ea typeface="Segoe UI"/>
                <a:cs typeface="Segoe UI"/>
              </a:defRPr>
            </a:pPr>
            <a:r>
              <a:rPr sz="1575" b="0">
                <a:solidFill>
                  <a:srgbClr val="586C68"/>
                </a:solidFill>
                <a:latin typeface="Segoe UI"/>
                <a:ea typeface="Segoe UI"/>
                <a:cs typeface="Segoe UI"/>
              </a:rPr>
              <a:t>INT8 quantization</a:t>
            </a:r>
          </a:p>
        </p:txBody>
      </p:sp>
      <p:sp>
        <p:nvSpPr>
          <p:cNvPr id="12" name="S02-stage-1">
            <a:extLst xmlns:a="http://schemas.openxmlformats.org/drawingml/2006/main">
              <a:ext uri="{FF2B5EF4-FFF2-40B4-BE49-F238E27FC236}">
                <a16:creationId xmlns:a16="http://schemas.microsoft.com/office/drawing/2014/main" id="{D5E0E983-CBC4-415C-B85E-976FDDAC5187}"/>
              </a:ext>
            </a:extLst>
          </p:cNvPr>
          <p:cNvSpPr>
            <a:spLocks xmlns:a="http://schemas.openxmlformats.org/drawingml/2006/main" noGrp="1"/>
          </p:cNvSpPr>
          <p:nvPr/>
        </p:nvSpPr>
        <p:spPr>
          <a:xfrm xmlns:a="http://schemas.openxmlformats.org/drawingml/2006/main">
            <a:off x="6858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250" b="0">
                <a:solidFill>
                  <a:srgbClr val="1E302F"/>
                </a:solidFill>
                <a:latin typeface="Segoe UI"/>
                <a:ea typeface="Segoe UI"/>
                <a:cs typeface="Segoe UI"/>
              </a:defRPr>
            </a:pPr>
            <a:r>
              <a:rPr sz="2250" b="0">
                <a:solidFill>
                  <a:srgbClr val="1E302F"/>
                </a:solidFill>
                <a:latin typeface="Segoe UI"/>
                <a:ea typeface="Segoe UI"/>
                <a:cs typeface="Segoe UI"/>
              </a:rPr>
              <a:t>Teacher model</a:t>
            </a:r>
          </a:p>
        </p:txBody>
      </p:sp>
      <p:sp>
        <p:nvSpPr>
          <p:cNvPr id="13" name="S02-name-1">
            <a:extLst xmlns:a="http://schemas.openxmlformats.org/drawingml/2006/main">
              <a:ext uri="{FF2B5EF4-FFF2-40B4-BE49-F238E27FC236}">
                <a16:creationId xmlns:a16="http://schemas.microsoft.com/office/drawing/2014/main" id="{6A96B8EC-AC73-4009-B569-7C8C8F461D94}"/>
              </a:ext>
            </a:extLst>
          </p:cNvPr>
          <p:cNvSpPr>
            <a:spLocks xmlns:a="http://schemas.openxmlformats.org/drawingml/2006/main" noGrp="1"/>
          </p:cNvSpPr>
          <p:nvPr/>
        </p:nvSpPr>
        <p:spPr>
          <a:xfrm xmlns:a="http://schemas.openxmlformats.org/drawingml/2006/main">
            <a:off x="6858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Segoe UI"/>
                <a:ea typeface="Segoe UI"/>
                <a:cs typeface="Segoe UI"/>
              </a:defRPr>
            </a:pPr>
            <a:r>
              <a:rPr sz="1575" b="0">
                <a:solidFill>
                  <a:srgbClr val="246E69"/>
                </a:solidFill>
                <a:latin typeface="Segoe UI"/>
                <a:ea typeface="Segoe UI"/>
                <a:cs typeface="Segoe UI"/>
              </a:rPr>
              <a:t>baseline</a:t>
            </a:r>
          </a:p>
        </p:txBody>
      </p:sp>
      <p:sp>
        <p:nvSpPr>
          <p:cNvPr id="14" name="S02-detail-1">
            <a:extLst xmlns:a="http://schemas.openxmlformats.org/drawingml/2006/main">
              <a:ext uri="{FF2B5EF4-FFF2-40B4-BE49-F238E27FC236}">
                <a16:creationId xmlns:a16="http://schemas.microsoft.com/office/drawing/2014/main" id="{681D071D-F7D4-4C04-8E43-EA6E38DD69AB}"/>
              </a:ext>
            </a:extLst>
          </p:cNvPr>
          <p:cNvSpPr>
            <a:spLocks xmlns:a="http://schemas.openxmlformats.org/drawingml/2006/main" noGrp="1"/>
          </p:cNvSpPr>
          <p:nvPr/>
        </p:nvSpPr>
        <p:spPr>
          <a:xfrm xmlns:a="http://schemas.openxmlformats.org/drawingml/2006/main">
            <a:off x="6858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The reference model</a:t>
            </a:r>
          </a:p>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serves as the teacher.</a:t>
            </a:r>
          </a:p>
        </p:txBody>
      </p:sp>
      <p:sp>
        <p:nvSpPr>
          <p:cNvPr id="15" name="S02-stage-2">
            <a:extLst xmlns:a="http://schemas.openxmlformats.org/drawingml/2006/main">
              <a:ext uri="{FF2B5EF4-FFF2-40B4-BE49-F238E27FC236}">
                <a16:creationId xmlns:a16="http://schemas.microsoft.com/office/drawing/2014/main" id="{A8DC9666-EF9F-4E92-BCF7-16FFF72ABD37}"/>
              </a:ext>
            </a:extLst>
          </p:cNvPr>
          <p:cNvSpPr>
            <a:spLocks xmlns:a="http://schemas.openxmlformats.org/drawingml/2006/main" noGrp="1"/>
          </p:cNvSpPr>
          <p:nvPr/>
        </p:nvSpPr>
        <p:spPr>
          <a:xfrm xmlns:a="http://schemas.openxmlformats.org/drawingml/2006/main">
            <a:off x="46482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250" b="0">
                <a:solidFill>
                  <a:srgbClr val="1E302F"/>
                </a:solidFill>
                <a:latin typeface="Segoe UI"/>
                <a:ea typeface="Segoe UI"/>
                <a:cs typeface="Segoe UI"/>
              </a:defRPr>
            </a:pPr>
            <a:r>
              <a:rPr sz="2250" b="0">
                <a:solidFill>
                  <a:srgbClr val="1E302F"/>
                </a:solidFill>
                <a:latin typeface="Segoe UI"/>
                <a:ea typeface="Segoe UI"/>
                <a:cs typeface="Segoe UI"/>
              </a:rPr>
              <a:t>Student model</a:t>
            </a:r>
          </a:p>
        </p:txBody>
      </p:sp>
      <p:sp>
        <p:nvSpPr>
          <p:cNvPr id="16" name="S02-name-2">
            <a:extLst xmlns:a="http://schemas.openxmlformats.org/drawingml/2006/main">
              <a:ext uri="{FF2B5EF4-FFF2-40B4-BE49-F238E27FC236}">
                <a16:creationId xmlns:a16="http://schemas.microsoft.com/office/drawing/2014/main" id="{EA89E638-CC04-4898-B7F7-1402242026FE}"/>
              </a:ext>
            </a:extLst>
          </p:cNvPr>
          <p:cNvSpPr>
            <a:spLocks xmlns:a="http://schemas.openxmlformats.org/drawingml/2006/main" noGrp="1"/>
          </p:cNvSpPr>
          <p:nvPr/>
        </p:nvSpPr>
        <p:spPr>
          <a:xfrm xmlns:a="http://schemas.openxmlformats.org/drawingml/2006/main">
            <a:off x="46482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Segoe UI"/>
                <a:ea typeface="Segoe UI"/>
                <a:cs typeface="Segoe UI"/>
              </a:defRPr>
            </a:pPr>
            <a:r>
              <a:rPr sz="1575" b="0">
                <a:solidFill>
                  <a:srgbClr val="246E69"/>
                </a:solidFill>
                <a:latin typeface="Segoe UI"/>
                <a:ea typeface="Segoe UI"/>
                <a:cs typeface="Segoe UI"/>
              </a:rPr>
              <a:t>distilled</a:t>
            </a:r>
          </a:p>
        </p:txBody>
      </p:sp>
      <p:sp>
        <p:nvSpPr>
          <p:cNvPr id="17" name="S02-detail-2">
            <a:extLst xmlns:a="http://schemas.openxmlformats.org/drawingml/2006/main">
              <a:ext uri="{FF2B5EF4-FFF2-40B4-BE49-F238E27FC236}">
                <a16:creationId xmlns:a16="http://schemas.microsoft.com/office/drawing/2014/main" id="{809E60DE-62D3-4BB8-BEA7-4CF053BE6809}"/>
              </a:ext>
            </a:extLst>
          </p:cNvPr>
          <p:cNvSpPr>
            <a:spLocks xmlns:a="http://schemas.openxmlformats.org/drawingml/2006/main" noGrp="1"/>
          </p:cNvSpPr>
          <p:nvPr/>
        </p:nvSpPr>
        <p:spPr>
          <a:xfrm xmlns:a="http://schemas.openxmlformats.org/drawingml/2006/main">
            <a:off x="46482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A smaller student learns</a:t>
            </a:r>
          </a:p>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from teacher predictions.</a:t>
            </a:r>
          </a:p>
        </p:txBody>
      </p:sp>
      <p:sp>
        <p:nvSpPr>
          <p:cNvPr id="18" name="S02-stage-3">
            <a:extLst xmlns:a="http://schemas.openxmlformats.org/drawingml/2006/main">
              <a:ext uri="{FF2B5EF4-FFF2-40B4-BE49-F238E27FC236}">
                <a16:creationId xmlns:a16="http://schemas.microsoft.com/office/drawing/2014/main" id="{E0471A0B-1A8A-4FC2-8A0A-F7045C700463}"/>
              </a:ext>
            </a:extLst>
          </p:cNvPr>
          <p:cNvSpPr>
            <a:spLocks xmlns:a="http://schemas.openxmlformats.org/drawingml/2006/main" noGrp="1"/>
          </p:cNvSpPr>
          <p:nvPr/>
        </p:nvSpPr>
        <p:spPr>
          <a:xfrm xmlns:a="http://schemas.openxmlformats.org/drawingml/2006/main">
            <a:off x="86106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250" b="0">
                <a:solidFill>
                  <a:srgbClr val="1E302F"/>
                </a:solidFill>
                <a:latin typeface="Segoe UI"/>
                <a:ea typeface="Segoe UI"/>
                <a:cs typeface="Segoe UI"/>
              </a:defRPr>
            </a:pPr>
            <a:r>
              <a:rPr sz="2250" b="0">
                <a:solidFill>
                  <a:srgbClr val="1E302F"/>
                </a:solidFill>
                <a:latin typeface="Segoe UI"/>
                <a:ea typeface="Segoe UI"/>
                <a:cs typeface="Segoe UI"/>
              </a:rPr>
              <a:t>INT8 student</a:t>
            </a:r>
          </a:p>
        </p:txBody>
      </p:sp>
      <p:sp>
        <p:nvSpPr>
          <p:cNvPr id="19" name="S02-name-3">
            <a:extLst xmlns:a="http://schemas.openxmlformats.org/drawingml/2006/main">
              <a:ext uri="{FF2B5EF4-FFF2-40B4-BE49-F238E27FC236}">
                <a16:creationId xmlns:a16="http://schemas.microsoft.com/office/drawing/2014/main" id="{BB42FAD0-8B31-4C79-9D1A-39D8101F07AA}"/>
              </a:ext>
            </a:extLst>
          </p:cNvPr>
          <p:cNvSpPr>
            <a:spLocks xmlns:a="http://schemas.openxmlformats.org/drawingml/2006/main" noGrp="1"/>
          </p:cNvSpPr>
          <p:nvPr/>
        </p:nvSpPr>
        <p:spPr>
          <a:xfrm xmlns:a="http://schemas.openxmlformats.org/drawingml/2006/main">
            <a:off x="86106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Segoe UI"/>
                <a:ea typeface="Segoe UI"/>
                <a:cs typeface="Segoe UI"/>
              </a:defRPr>
            </a:pPr>
            <a:r>
              <a:rPr sz="1575" b="0">
                <a:solidFill>
                  <a:srgbClr val="246E69"/>
                </a:solidFill>
                <a:latin typeface="Segoe UI"/>
                <a:ea typeface="Segoe UI"/>
                <a:cs typeface="Segoe UI"/>
              </a:rPr>
              <a:t>int8</a:t>
            </a:r>
          </a:p>
        </p:txBody>
      </p:sp>
      <p:sp>
        <p:nvSpPr>
          <p:cNvPr id="20" name="S02-detail-3">
            <a:extLst xmlns:a="http://schemas.openxmlformats.org/drawingml/2006/main">
              <a:ext uri="{FF2B5EF4-FFF2-40B4-BE49-F238E27FC236}">
                <a16:creationId xmlns:a16="http://schemas.microsoft.com/office/drawing/2014/main" id="{6113C402-54DF-4065-A864-EA53B95919E7}"/>
              </a:ext>
            </a:extLst>
          </p:cNvPr>
          <p:cNvSpPr>
            <a:spLocks xmlns:a="http://schemas.openxmlformats.org/drawingml/2006/main" noGrp="1"/>
          </p:cNvSpPr>
          <p:nvPr/>
        </p:nvSpPr>
        <p:spPr>
          <a:xfrm xmlns:a="http://schemas.openxmlformats.org/drawingml/2006/main">
            <a:off x="86106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Use 8-bit integers for</a:t>
            </a:r>
          </a:p>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selected model quantities.</a:t>
            </a:r>
          </a:p>
        </p:txBody>
      </p:sp>
      <p:sp>
        <p:nvSpPr>
          <p:cNvPr id="21" name="S02-caveat">
            <a:extLst xmlns:a="http://schemas.openxmlformats.org/drawingml/2006/main">
              <a:ext uri="{FF2B5EF4-FFF2-40B4-BE49-F238E27FC236}">
                <a16:creationId xmlns:a16="http://schemas.microsoft.com/office/drawing/2014/main" id="{4DA499D8-7F71-4A53-8ACE-3FF710E76AAE}"/>
              </a:ext>
            </a:extLst>
          </p:cNvPr>
          <p:cNvSpPr>
            <a:spLocks xmlns:a="http://schemas.openxmlformats.org/drawingml/2006/main" noGrp="1"/>
          </p:cNvSpPr>
          <p:nvPr/>
        </p:nvSpPr>
        <p:spPr>
          <a:xfrm xmlns:a="http://schemas.openxmlformats.org/drawingml/2006/main">
            <a:off x="685800" y="56578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Segoe UI"/>
                <a:ea typeface="Segoe UI"/>
                <a:cs typeface="Segoe UI"/>
              </a:defRPr>
            </a:pPr>
            <a:r>
              <a:rPr sz="1575" b="0">
                <a:solidFill>
                  <a:srgbClr val="586C68"/>
                </a:solidFill>
                <a:latin typeface="Segoe UI"/>
                <a:ea typeface="Segoe UI"/>
                <a:cs typeface="Segoe UI"/>
              </a:rPr>
              <a:t>Conceptual overview; implementation details vary.</a:t>
            </a:r>
          </a:p>
        </p:txBody>
      </p:sp>
    </p:spTree>
    <p:extLst>
      <p:ext uri="{BB962C8B-B14F-4D97-AF65-F5344CB8AC3E}">
        <p14:creationId xmlns:p14="http://schemas.microsoft.com/office/powerpoint/2010/main" val="625778496"/>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S03-title">
            <a:extLst xmlns:a="http://schemas.openxmlformats.org/drawingml/2006/main">
              <a:ext uri="{FF2B5EF4-FFF2-40B4-BE49-F238E27FC236}">
                <a16:creationId xmlns:a16="http://schemas.microsoft.com/office/drawing/2014/main" id="{CFBCA220-0E6C-4C93-9C1B-7779A7157872}"/>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225" b="0">
                <a:solidFill>
                  <a:srgbClr val="1E302F"/>
                </a:solidFill>
                <a:latin typeface="Segoe UI"/>
                <a:ea typeface="Segoe UI"/>
                <a:cs typeface="Segoe UI"/>
              </a:defRPr>
            </a:pPr>
            <a:r>
              <a:rPr sz="3225" b="0">
                <a:solidFill>
                  <a:srgbClr val="1E302F"/>
                </a:solidFill>
                <a:latin typeface="Segoe UI"/>
                <a:ea typeface="Segoe UI"/>
                <a:cs typeface="Segoe UI"/>
              </a:rPr>
              <a:t>Latency, F1 and model size</a:t>
            </a:r>
          </a:p>
        </p:txBody>
      </p:sp>
      <p:sp>
        <p:nvSpPr>
          <p:cNvPr id="2" name="S03-disclosure">
            <a:extLst xmlns:a="http://schemas.openxmlformats.org/drawingml/2006/main">
              <a:ext uri="{FF2B5EF4-FFF2-40B4-BE49-F238E27FC236}">
                <a16:creationId xmlns:a16="http://schemas.microsoft.com/office/drawing/2014/main" id="{D85B70CD-81C6-4447-9008-248C23ECB855}"/>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3-number">
            <a:extLst xmlns:a="http://schemas.openxmlformats.org/drawingml/2006/main">
              <a:ext uri="{FF2B5EF4-FFF2-40B4-BE49-F238E27FC236}">
                <a16:creationId xmlns:a16="http://schemas.microsoft.com/office/drawing/2014/main" id="{388F65F0-FA2D-4B75-8512-2E79BD999864}"/>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03</a:t>
            </a:r>
          </a:p>
        </p:txBody>
      </p:sp>
      <p:sp>
        <p:nvSpPr>
          <p:cNvPr id="4" name="S03-direction">
            <a:extLst xmlns:a="http://schemas.openxmlformats.org/drawingml/2006/main">
              <a:ext uri="{FF2B5EF4-FFF2-40B4-BE49-F238E27FC236}">
                <a16:creationId xmlns:a16="http://schemas.microsoft.com/office/drawing/2014/main" id="{6226551B-CCC9-4228-8EE2-96ED49F67B75}"/>
              </a:ext>
            </a:extLst>
          </p:cNvPr>
          <p:cNvSpPr>
            <a:spLocks xmlns:a="http://schemas.openxmlformats.org/drawingml/2006/main" noGrp="1"/>
          </p:cNvSpPr>
          <p:nvPr/>
        </p:nvSpPr>
        <p:spPr>
          <a:xfrm xmlns:a="http://schemas.openxmlformats.org/drawingml/2006/main">
            <a:off x="685800" y="16287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Lower latency and size are better; higher F1 is better.</a:t>
            </a:r>
          </a:p>
        </p:txBody>
      </p:sp>
      <p:graphicFrame>
        <p:nvGraphicFramePr>
          <p:cNvPr id="11" name=""/>
          <p:cNvGraphicFramePr/>
          <p:nvPr/>
        </p:nvGraphicFramePr>
        <p:xfrm>
          <a:off xmlns:a="http://schemas.openxmlformats.org/drawingml/2006/main" x="609600" y="2343150"/>
          <a:ext xmlns:a="http://schemas.openxmlformats.org/drawingml/2006/main" cx="10972800" cy="2933700"/>
        </p:xfrm>
        <a:graphic xmlns:a="http://schemas.openxmlformats.org/drawingml/2006/main">
          <a:graphicData uri="http://schemas.openxmlformats.org/drawingml/2006/table">
            <a:tbl>
              <a:tblPr/>
              <a:tblGrid>
                <a:gridCol w="3429000"/>
                <a:gridCol w="2667000"/>
                <a:gridCol w="2209800"/>
                <a:gridCol w="2667000"/>
              </a:tblGrid>
              <a:tr h="733425">
                <a:tc>
                  <a:txBody>
                    <a:bodyPr/>
                    <a:lstStyle/>
                    <a:p>
                      <a:pPr algn="l"/>
                      <a:r>
                        <a:rPr sz="1800" b="0">
                          <a:solidFill>
                            <a:srgbClr val="FFFFFF"/>
                          </a:solidFill>
                          <a:latin typeface="Segoe UI"/>
                          <a:ea typeface="Segoe UI"/>
                          <a:cs typeface="Segoe UI"/>
                        </a:rPr>
                        <a:t>Model</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Latency (ms)</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F1</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Size (MB)</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r>
              <a:tr h="733425">
                <a:tc>
                  <a:txBody>
                    <a:bodyPr/>
                    <a:lstStyle/>
                    <a:p>
                      <a:pPr algn="l"/>
                      <a:r>
                        <a:rPr sz="2400" b="0">
                          <a:solidFill>
                            <a:srgbClr val="1E302F"/>
                          </a:solidFill>
                          <a:latin typeface="Segoe UI"/>
                          <a:ea typeface="Segoe UI"/>
                          <a:cs typeface="Segoe UI"/>
                        </a:rPr>
                        <a:t>baseline</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120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0.910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48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r>
              <a:tr h="733425">
                <a:tc>
                  <a:txBody>
                    <a:bodyPr/>
                    <a:lstStyle/>
                    <a:p>
                      <a:pPr algn="l"/>
                      <a:r>
                        <a:rPr sz="2400" b="0">
                          <a:solidFill>
                            <a:srgbClr val="1E302F"/>
                          </a:solidFill>
                          <a:latin typeface="Segoe UI"/>
                          <a:ea typeface="Segoe UI"/>
                          <a:cs typeface="Segoe UI"/>
                        </a:rPr>
                        <a:t>distilled</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72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0.902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18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r>
              <a:tr h="733425">
                <a:tc>
                  <a:txBody>
                    <a:bodyPr/>
                    <a:lstStyle/>
                    <a:p>
                      <a:pPr algn="l"/>
                      <a:r>
                        <a:rPr sz="2400" b="0">
                          <a:solidFill>
                            <a:srgbClr val="1E302F"/>
                          </a:solidFill>
                          <a:latin typeface="Segoe UI"/>
                          <a:ea typeface="Segoe UI"/>
                          <a:cs typeface="Segoe UI"/>
                        </a:rPr>
                        <a:t>int8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54</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0.896</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12</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r>
            </a:tbl>
          </a:graphicData>
        </a:graphic>
      </p:graphicFrame>
      <p:sp>
        <p:nvSpPr>
          <p:cNvPr id="6" name="S03-limit">
            <a:extLst xmlns:a="http://schemas.openxmlformats.org/drawingml/2006/main">
              <a:ext uri="{FF2B5EF4-FFF2-40B4-BE49-F238E27FC236}">
                <a16:creationId xmlns:a16="http://schemas.microsoft.com/office/drawing/2014/main" id="{54765F4F-A0A9-4517-B1B8-EC35DADE98E3}"/>
              </a:ext>
            </a:extLst>
          </p:cNvPr>
          <p:cNvSpPr>
            <a:spLocks xmlns:a="http://schemas.openxmlformats.org/drawingml/2006/main" noGrp="1"/>
          </p:cNvSpPr>
          <p:nvPr/>
        </p:nvSpPr>
        <p:spPr>
          <a:xfrm xmlns:a="http://schemas.openxmlformats.org/drawingml/2006/main">
            <a:off x="685800" y="56197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Segoe UI"/>
                <a:ea typeface="Segoe UI"/>
                <a:cs typeface="Segoe UI"/>
              </a:defRPr>
            </a:pPr>
            <a:r>
              <a:rPr sz="1575" b="0">
                <a:solidFill>
                  <a:srgbClr val="586C68"/>
                </a:solidFill>
                <a:latin typeface="Segoe UI"/>
                <a:ea typeface="Segoe UI"/>
                <a:cs typeface="Segoe UI"/>
              </a:rPr>
              <a:t>Illustrative comparison on assumed matching device and data; variability is not evaluated.</a:t>
            </a:r>
          </a:p>
        </p:txBody>
      </p:sp>
    </p:spTree>
    <p:extLst>
      <p:ext uri="{BB962C8B-B14F-4D97-AF65-F5344CB8AC3E}">
        <p14:creationId xmlns:p14="http://schemas.microsoft.com/office/powerpoint/2010/main" val="966320156"/>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7" name="S04-title">
            <a:extLst xmlns:a="http://schemas.openxmlformats.org/drawingml/2006/main">
              <a:ext uri="{FF2B5EF4-FFF2-40B4-BE49-F238E27FC236}">
                <a16:creationId xmlns:a16="http://schemas.microsoft.com/office/drawing/2014/main" id="{724713AD-E8AF-42B6-87A4-A152929A65B7}"/>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225" b="0">
                <a:solidFill>
                  <a:srgbClr val="1E302F"/>
                </a:solidFill>
                <a:latin typeface="Segoe UI"/>
                <a:ea typeface="Segoe UI"/>
                <a:cs typeface="Segoe UI"/>
              </a:defRPr>
            </a:pPr>
            <a:r>
              <a:rPr sz="3225" b="0">
                <a:solidFill>
                  <a:srgbClr val="1E302F"/>
                </a:solidFill>
                <a:latin typeface="Segoe UI"/>
                <a:ea typeface="Segoe UI"/>
                <a:cs typeface="Segoe UI"/>
              </a:rPr>
              <a:t>Lower latency, lower F1</a:t>
            </a:r>
          </a:p>
        </p:txBody>
      </p:sp>
      <p:sp>
        <p:nvSpPr>
          <p:cNvPr id="2" name="S04-disclosure">
            <a:extLst xmlns:a="http://schemas.openxmlformats.org/drawingml/2006/main">
              <a:ext uri="{FF2B5EF4-FFF2-40B4-BE49-F238E27FC236}">
                <a16:creationId xmlns:a16="http://schemas.microsoft.com/office/drawing/2014/main" id="{29602194-F4A2-4C9B-9097-6D5CD46C7C8C}"/>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4-number">
            <a:extLst xmlns:a="http://schemas.openxmlformats.org/drawingml/2006/main">
              <a:ext uri="{FF2B5EF4-FFF2-40B4-BE49-F238E27FC236}">
                <a16:creationId xmlns:a16="http://schemas.microsoft.com/office/drawing/2014/main" id="{54446B09-89A2-4DC2-99B4-C89A9F025FBF}"/>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Segoe UI"/>
                <a:ea typeface="Segoe UI"/>
                <a:cs typeface="Segoe UI"/>
              </a:defRPr>
            </a:pPr>
            <a:r>
              <a:rPr sz="1275" b="0">
                <a:solidFill>
                  <a:srgbClr val="586C68"/>
                </a:solidFill>
                <a:latin typeface="Segoe UI"/>
                <a:ea typeface="Segoe UI"/>
                <a:cs typeface="Segoe UI"/>
              </a:rPr>
              <a:t>04</a:t>
            </a:r>
          </a:p>
        </p:txBody>
      </p:sp>
      <p:sp>
        <p:nvSpPr>
          <p:cNvPr id="4" name="S04-interpretation-field">
            <a:extLst xmlns:a="http://schemas.openxmlformats.org/drawingml/2006/main">
              <a:ext uri="{FF2B5EF4-FFF2-40B4-BE49-F238E27FC236}">
                <a16:creationId xmlns:a16="http://schemas.microsoft.com/office/drawing/2014/main" id="{CBE6E3D1-0467-4903-955B-ED89D99EF9C9}"/>
              </a:ext>
            </a:extLst>
          </p:cNvPr>
          <p:cNvSpPr>
            <a:spLocks xmlns:a="http://schemas.openxmlformats.org/drawingml/2006/main" noGrp="1"/>
          </p:cNvSpPr>
          <p:nvPr/>
        </p:nvSpPr>
        <p:spPr>
          <a:xfrm xmlns:a="http://schemas.openxmlformats.org/drawingml/2006/main">
            <a:off x="8143875" y="1666875"/>
            <a:ext cx="3590925" cy="4191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5" name="S04-chart-unit">
            <a:extLst xmlns:a="http://schemas.openxmlformats.org/drawingml/2006/main">
              <a:ext uri="{FF2B5EF4-FFF2-40B4-BE49-F238E27FC236}">
                <a16:creationId xmlns:a16="http://schemas.microsoft.com/office/drawing/2014/main" id="{C9F2FFE2-1CE9-48EA-810B-5DBDA236213B}"/>
              </a:ext>
            </a:extLst>
          </p:cNvPr>
          <p:cNvSpPr>
            <a:spLocks xmlns:a="http://schemas.openxmlformats.org/drawingml/2006/main" noGrp="1"/>
          </p:cNvSpPr>
          <p:nvPr/>
        </p:nvSpPr>
        <p:spPr>
          <a:xfrm xmlns:a="http://schemas.openxmlformats.org/drawingml/2006/main">
            <a:off x="685800" y="16478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F1 · higher is better</a:t>
            </a:r>
          </a:p>
        </p:txBody>
      </p:sp>
      <p:graphicFrame>
        <p:nvGraphicFramePr>
          <p:cNvPr id="22" name="Chart"/>
          <p:cNvGraphicFramePr/>
          <p:nvPr/>
        </p:nvGraphicFramePr>
        <p:xfrm>
          <a:off xmlns:a="http://schemas.openxmlformats.org/drawingml/2006/main" x="619125" y="2114550"/>
          <a:ext xmlns:a="http://schemas.openxmlformats.org/drawingml/2006/main" cx="7000875" cy="2857500"/>
        </p:xfrm>
        <a:graphic xmlns:a="http://schemas.openxmlformats.org/drawingml/2006/main">
          <a:graphicData uri="http://schemas.openxmlformats.org/drawingml/2006/chart">
            <c:chart xmlns:r="http://schemas.openxmlformats.org/officeDocument/2006/relationships" xmlns:c="http://schemas.openxmlformats.org/drawingml/2006/chart" r:id="R9fadcdf7ecae4f1c"/>
          </a:graphicData>
        </a:graphic>
      </p:graphicFrame>
      <p:sp>
        <p:nvSpPr>
          <p:cNvPr id="7" name="S04-x-unit">
            <a:extLst xmlns:a="http://schemas.openxmlformats.org/drawingml/2006/main">
              <a:ext uri="{FF2B5EF4-FFF2-40B4-BE49-F238E27FC236}">
                <a16:creationId xmlns:a16="http://schemas.microsoft.com/office/drawing/2014/main" id="{615521AD-72B3-46A0-A99E-4554648CF5BA}"/>
              </a:ext>
            </a:extLst>
          </p:cNvPr>
          <p:cNvSpPr>
            <a:spLocks xmlns:a="http://schemas.openxmlformats.org/drawingml/2006/main" noGrp="1"/>
          </p:cNvSpPr>
          <p:nvPr/>
        </p:nvSpPr>
        <p:spPr>
          <a:xfrm xmlns:a="http://schemas.openxmlformats.org/drawingml/2006/main">
            <a:off x="1428750" y="49434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Segoe UI"/>
                <a:ea typeface="Segoe UI"/>
                <a:cs typeface="Segoe UI"/>
              </a:defRPr>
            </a:pPr>
            <a:r>
              <a:rPr sz="1725" b="0">
                <a:solidFill>
                  <a:srgbClr val="586C68"/>
                </a:solidFill>
                <a:latin typeface="Segoe UI"/>
                <a:ea typeface="Segoe UI"/>
                <a:cs typeface="Segoe UI"/>
              </a:rPr>
              <a:t>Latency (ms) · lower is better</a:t>
            </a:r>
          </a:p>
        </p:txBody>
      </p:sp>
      <p:sp>
        <p:nvSpPr>
          <p:cNvPr id="8" name="S04-basis">
            <a:extLst xmlns:a="http://schemas.openxmlformats.org/drawingml/2006/main">
              <a:ext uri="{FF2B5EF4-FFF2-40B4-BE49-F238E27FC236}">
                <a16:creationId xmlns:a16="http://schemas.microsoft.com/office/drawing/2014/main" id="{B251EC37-233C-4C3D-B44D-96BE1E3E87D8}"/>
              </a:ext>
            </a:extLst>
          </p:cNvPr>
          <p:cNvSpPr>
            <a:spLocks xmlns:a="http://schemas.openxmlformats.org/drawingml/2006/main" noGrp="1"/>
          </p:cNvSpPr>
          <p:nvPr/>
        </p:nvSpPr>
        <p:spPr>
          <a:xfrm xmlns:a="http://schemas.openxmlformats.org/drawingml/2006/main">
            <a:off x="8439150" y="18669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B9DDD0"/>
                </a:solidFill>
                <a:latin typeface="Segoe UI"/>
                <a:ea typeface="Segoe UI"/>
                <a:cs typeface="Segoe UI"/>
              </a:defRPr>
            </a:pPr>
            <a:r>
              <a:rPr sz="1800" b="0">
                <a:solidFill>
                  <a:srgbClr val="B9DDD0"/>
                </a:solidFill>
                <a:latin typeface="Segoe UI"/>
                <a:ea typeface="Segoe UI"/>
                <a:cs typeface="Segoe UI"/>
              </a:rPr>
              <a:t>Baseline to INT8</a:t>
            </a:r>
          </a:p>
        </p:txBody>
      </p:sp>
      <p:sp>
        <p:nvSpPr>
          <p:cNvPr id="9" name="S04-latency">
            <a:extLst xmlns:a="http://schemas.openxmlformats.org/drawingml/2006/main">
              <a:ext uri="{FF2B5EF4-FFF2-40B4-BE49-F238E27FC236}">
                <a16:creationId xmlns:a16="http://schemas.microsoft.com/office/drawing/2014/main" id="{7609D483-5383-41CA-8E27-7CE72A83643A}"/>
              </a:ext>
            </a:extLst>
          </p:cNvPr>
          <p:cNvSpPr>
            <a:spLocks xmlns:a="http://schemas.openxmlformats.org/drawingml/2006/main" noGrp="1"/>
          </p:cNvSpPr>
          <p:nvPr/>
        </p:nvSpPr>
        <p:spPr>
          <a:xfrm xmlns:a="http://schemas.openxmlformats.org/drawingml/2006/main">
            <a:off x="8439150" y="24669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450" b="0">
                <a:solidFill>
                  <a:srgbClr val="FFFFFF"/>
                </a:solidFill>
                <a:latin typeface="Segoe UI"/>
                <a:ea typeface="Segoe UI"/>
                <a:cs typeface="Segoe UI"/>
              </a:defRPr>
            </a:pPr>
            <a:r>
              <a:rPr sz="3450" b="0">
                <a:solidFill>
                  <a:srgbClr val="FFFFFF"/>
                </a:solidFill>
                <a:latin typeface="Segoe UI"/>
                <a:ea typeface="Segoe UI"/>
                <a:cs typeface="Segoe UI"/>
              </a:rPr>
              <a:t>−55%</a:t>
            </a:r>
          </a:p>
        </p:txBody>
      </p:sp>
      <p:sp>
        <p:nvSpPr>
          <p:cNvPr id="10" name="S04-latency-label">
            <a:extLst xmlns:a="http://schemas.openxmlformats.org/drawingml/2006/main">
              <a:ext uri="{FF2B5EF4-FFF2-40B4-BE49-F238E27FC236}">
                <a16:creationId xmlns:a16="http://schemas.microsoft.com/office/drawing/2014/main" id="{073B1A53-07A2-4901-A88A-D3E0BBEDC10E}"/>
              </a:ext>
            </a:extLst>
          </p:cNvPr>
          <p:cNvSpPr>
            <a:spLocks xmlns:a="http://schemas.openxmlformats.org/drawingml/2006/main" noGrp="1"/>
          </p:cNvSpPr>
          <p:nvPr/>
        </p:nvSpPr>
        <p:spPr>
          <a:xfrm xmlns:a="http://schemas.openxmlformats.org/drawingml/2006/main">
            <a:off x="8439150" y="3095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D7E6DF"/>
                </a:solidFill>
                <a:latin typeface="Segoe UI"/>
                <a:ea typeface="Segoe UI"/>
                <a:cs typeface="Segoe UI"/>
              </a:defRPr>
            </a:pPr>
            <a:r>
              <a:rPr sz="1650" b="0">
                <a:solidFill>
                  <a:srgbClr val="D7E6DF"/>
                </a:solidFill>
                <a:latin typeface="Segoe UI"/>
                <a:ea typeface="Segoe UI"/>
                <a:cs typeface="Segoe UI"/>
              </a:rPr>
              <a:t>Latency · 120 → 54 ms</a:t>
            </a:r>
          </a:p>
        </p:txBody>
      </p:sp>
      <p:sp>
        <p:nvSpPr>
          <p:cNvPr id="11" name="S04-f1">
            <a:extLst xmlns:a="http://schemas.openxmlformats.org/drawingml/2006/main">
              <a:ext uri="{FF2B5EF4-FFF2-40B4-BE49-F238E27FC236}">
                <a16:creationId xmlns:a16="http://schemas.microsoft.com/office/drawing/2014/main" id="{C84066E6-68CB-482B-BC75-5A6950B5CADD}"/>
              </a:ext>
            </a:extLst>
          </p:cNvPr>
          <p:cNvSpPr>
            <a:spLocks xmlns:a="http://schemas.openxmlformats.org/drawingml/2006/main" noGrp="1"/>
          </p:cNvSpPr>
          <p:nvPr/>
        </p:nvSpPr>
        <p:spPr>
          <a:xfrm xmlns:a="http://schemas.openxmlformats.org/drawingml/2006/main">
            <a:off x="8439150" y="38195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450" b="0">
                <a:solidFill>
                  <a:srgbClr val="FFFFFF"/>
                </a:solidFill>
                <a:latin typeface="Segoe UI"/>
                <a:ea typeface="Segoe UI"/>
                <a:cs typeface="Segoe UI"/>
              </a:defRPr>
            </a:pPr>
            <a:r>
              <a:rPr sz="3450" b="0">
                <a:solidFill>
                  <a:srgbClr val="FFFFFF"/>
                </a:solidFill>
                <a:latin typeface="Segoe UI"/>
                <a:ea typeface="Segoe UI"/>
                <a:cs typeface="Segoe UI"/>
              </a:rPr>
              <a:t>−0.014</a:t>
            </a:r>
          </a:p>
        </p:txBody>
      </p:sp>
      <p:sp>
        <p:nvSpPr>
          <p:cNvPr id="12" name="S04-f1-label">
            <a:extLst xmlns:a="http://schemas.openxmlformats.org/drawingml/2006/main">
              <a:ext uri="{FF2B5EF4-FFF2-40B4-BE49-F238E27FC236}">
                <a16:creationId xmlns:a16="http://schemas.microsoft.com/office/drawing/2014/main" id="{D5F58F03-2F17-4A82-B9D3-A486F40F5AEA}"/>
              </a:ext>
            </a:extLst>
          </p:cNvPr>
          <p:cNvSpPr>
            <a:spLocks xmlns:a="http://schemas.openxmlformats.org/drawingml/2006/main" noGrp="1"/>
          </p:cNvSpPr>
          <p:nvPr/>
        </p:nvSpPr>
        <p:spPr>
          <a:xfrm xmlns:a="http://schemas.openxmlformats.org/drawingml/2006/main">
            <a:off x="8439150" y="44481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D7E6DF"/>
                </a:solidFill>
                <a:latin typeface="Segoe UI"/>
                <a:ea typeface="Segoe UI"/>
                <a:cs typeface="Segoe UI"/>
              </a:defRPr>
            </a:pPr>
            <a:r>
              <a:rPr sz="1650" b="0">
                <a:solidFill>
                  <a:srgbClr val="D7E6DF"/>
                </a:solidFill>
                <a:latin typeface="Segoe UI"/>
                <a:ea typeface="Segoe UI"/>
                <a:cs typeface="Segoe UI"/>
              </a:rPr>
              <a:t>F1 · absolute difference</a:t>
            </a:r>
          </a:p>
        </p:txBody>
      </p:sp>
      <p:sp>
        <p:nvSpPr>
          <p:cNvPr id="13" name="S04-size-values">
            <a:extLst xmlns:a="http://schemas.openxmlformats.org/drawingml/2006/main">
              <a:ext uri="{FF2B5EF4-FFF2-40B4-BE49-F238E27FC236}">
                <a16:creationId xmlns:a16="http://schemas.microsoft.com/office/drawing/2014/main" id="{81A9AF14-2B79-46B0-AF7C-FBF83BCE2BB5}"/>
              </a:ext>
            </a:extLst>
          </p:cNvPr>
          <p:cNvSpPr>
            <a:spLocks xmlns:a="http://schemas.openxmlformats.org/drawingml/2006/main" noGrp="1"/>
          </p:cNvSpPr>
          <p:nvPr/>
        </p:nvSpPr>
        <p:spPr>
          <a:xfrm xmlns:a="http://schemas.openxmlformats.org/drawingml/2006/main">
            <a:off x="8439150" y="52101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D7E6DF"/>
                </a:solidFill>
                <a:latin typeface="Segoe UI"/>
                <a:ea typeface="Segoe UI"/>
                <a:cs typeface="Segoe UI"/>
              </a:defRPr>
            </a:pPr>
            <a:r>
              <a:rPr sz="1575" b="0">
                <a:solidFill>
                  <a:srgbClr val="D7E6DF"/>
                </a:solidFill>
                <a:latin typeface="Segoe UI"/>
                <a:ea typeface="Segoe UI"/>
                <a:cs typeface="Segoe UI"/>
              </a:rPr>
              <a:t>Size: 48 → 12 MB (−75%)</a:t>
            </a:r>
          </a:p>
        </p:txBody>
      </p:sp>
      <p:sp>
        <p:nvSpPr>
          <p:cNvPr id="14" name="S04-decomposition-rule">
            <a:extLst xmlns:a="http://schemas.openxmlformats.org/drawingml/2006/main">
              <a:ext uri="{FF2B5EF4-FFF2-40B4-BE49-F238E27FC236}">
                <a16:creationId xmlns:a16="http://schemas.microsoft.com/office/drawing/2014/main" id="{03B2B565-099F-4CDC-86C9-E62A713C9284}"/>
              </a:ext>
            </a:extLst>
          </p:cNvPr>
          <p:cNvSpPr>
            <a:spLocks xmlns:a="http://schemas.openxmlformats.org/drawingml/2006/main" noGrp="1"/>
          </p:cNvSpPr>
          <p:nvPr/>
        </p:nvSpPr>
        <p:spPr>
          <a:xfrm xmlns:a="http://schemas.openxmlformats.org/drawingml/2006/main">
            <a:off x="685800" y="5400675"/>
            <a:ext cx="6858000" cy="0"/>
          </a:xfrm>
          <a:prstGeom xmlns:a="http://schemas.openxmlformats.org/drawingml/2006/main" prst="line">
            <a:avLst/>
          </a:prstGeom>
          <a:ln xmlns:a="http://schemas.openxmlformats.org/drawingml/2006/main" w="9525">
            <a:solidFill>
              <a:srgbClr val="CFD8D1"/>
            </a:solidFill>
          </a:ln>
        </p:spPr>
      </p:sp>
      <p:sp>
        <p:nvSpPr>
          <p:cNvPr id="15" name="S04-stage1">
            <a:extLst xmlns:a="http://schemas.openxmlformats.org/drawingml/2006/main">
              <a:ext uri="{FF2B5EF4-FFF2-40B4-BE49-F238E27FC236}">
                <a16:creationId xmlns:a16="http://schemas.microsoft.com/office/drawing/2014/main" id="{A8188A58-9481-423D-B95B-B1271AE30E9C}"/>
              </a:ext>
            </a:extLst>
          </p:cNvPr>
          <p:cNvSpPr>
            <a:spLocks xmlns:a="http://schemas.openxmlformats.org/drawingml/2006/main" noGrp="1"/>
          </p:cNvSpPr>
          <p:nvPr/>
        </p:nvSpPr>
        <p:spPr>
          <a:xfrm xmlns:a="http://schemas.openxmlformats.org/drawingml/2006/main">
            <a:off x="685800" y="55054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Segoe UI"/>
                <a:ea typeface="Segoe UI"/>
                <a:cs typeface="Segoe UI"/>
              </a:defRPr>
            </a:pPr>
            <a:r>
              <a:rPr sz="1650" b="0">
                <a:solidFill>
                  <a:srgbClr val="586C68"/>
                </a:solidFill>
                <a:latin typeface="Segoe UI"/>
                <a:ea typeface="Segoe UI"/>
                <a:cs typeface="Segoe UI"/>
              </a:rPr>
              <a:t>Distillation: latency −40%; F1 −0.008</a:t>
            </a:r>
          </a:p>
        </p:txBody>
      </p:sp>
      <p:sp>
        <p:nvSpPr>
          <p:cNvPr id="16" name="S04-stage2">
            <a:extLst xmlns:a="http://schemas.openxmlformats.org/drawingml/2006/main">
              <a:ext uri="{FF2B5EF4-FFF2-40B4-BE49-F238E27FC236}">
                <a16:creationId xmlns:a16="http://schemas.microsoft.com/office/drawing/2014/main" id="{00FADBB8-1250-424A-82B7-5FD45AE87AE6}"/>
              </a:ext>
            </a:extLst>
          </p:cNvPr>
          <p:cNvSpPr>
            <a:spLocks xmlns:a="http://schemas.openxmlformats.org/drawingml/2006/main" noGrp="1"/>
          </p:cNvSpPr>
          <p:nvPr/>
        </p:nvSpPr>
        <p:spPr>
          <a:xfrm xmlns:a="http://schemas.openxmlformats.org/drawingml/2006/main">
            <a:off x="685800" y="58578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Segoe UI"/>
                <a:ea typeface="Segoe UI"/>
                <a:cs typeface="Segoe UI"/>
              </a:defRPr>
            </a:pPr>
            <a:r>
              <a:rPr sz="1650" b="0">
                <a:solidFill>
                  <a:srgbClr val="586C68"/>
                </a:solidFill>
                <a:latin typeface="Segoe UI"/>
                <a:ea typeface="Segoe UI"/>
                <a:cs typeface="Segoe UI"/>
              </a:rPr>
              <a:t>Additional INT8 step: latency −25%; F1 −0.006</a:t>
            </a:r>
          </a:p>
        </p:txBody>
      </p:sp>
    </p:spTree>
    <p:extLst>
      <p:ext uri="{BB962C8B-B14F-4D97-AF65-F5344CB8AC3E}">
        <p14:creationId xmlns:p14="http://schemas.microsoft.com/office/powerpoint/2010/main" val="1823795935"/>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S05-finding-field">
            <a:extLst xmlns:a="http://schemas.openxmlformats.org/drawingml/2006/main">
              <a:ext uri="{FF2B5EF4-FFF2-40B4-BE49-F238E27FC236}">
                <a16:creationId xmlns:a16="http://schemas.microsoft.com/office/drawing/2014/main" id="{AD5ACFED-B677-48EB-8A8A-A67561A4322A}"/>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2" name="S05-main">
            <a:extLst xmlns:a="http://schemas.openxmlformats.org/drawingml/2006/main">
              <a:ext uri="{FF2B5EF4-FFF2-40B4-BE49-F238E27FC236}">
                <a16:creationId xmlns:a16="http://schemas.microsoft.com/office/drawing/2014/main" id="{94E023DB-175F-490F-8CE9-1D426FBBBAA4}"/>
              </a:ext>
            </a:extLst>
          </p:cNvPr>
          <p:cNvSpPr>
            <a:spLocks xmlns:a="http://schemas.openxmlformats.org/drawingml/2006/main" noGrp="1"/>
          </p:cNvSpPr>
          <p:nvPr/>
        </p:nvSpPr>
        <p:spPr>
          <a:xfrm xmlns:a="http://schemas.openxmlformats.org/drawingml/2006/main">
            <a:off x="609600" y="1428750"/>
            <a:ext cx="4781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75" b="0">
                <a:solidFill>
                  <a:srgbClr val="FFFFFF"/>
                </a:solidFill>
                <a:latin typeface="Segoe UI"/>
                <a:ea typeface="Segoe UI"/>
                <a:cs typeface="Segoe UI"/>
              </a:defRPr>
            </a:pPr>
            <a:r>
              <a:rPr sz="3675" b="0">
                <a:solidFill>
                  <a:srgbClr val="FFFFFF"/>
                </a:solidFill>
                <a:latin typeface="Segoe UI"/>
                <a:ea typeface="Segoe UI"/>
                <a:cs typeface="Segoe UI"/>
              </a:rPr>
              <a:t>Efficiency gains</a:t>
            </a:r>
          </a:p>
          <a:p xmlns:a="http://schemas.openxmlformats.org/drawingml/2006/main">
            <a:pPr>
              <a:defRPr sz="3675" b="0">
                <a:solidFill>
                  <a:srgbClr val="FFFFFF"/>
                </a:solidFill>
                <a:latin typeface="Segoe UI"/>
                <a:ea typeface="Segoe UI"/>
                <a:cs typeface="Segoe UI"/>
              </a:defRPr>
            </a:pPr>
            <a:r>
              <a:rPr sz="3675" b="0">
                <a:solidFill>
                  <a:srgbClr val="FFFFFF"/>
                </a:solidFill>
                <a:latin typeface="Segoe UI"/>
                <a:ea typeface="Segoe UI"/>
                <a:cs typeface="Segoe UI"/>
              </a:rPr>
              <a:t>come with lower F1</a:t>
            </a:r>
          </a:p>
        </p:txBody>
      </p:sp>
      <p:sp>
        <p:nvSpPr>
          <p:cNvPr id="3" name="S05-interpretation">
            <a:extLst xmlns:a="http://schemas.openxmlformats.org/drawingml/2006/main">
              <a:ext uri="{FF2B5EF4-FFF2-40B4-BE49-F238E27FC236}">
                <a16:creationId xmlns:a16="http://schemas.microsoft.com/office/drawing/2014/main" id="{E81C57F6-9189-4E48-AC92-77D9FA8940F9}"/>
              </a:ext>
            </a:extLst>
          </p:cNvPr>
          <p:cNvSpPr>
            <a:spLocks xmlns:a="http://schemas.openxmlformats.org/drawingml/2006/main" noGrp="1"/>
          </p:cNvSpPr>
          <p:nvPr/>
        </p:nvSpPr>
        <p:spPr>
          <a:xfrm xmlns:a="http://schemas.openxmlformats.org/drawingml/2006/main">
            <a:off x="609600" y="36957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025" b="0">
                <a:solidFill>
                  <a:srgbClr val="B9DDD0"/>
                </a:solidFill>
                <a:latin typeface="Segoe UI"/>
                <a:ea typeface="Segoe UI"/>
                <a:cs typeface="Segoe UI"/>
              </a:defRPr>
            </a:pPr>
            <a:r>
              <a:rPr sz="2025" b="0">
                <a:solidFill>
                  <a:srgbClr val="B9DDD0"/>
                </a:solidFill>
                <a:latin typeface="Segoe UI"/>
                <a:ea typeface="Segoe UI"/>
                <a:cs typeface="Segoe UI"/>
              </a:rPr>
              <a:t>A deployment decision needs</a:t>
            </a:r>
          </a:p>
          <a:p xmlns:a="http://schemas.openxmlformats.org/drawingml/2006/main">
            <a:pPr>
              <a:defRPr sz="2025" b="0">
                <a:solidFill>
                  <a:srgbClr val="B9DDD0"/>
                </a:solidFill>
                <a:latin typeface="Segoe UI"/>
                <a:ea typeface="Segoe UI"/>
                <a:cs typeface="Segoe UI"/>
              </a:defRPr>
            </a:pPr>
            <a:r>
              <a:rPr sz="2025" b="0">
                <a:solidFill>
                  <a:srgbClr val="B9DDD0"/>
                </a:solidFill>
                <a:latin typeface="Segoe UI"/>
                <a:ea typeface="Segoe UI"/>
                <a:cs typeface="Segoe UI"/>
              </a:rPr>
              <a:t>acceptable latency and F1 limits.</a:t>
            </a:r>
          </a:p>
        </p:txBody>
      </p:sp>
      <p:sp>
        <p:nvSpPr>
          <p:cNvPr id="4" name="S05-label1">
            <a:extLst xmlns:a="http://schemas.openxmlformats.org/drawingml/2006/main">
              <a:ext uri="{FF2B5EF4-FFF2-40B4-BE49-F238E27FC236}">
                <a16:creationId xmlns:a16="http://schemas.microsoft.com/office/drawing/2014/main" id="{54490094-9E75-4368-90B3-87E9956C891C}"/>
              </a:ext>
            </a:extLst>
          </p:cNvPr>
          <p:cNvSpPr>
            <a:spLocks xmlns:a="http://schemas.openxmlformats.org/drawingml/2006/main" noGrp="1"/>
          </p:cNvSpPr>
          <p:nvPr/>
        </p:nvSpPr>
        <p:spPr>
          <a:xfrm xmlns:a="http://schemas.openxmlformats.org/drawingml/2006/main">
            <a:off x="6515100" y="1152525"/>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00" b="0">
                <a:solidFill>
                  <a:srgbClr val="1E302F"/>
                </a:solidFill>
                <a:latin typeface="Segoe UI"/>
                <a:ea typeface="Segoe UI"/>
                <a:cs typeface="Segoe UI"/>
              </a:defRPr>
            </a:pPr>
            <a:r>
              <a:rPr sz="2400" b="0">
                <a:solidFill>
                  <a:srgbClr val="1E302F"/>
                </a:solidFill>
                <a:latin typeface="Segoe UI"/>
                <a:ea typeface="Segoe UI"/>
                <a:cs typeface="Segoe UI"/>
              </a:rPr>
              <a:t>Deployment limits</a:t>
            </a:r>
          </a:p>
        </p:txBody>
      </p:sp>
      <p:sp>
        <p:nvSpPr>
          <p:cNvPr id="5" name="S05-body1">
            <a:extLst xmlns:a="http://schemas.openxmlformats.org/drawingml/2006/main">
              <a:ext uri="{FF2B5EF4-FFF2-40B4-BE49-F238E27FC236}">
                <a16:creationId xmlns:a16="http://schemas.microsoft.com/office/drawing/2014/main" id="{C23904A4-5799-4146-BCF8-269E1119A7A9}"/>
              </a:ext>
            </a:extLst>
          </p:cNvPr>
          <p:cNvSpPr>
            <a:spLocks xmlns:a="http://schemas.openxmlformats.org/drawingml/2006/main" noGrp="1"/>
          </p:cNvSpPr>
          <p:nvPr/>
        </p:nvSpPr>
        <p:spPr>
          <a:xfrm xmlns:a="http://schemas.openxmlformats.org/drawingml/2006/main">
            <a:off x="6515100" y="170497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Acceptable F1 loss and latency budget.</a:t>
            </a:r>
          </a:p>
        </p:txBody>
      </p:sp>
      <p:sp>
        <p:nvSpPr>
          <p:cNvPr id="6" name="S05-rule-1">
            <a:extLst xmlns:a="http://schemas.openxmlformats.org/drawingml/2006/main">
              <a:ext uri="{FF2B5EF4-FFF2-40B4-BE49-F238E27FC236}">
                <a16:creationId xmlns:a16="http://schemas.microsoft.com/office/drawing/2014/main" id="{EA0B1105-FDCE-4D6A-B8AB-F85035FC39FE}"/>
              </a:ext>
            </a:extLst>
          </p:cNvPr>
          <p:cNvSpPr>
            <a:spLocks xmlns:a="http://schemas.openxmlformats.org/drawingml/2006/main" noGrp="1"/>
          </p:cNvSpPr>
          <p:nvPr/>
        </p:nvSpPr>
        <p:spPr>
          <a:xfrm xmlns:a="http://schemas.openxmlformats.org/drawingml/2006/main">
            <a:off x="6515100" y="2276475"/>
            <a:ext cx="4991100" cy="0"/>
          </a:xfrm>
          <a:prstGeom xmlns:a="http://schemas.openxmlformats.org/drawingml/2006/main" prst="line">
            <a:avLst/>
          </a:prstGeom>
          <a:ln xmlns:a="http://schemas.openxmlformats.org/drawingml/2006/main" w="9525">
            <a:solidFill>
              <a:srgbClr val="CFD8D1"/>
            </a:solidFill>
          </a:ln>
        </p:spPr>
      </p:sp>
      <p:sp>
        <p:nvSpPr>
          <p:cNvPr id="7" name="S05-label2">
            <a:extLst xmlns:a="http://schemas.openxmlformats.org/drawingml/2006/main">
              <a:ext uri="{FF2B5EF4-FFF2-40B4-BE49-F238E27FC236}">
                <a16:creationId xmlns:a16="http://schemas.microsoft.com/office/drawing/2014/main" id="{8BA8756E-4A99-41B8-A962-B5B85C9AF37E}"/>
              </a:ext>
            </a:extLst>
          </p:cNvPr>
          <p:cNvSpPr>
            <a:spLocks xmlns:a="http://schemas.openxmlformats.org/drawingml/2006/main" noGrp="1"/>
          </p:cNvSpPr>
          <p:nvPr/>
        </p:nvSpPr>
        <p:spPr>
          <a:xfrm xmlns:a="http://schemas.openxmlformats.org/drawingml/2006/main">
            <a:off x="6515100" y="2438400"/>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00" b="0">
                <a:solidFill>
                  <a:srgbClr val="1E302F"/>
                </a:solidFill>
                <a:latin typeface="Segoe UI"/>
                <a:ea typeface="Segoe UI"/>
                <a:cs typeface="Segoe UI"/>
              </a:defRPr>
            </a:pPr>
            <a:r>
              <a:rPr sz="2400" b="0">
                <a:solidFill>
                  <a:srgbClr val="1E302F"/>
                </a:solidFill>
                <a:latin typeface="Segoe UI"/>
                <a:ea typeface="Segoe UI"/>
                <a:cs typeface="Segoe UI"/>
              </a:rPr>
              <a:t>Repeatability</a:t>
            </a:r>
          </a:p>
        </p:txBody>
      </p:sp>
      <p:sp>
        <p:nvSpPr>
          <p:cNvPr id="8" name="S05-body2">
            <a:extLst xmlns:a="http://schemas.openxmlformats.org/drawingml/2006/main">
              <a:ext uri="{FF2B5EF4-FFF2-40B4-BE49-F238E27FC236}">
                <a16:creationId xmlns:a16="http://schemas.microsoft.com/office/drawing/2014/main" id="{2CB7C1D0-AFF6-44EA-AFCA-2B443E82C335}"/>
              </a:ext>
            </a:extLst>
          </p:cNvPr>
          <p:cNvSpPr>
            <a:spLocks xmlns:a="http://schemas.openxmlformats.org/drawingml/2006/main" noGrp="1"/>
          </p:cNvSpPr>
          <p:nvPr/>
        </p:nvSpPr>
        <p:spPr>
          <a:xfrm xmlns:a="http://schemas.openxmlformats.org/drawingml/2006/main">
            <a:off x="6515100" y="299085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Repeat measurements on real data.</a:t>
            </a:r>
          </a:p>
        </p:txBody>
      </p:sp>
      <p:sp>
        <p:nvSpPr>
          <p:cNvPr id="9" name="S05-rule-2">
            <a:extLst xmlns:a="http://schemas.openxmlformats.org/drawingml/2006/main">
              <a:ext uri="{FF2B5EF4-FFF2-40B4-BE49-F238E27FC236}">
                <a16:creationId xmlns:a16="http://schemas.microsoft.com/office/drawing/2014/main" id="{44D90FDB-CA1A-48AD-8D73-903F33B8067D}"/>
              </a:ext>
            </a:extLst>
          </p:cNvPr>
          <p:cNvSpPr>
            <a:spLocks xmlns:a="http://schemas.openxmlformats.org/drawingml/2006/main" noGrp="1"/>
          </p:cNvSpPr>
          <p:nvPr/>
        </p:nvSpPr>
        <p:spPr>
          <a:xfrm xmlns:a="http://schemas.openxmlformats.org/drawingml/2006/main">
            <a:off x="6515100" y="3562350"/>
            <a:ext cx="4991100" cy="0"/>
          </a:xfrm>
          <a:prstGeom xmlns:a="http://schemas.openxmlformats.org/drawingml/2006/main" prst="line">
            <a:avLst/>
          </a:prstGeom>
          <a:ln xmlns:a="http://schemas.openxmlformats.org/drawingml/2006/main" w="9525">
            <a:solidFill>
              <a:srgbClr val="CFD8D1"/>
            </a:solidFill>
          </a:ln>
        </p:spPr>
      </p:sp>
      <p:sp>
        <p:nvSpPr>
          <p:cNvPr id="10" name="S05-label3">
            <a:extLst xmlns:a="http://schemas.openxmlformats.org/drawingml/2006/main">
              <a:ext uri="{FF2B5EF4-FFF2-40B4-BE49-F238E27FC236}">
                <a16:creationId xmlns:a16="http://schemas.microsoft.com/office/drawing/2014/main" id="{FE8F58FE-FD2C-4DBD-9621-370F07EF827E}"/>
              </a:ext>
            </a:extLst>
          </p:cNvPr>
          <p:cNvSpPr>
            <a:spLocks xmlns:a="http://schemas.openxmlformats.org/drawingml/2006/main" noGrp="1"/>
          </p:cNvSpPr>
          <p:nvPr/>
        </p:nvSpPr>
        <p:spPr>
          <a:xfrm xmlns:a="http://schemas.openxmlformats.org/drawingml/2006/main">
            <a:off x="6515100" y="3724275"/>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00" b="0">
                <a:solidFill>
                  <a:srgbClr val="1E302F"/>
                </a:solidFill>
                <a:latin typeface="Segoe UI"/>
                <a:ea typeface="Segoe UI"/>
                <a:cs typeface="Segoe UI"/>
              </a:defRPr>
            </a:pPr>
            <a:r>
              <a:rPr sz="2400" b="0">
                <a:solidFill>
                  <a:srgbClr val="1E302F"/>
                </a:solidFill>
                <a:latin typeface="Segoe UI"/>
                <a:ea typeface="Segoe UI"/>
                <a:cs typeface="Segoe UI"/>
              </a:rPr>
              <a:t>Failure modes</a:t>
            </a:r>
          </a:p>
        </p:txBody>
      </p:sp>
      <p:sp>
        <p:nvSpPr>
          <p:cNvPr id="11" name="S05-body3">
            <a:extLst xmlns:a="http://schemas.openxmlformats.org/drawingml/2006/main">
              <a:ext uri="{FF2B5EF4-FFF2-40B4-BE49-F238E27FC236}">
                <a16:creationId xmlns:a16="http://schemas.microsoft.com/office/drawing/2014/main" id="{04278B5F-85DF-49D9-80ED-33355A580F46}"/>
              </a:ext>
            </a:extLst>
          </p:cNvPr>
          <p:cNvSpPr>
            <a:spLocks xmlns:a="http://schemas.openxmlformats.org/drawingml/2006/main" noGrp="1"/>
          </p:cNvSpPr>
          <p:nvPr/>
        </p:nvSpPr>
        <p:spPr>
          <a:xfrm xmlns:a="http://schemas.openxmlformats.org/drawingml/2006/main">
            <a:off x="6515100" y="427672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Segoe UI"/>
                <a:ea typeface="Segoe UI"/>
                <a:cs typeface="Segoe UI"/>
              </a:defRPr>
            </a:pPr>
            <a:r>
              <a:rPr sz="1800" b="0">
                <a:solidFill>
                  <a:srgbClr val="586C68"/>
                </a:solidFill>
                <a:latin typeface="Segoe UI"/>
                <a:ea typeface="Segoe UI"/>
                <a:cs typeface="Segoe UI"/>
              </a:rPr>
              <a:t>Inspect errors by anomaly type.</a:t>
            </a:r>
          </a:p>
        </p:txBody>
      </p:sp>
      <p:sp>
        <p:nvSpPr>
          <p:cNvPr id="12" name="S05-limit">
            <a:extLst xmlns:a="http://schemas.openxmlformats.org/drawingml/2006/main">
              <a:ext uri="{FF2B5EF4-FFF2-40B4-BE49-F238E27FC236}">
                <a16:creationId xmlns:a16="http://schemas.microsoft.com/office/drawing/2014/main" id="{D08E42EB-BDCD-4D44-BD92-85BB19C11265}"/>
              </a:ext>
            </a:extLst>
          </p:cNvPr>
          <p:cNvSpPr>
            <a:spLocks xmlns:a="http://schemas.openxmlformats.org/drawingml/2006/main" noGrp="1"/>
          </p:cNvSpPr>
          <p:nvPr/>
        </p:nvSpPr>
        <p:spPr>
          <a:xfrm xmlns:a="http://schemas.openxmlformats.org/drawingml/2006/main">
            <a:off x="6515100" y="5448300"/>
            <a:ext cx="4991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Segoe UI"/>
                <a:ea typeface="Segoe UI"/>
                <a:cs typeface="Segoe UI"/>
              </a:defRPr>
            </a:pPr>
            <a:r>
              <a:rPr sz="1650" b="0">
                <a:solidFill>
                  <a:srgbClr val="586C68"/>
                </a:solidFill>
                <a:latin typeface="Segoe UI"/>
                <a:ea typeface="Segoe UI"/>
                <a:cs typeface="Segoe UI"/>
              </a:rPr>
              <a:t>No real dataset or sample count;</a:t>
            </a:r>
          </a:p>
          <a:p xmlns:a="http://schemas.openxmlformats.org/drawingml/2006/main">
            <a:pPr>
              <a:defRPr sz="1650" b="0">
                <a:solidFill>
                  <a:srgbClr val="586C68"/>
                </a:solidFill>
                <a:latin typeface="Segoe UI"/>
                <a:ea typeface="Segoe UI"/>
                <a:cs typeface="Segoe UI"/>
              </a:defRPr>
            </a:pPr>
            <a:r>
              <a:rPr sz="1650" b="0">
                <a:solidFill>
                  <a:srgbClr val="586C68"/>
                </a:solidFill>
                <a:latin typeface="Segoe UI"/>
                <a:ea typeface="Segoe UI"/>
                <a:cs typeface="Segoe UI"/>
              </a:rPr>
              <a:t>generalization remains untested.</a:t>
            </a:r>
          </a:p>
        </p:txBody>
      </p:sp>
      <p:sp>
        <p:nvSpPr>
          <p:cNvPr id="13" name="S05-disclosure">
            <a:extLst xmlns:a="http://schemas.openxmlformats.org/drawingml/2006/main">
              <a:ext uri="{FF2B5EF4-FFF2-40B4-BE49-F238E27FC236}">
                <a16:creationId xmlns:a16="http://schemas.microsoft.com/office/drawing/2014/main" id="{7F6F8F34-20B1-4AFA-8F10-48FEF49A87FD}"/>
              </a:ext>
            </a:extLst>
          </p:cNvPr>
          <p:cNvSpPr>
            <a:spLocks xmlns:a="http://schemas.openxmlformats.org/drawingml/2006/main" noGrp="1"/>
          </p:cNvSpPr>
          <p:nvPr/>
        </p:nvSpPr>
        <p:spPr>
          <a:xfrm xmlns:a="http://schemas.openxmlformats.org/drawingml/2006/main">
            <a:off x="609600" y="6372225"/>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B9DDD0"/>
                </a:solidFill>
                <a:latin typeface="Segoe UI"/>
                <a:ea typeface="Segoe UI"/>
                <a:cs typeface="Segoe UI"/>
              </a:defRPr>
            </a:pPr>
            <a:r>
              <a:rPr sz="1275" b="0">
                <a:solidFill>
                  <a:srgbClr val="B9DDD0"/>
                </a:solidFill>
                <a:latin typeface="Segoe UI"/>
                <a:ea typeface="Segoe UI"/>
                <a:cs typeface="Segoe UI"/>
              </a:rPr>
              <a:t>Illustrative data</a:t>
            </a:r>
          </a:p>
        </p:txBody>
      </p:sp>
    </p:spTree>
    <p:extLst>
      <p:ext uri="{BB962C8B-B14F-4D97-AF65-F5344CB8AC3E}">
        <p14:creationId xmlns:p14="http://schemas.microsoft.com/office/powerpoint/2010/main" val="5045958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dc:title>Presentation</dc:title>
  <ns2:created xsi:type="dcterms:W3CDTF">2026-10-02T08:00:43.0300000Z</ns2:created>
  <ns2:modified xsi:type="dcterms:W3CDTF">2026-10-02T08:00:43.0300000Z</ns2:modified>
</ns0:coreProperties>
</file>