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Latency (ms)</c:v>
          </c:tx>
          <c:spPr>
            <a:solidFill>
              <a:srgbClr val="287D78"/>
            </a:solidFill>
          </c:spPr>
          <c:invertIfNegative val="1"/>
          <c:dPt>
            <c:idx val="0"/>
            <c:invertIfNegative val="0"/>
            <c:bubble3D val="0"/>
            <c:spPr>
              <a:solidFill>
                <a:srgbClr val="9EADA5"/>
              </a:solidFill>
            </c:spPr>
            <c:extLst>
              <c:ext xmlns:c16="http://schemas.microsoft.com/office/drawing/2014/chart" uri="{C3380CC4-5D6E-409C-BE32-E72D297353CC}">
                <c16:uniqueId val="{00000001-64F9-463C-BA85-3156AF375E0C}"/>
              </c:ext>
            </c:extLst>
          </c:dPt>
          <c:dPt>
            <c:idx val="1"/>
            <c:invertIfNegative val="0"/>
            <c:bubble3D val="0"/>
            <c:spPr>
              <a:solidFill>
                <a:srgbClr val="639D90"/>
              </a:solidFill>
            </c:spPr>
            <c:extLst>
              <c:ext xmlns:c16="http://schemas.microsoft.com/office/drawing/2014/chart" uri="{C3380CC4-5D6E-409C-BE32-E72D297353CC}">
                <c16:uniqueId val="{00000003-64F9-463C-BA85-3156AF375E0C}"/>
              </c:ext>
            </c:extLst>
          </c:dPt>
          <c:dPt>
            <c:idx val="2"/>
            <c:invertIfNegative val="0"/>
            <c:bubble3D val="0"/>
            <c:extLst>
              <c:ext xmlns:c16="http://schemas.microsoft.com/office/drawing/2014/chart" uri="{C3380CC4-5D6E-409C-BE32-E72D297353CC}">
                <c16:uniqueId val="{00000005-64F9-463C-BA85-3156AF375E0C}"/>
              </c:ext>
            </c:extLst>
          </c:dPt>
          <c:dLbls>
            <c:spPr>
              <a:noFill/>
              <a:ln>
                <a:noFill/>
              </a:ln>
              <a:effectLst/>
            </c:spPr>
            <c:txPr>
              <a:bodyPr anchorCtr="1"/>
              <a:lstStyle/>
              <a:p>
                <a:pPr>
                  <a:defRPr sz="2025">
                    <a:solidFill>
                      <a:srgbClr val="1E302F"/>
                    </a:solidFill>
                    <a:latin typeface="Segoe UI"/>
                    <a:ea typeface="Segoe UI"/>
                    <a:cs typeface="Segoe UI"/>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baseline</c:v>
                </c:pt>
                <c:pt idx="1">
                  <c:v>distilled</c:v>
                </c:pt>
                <c:pt idx="2">
                  <c:v>int8</c:v>
                </c:pt>
              </c:strCache>
            </c:strRef>
          </c:cat>
          <c:val>
            <c:numRef>
              <c:f>'Chart Data'!$B$2:$B$4</c:f>
              <c:numCache>
                <c:formatCode>0</c:formatCode>
                <c:ptCount val="3"/>
                <c:pt idx="0">
                  <c:v>120</c:v>
                </c:pt>
                <c:pt idx="1">
                  <c:v>72</c:v>
                </c:pt>
                <c:pt idx="2">
                  <c:v>54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64F9-463C-BA85-3156AF375E0C}"/>
            </c:ext>
          </c:extLst>
        </c:ser>
        <c:dLbls>
          <c:dLblPos val="outEnd"/>
          <c:showLegendKey val="0"/>
          <c:showVal val="1"/>
          <c:showCatName val="0"/>
          <c:showSerName val="0"/>
          <c:showPercent val="0"/>
          <c:showBubbleSize val="0"/>
        </c:dLbls>
        <c:gapWidth val="13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FD8D1"/>
            </a:solidFill>
          </a:ln>
        </c:spPr>
        <c:txPr>
          <a:bodyPr anchorCtr="1"/>
          <a:lstStyle/>
          <a:p>
            <a:pPr>
              <a:defRPr sz="1725">
                <a:solidFill>
                  <a:srgbClr val="1E302F"/>
                </a:solidFill>
                <a:latin typeface="Segoe UI"/>
                <a:ea typeface="Segoe UI"/>
                <a:cs typeface="Segoe UI"/>
              </a:defRPr>
            </a:pPr>
            <a:endParaRPr lang="ko-KR"/>
          </a:p>
        </c:txPr>
        <c:crossAx val="48672768"/>
        <c:crosses val="autoZero"/>
        <c:auto val="1"/>
        <c:lblAlgn val="ctr"/>
        <c:lblOffset val="100"/>
        <c:noMultiLvlLbl val="1"/>
      </c:catAx>
      <c:valAx>
        <c:axId val="48672768"/>
        <c:scaling>
          <c:orientation val="minMax"/>
          <c:max val="140"/>
          <c:min val="0"/>
        </c:scaling>
        <c:delete val="0"/>
        <c:axPos val="l"/>
        <c:majorGridlines>
          <c:spPr>
            <a:ln w="6668">
              <a:solidFill>
                <a:srgbClr val="CFD8D1"/>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425">
                <a:solidFill>
                  <a:srgbClr val="586C68"/>
                </a:solidFill>
                <a:latin typeface="Segoe UI"/>
                <a:ea typeface="Segoe UI"/>
                <a:cs typeface="Segoe UI"/>
              </a:defRPr>
            </a:pPr>
            <a:endParaRPr lang="ko-KR"/>
          </a:p>
        </c:txPr>
        <c:crossAx val="48650112"/>
        <c:crosses val="autoZero"/>
        <c:crossBetween val="between"/>
        <c:majorUnit val="40"/>
      </c:valAx>
      <c:spPr>
        <a:solidFill>
          <a:srgbClr val="F6F4EE"/>
        </a:solidFill>
      </c:spPr>
    </c:plotArea>
    <c:plotVisOnly val="1"/>
    <c:dispBlanksAs val="zero"/>
    <c:showDLblsOverMax val="1"/>
  </c:chart>
  <c:spPr>
    <a:solidFill>
      <a:srgbClr val="F6F4EE"/>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seconds. All performance values in this deck are fictional user-supplied examples. They are not empirical findings. A common device and dataset are assumed, but their identities are unspecified. The cover is AI-generated conceptual artwork, not a model architecture or a measurement.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 seconds. The teacher provides prediction knowledge for learning a smaller student; INT8 represents student numbers using 8-bit integers. Architecture, loss, quantization scope, and PTQ versus QAT are unspecified. Do not assume preservation of all teacher knowledge or claim a particular implementation. In the animated edition, reveal distillation on click 1 and INT8 on click 2. Concept sources: Hinton et al. (2015), https://arxiv.org/abs/1503.02531 ; Jacob et al. (2017), https://arxiv.org/abs/1712.05877 . No empirical results were taken from those papers.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seconds. Fictional values: baseline 120 ms / F1 0.910 / 48 MB; distilled 72 ms / 0.902 / 18 MB; int8 54 ms / 0.896 / 12 MB. The same device and data are assumed. Sample count, variance, dataset, split, device specifications, latency statistic, and F1 aggregation are unspecified. These are arithmetic comparisons, not evidence of statistical significance or generalization.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65 seconds. Overall latency reduction (120−54)/120 = 55%; size reduction (48−12)/48 = 75%; F1 absolute difference 0.896−0.910 = −0.014. Distillation latency reduction (120−72)/120 = 40%, F1 difference −0.008. Additional INT8 latency reduction (72−54)/72 = 25%, F1 difference −0.006. Do not add 40% and 25% because their denominators differ. No statistical inference is possible from the fictional summaries.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 seconds. These fictional values illustrate an efficiency–F1 trade-off. They do not select a universally best model. Define the acceptable loss in F1 and the latency budget for the intended environment. Repeat measurements on actual data, estimate variation, and inspect failures by anomaly type. No real dataset or sample count was supplied, so no generalization claim is justified. Total presentation time: 300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pic>
        <p:nvPicPr>
          <p:cNvPr id="7" name="그림 6"/>
          <p:cNvPicPr>
            <a:picLocks noChangeAspect="1"/>
          </p:cNvPicPr>
          <p:nvPr/>
        </p:nvPicPr>
        <p:blipFill>
          <a:blip r:embed="rId3"/>
          <a:srcRect l="6092" r="6092"/>
          <a:stretch>
            <a:fillRect/>
          </a:stretch>
        </p:blipFill>
        <p:spPr>
          <a:xfrm>
            <a:off x="7372350" y="0"/>
            <a:ext cx="4819650" cy="6858000"/>
          </a:xfrm>
          <a:prstGeom prst="rect">
            <a:avLst/>
          </a:prstGeom>
        </p:spPr>
      </p:pic>
      <p:sp>
        <p:nvSpPr>
          <p:cNvPr id="2" name="S01-section">
            <a:extLst>
              <a:ext uri="{FF2B5EF4-FFF2-40B4-BE49-F238E27FC236}">
                <a16:creationId xmlns:a16="http://schemas.microsoft.com/office/drawing/2014/main" id="{D6E8A9ED-5F1A-40DB-B550-14998D956CD9}"/>
              </a:ext>
            </a:extLst>
          </p:cNvPr>
          <p:cNvSpPr>
            <a:spLocks noGrp="1"/>
          </p:cNvSpPr>
          <p:nvPr/>
        </p:nvSpPr>
        <p:spPr>
          <a:xfrm>
            <a:off x="685800" y="590550"/>
            <a:ext cx="6191250" cy="285750"/>
          </a:xfrm>
          <a:prstGeom prst="rect">
            <a:avLst/>
          </a:prstGeom>
          <a:noFill/>
          <a:ln w="0">
            <a:noFill/>
          </a:ln>
        </p:spPr>
        <p:txBody>
          <a:bodyPr wrap="none" lIns="0" tIns="0" rIns="0" bIns="0" anchor="ctr">
            <a:noAutofit/>
          </a:bodyPr>
          <a:lstStyle/>
          <a:p>
            <a:pPr>
              <a:defRPr sz="1425" b="0">
                <a:solidFill>
                  <a:srgbClr val="287D78"/>
                </a:solidFill>
                <a:latin typeface="Segoe UI"/>
                <a:ea typeface="Segoe UI"/>
                <a:cs typeface="Segoe UI"/>
              </a:defRPr>
            </a:pPr>
            <a:r>
              <a:rPr sz="1425" b="0">
                <a:solidFill>
                  <a:srgbClr val="287D78"/>
                </a:solidFill>
                <a:latin typeface="Segoe UI"/>
                <a:ea typeface="Segoe UI"/>
                <a:cs typeface="Segoe UI"/>
              </a:rPr>
              <a:t>RESEARCH NOTE / 01</a:t>
            </a:r>
          </a:p>
        </p:txBody>
      </p:sp>
      <p:sp>
        <p:nvSpPr>
          <p:cNvPr id="3" name="S01-title">
            <a:extLst>
              <a:ext uri="{FF2B5EF4-FFF2-40B4-BE49-F238E27FC236}">
                <a16:creationId xmlns:a16="http://schemas.microsoft.com/office/drawing/2014/main" id="{4C2F98CD-761C-4BE1-B0E6-D8D7623A14E2}"/>
              </a:ext>
            </a:extLst>
          </p:cNvPr>
          <p:cNvSpPr>
            <a:spLocks noGrp="1"/>
          </p:cNvSpPr>
          <p:nvPr/>
        </p:nvSpPr>
        <p:spPr>
          <a:xfrm>
            <a:off x="685800" y="1895475"/>
            <a:ext cx="6591300" cy="1600200"/>
          </a:xfrm>
          <a:prstGeom prst="rect">
            <a:avLst/>
          </a:prstGeom>
          <a:noFill/>
          <a:ln w="0">
            <a:noFill/>
          </a:ln>
        </p:spPr>
        <p:txBody>
          <a:bodyPr wrap="none" lIns="0" tIns="0" rIns="0" bIns="0" anchor="ctr">
            <a:noAutofit/>
          </a:bodyPr>
          <a:lstStyle/>
          <a:p>
            <a:pPr>
              <a:defRPr sz="4200" b="0">
                <a:solidFill>
                  <a:srgbClr val="1E302F"/>
                </a:solidFill>
                <a:latin typeface="Segoe UI"/>
                <a:ea typeface="Segoe UI"/>
                <a:cs typeface="Segoe UI"/>
              </a:defRPr>
            </a:pPr>
            <a:r>
              <a:rPr sz="4200" b="0">
                <a:solidFill>
                  <a:srgbClr val="1E302F"/>
                </a:solidFill>
                <a:latin typeface="Segoe UI"/>
                <a:ea typeface="Segoe UI"/>
                <a:cs typeface="Segoe UI"/>
              </a:rPr>
              <a:t>Smaller models.</a:t>
            </a:r>
          </a:p>
          <a:p>
            <a:pPr>
              <a:defRPr sz="4200" b="0">
                <a:solidFill>
                  <a:srgbClr val="1E302F"/>
                </a:solidFill>
                <a:latin typeface="Segoe UI"/>
                <a:ea typeface="Segoe UI"/>
                <a:cs typeface="Segoe UI"/>
              </a:defRPr>
            </a:pPr>
            <a:r>
              <a:rPr sz="4200" b="0">
                <a:solidFill>
                  <a:srgbClr val="1E302F"/>
                </a:solidFill>
                <a:latin typeface="Segoe UI"/>
                <a:ea typeface="Segoe UI"/>
                <a:cs typeface="Segoe UI"/>
              </a:rPr>
              <a:t>Considered trade-offs.</a:t>
            </a:r>
          </a:p>
        </p:txBody>
      </p:sp>
      <p:sp>
        <p:nvSpPr>
          <p:cNvPr id="4" name="S01-subtitle">
            <a:extLst>
              <a:ext uri="{FF2B5EF4-FFF2-40B4-BE49-F238E27FC236}">
                <a16:creationId xmlns:a16="http://schemas.microsoft.com/office/drawing/2014/main" id="{26242D5B-C040-47B5-8284-A994E17ED53A}"/>
              </a:ext>
            </a:extLst>
          </p:cNvPr>
          <p:cNvSpPr>
            <a:spLocks noGrp="1"/>
          </p:cNvSpPr>
          <p:nvPr/>
        </p:nvSpPr>
        <p:spPr>
          <a:xfrm>
            <a:off x="723900" y="3905250"/>
            <a:ext cx="6048375" cy="781050"/>
          </a:xfrm>
          <a:prstGeom prst="rect">
            <a:avLst/>
          </a:prstGeom>
          <a:noFill/>
          <a:ln w="0">
            <a:noFill/>
          </a:ln>
        </p:spPr>
        <p:txBody>
          <a:bodyPr wrap="none" lIns="0" tIns="0" rIns="0" bIns="0" anchor="ctr">
            <a:noAutofit/>
          </a:bodyPr>
          <a:lstStyle/>
          <a:p>
            <a:pPr>
              <a:defRPr sz="2175" b="0">
                <a:solidFill>
                  <a:srgbClr val="586C68"/>
                </a:solidFill>
                <a:latin typeface="Segoe UI"/>
                <a:ea typeface="Segoe UI"/>
                <a:cs typeface="Segoe UI"/>
              </a:defRPr>
            </a:pPr>
            <a:r>
              <a:rPr sz="2175" b="0">
                <a:solidFill>
                  <a:srgbClr val="586C68"/>
                </a:solidFill>
                <a:latin typeface="Segoe UI"/>
                <a:ea typeface="Segoe UI"/>
                <a:cs typeface="Segoe UI"/>
              </a:rPr>
              <a:t>Sensor anomaly detection with</a:t>
            </a:r>
          </a:p>
          <a:p>
            <a:pPr>
              <a:defRPr sz="2175" b="0">
                <a:solidFill>
                  <a:srgbClr val="586C68"/>
                </a:solidFill>
                <a:latin typeface="Segoe UI"/>
                <a:ea typeface="Segoe UI"/>
                <a:cs typeface="Segoe UI"/>
              </a:defRPr>
            </a:pPr>
            <a:r>
              <a:rPr sz="2175" b="0">
                <a:solidFill>
                  <a:srgbClr val="586C68"/>
                </a:solidFill>
                <a:latin typeface="Segoe UI"/>
                <a:ea typeface="Segoe UI"/>
                <a:cs typeface="Segoe UI"/>
              </a:rPr>
              <a:t>distillation and INT8 quantization</a:t>
            </a:r>
          </a:p>
        </p:txBody>
      </p:sp>
      <p:sp>
        <p:nvSpPr>
          <p:cNvPr id="5" name="S01-context">
            <a:extLst>
              <a:ext uri="{FF2B5EF4-FFF2-40B4-BE49-F238E27FC236}">
                <a16:creationId xmlns:a16="http://schemas.microsoft.com/office/drawing/2014/main" id="{CE5D0945-2804-42F1-BE98-430B6393548F}"/>
              </a:ext>
            </a:extLst>
          </p:cNvPr>
          <p:cNvSpPr>
            <a:spLocks noGrp="1"/>
          </p:cNvSpPr>
          <p:nvPr/>
        </p:nvSpPr>
        <p:spPr>
          <a:xfrm>
            <a:off x="723900" y="5410200"/>
            <a:ext cx="5905500" cy="333375"/>
          </a:xfrm>
          <a:prstGeom prst="rect">
            <a:avLst/>
          </a:prstGeom>
          <a:noFill/>
          <a:ln w="0">
            <a:noFill/>
          </a:ln>
        </p:spPr>
        <p:txBody>
          <a:bodyPr wrap="none" lIns="0" tIns="0" rIns="0" bIns="0" anchor="ctr">
            <a:noAutofit/>
          </a:bodyPr>
          <a:lstStyle/>
          <a:p>
            <a:pPr>
              <a:defRPr sz="1725" b="0">
                <a:solidFill>
                  <a:srgbClr val="1E302F"/>
                </a:solidFill>
                <a:latin typeface="Segoe UI"/>
                <a:ea typeface="Segoe UI"/>
                <a:cs typeface="Segoe UI"/>
              </a:defRPr>
            </a:pPr>
            <a:r>
              <a:rPr sz="1725" b="0">
                <a:solidFill>
                  <a:srgbClr val="1E302F"/>
                </a:solidFill>
                <a:latin typeface="Segoe UI"/>
                <a:ea typeface="Segoe UI"/>
                <a:cs typeface="Segoe UI"/>
              </a:rPr>
              <a:t>Lab seminar · 5 minutes</a:t>
            </a:r>
          </a:p>
        </p:txBody>
      </p:sp>
      <p:sp>
        <p:nvSpPr>
          <p:cNvPr id="6" name="S01-disclosure">
            <a:extLst>
              <a:ext uri="{FF2B5EF4-FFF2-40B4-BE49-F238E27FC236}">
                <a16:creationId xmlns:a16="http://schemas.microsoft.com/office/drawing/2014/main" id="{A847D8A6-1E81-4416-955C-608099BBDF94}"/>
              </a:ext>
            </a:extLst>
          </p:cNvPr>
          <p:cNvSpPr>
            <a:spLocks noGrp="1"/>
          </p:cNvSpPr>
          <p:nvPr/>
        </p:nvSpPr>
        <p:spPr>
          <a:xfrm>
            <a:off x="723900" y="6343650"/>
            <a:ext cx="6191250" cy="247650"/>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Tree>
    <p:extLst>
      <p:ext uri="{BB962C8B-B14F-4D97-AF65-F5344CB8AC3E}">
        <p14:creationId xmlns:p14="http://schemas.microsoft.com/office/powerpoint/2010/main" val="8729015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2" name="S02-section">
            <a:extLst>
              <a:ext uri="{FF2B5EF4-FFF2-40B4-BE49-F238E27FC236}">
                <a16:creationId xmlns:a16="http://schemas.microsoft.com/office/drawing/2014/main" id="{38AF2B2F-DFDC-44CF-AFD0-A937CEF5A931}"/>
              </a:ext>
            </a:extLst>
          </p:cNvPr>
          <p:cNvSpPr>
            <a:spLocks noGrp="1"/>
          </p:cNvSpPr>
          <p:nvPr/>
        </p:nvSpPr>
        <p:spPr>
          <a:xfrm>
            <a:off x="685800" y="400050"/>
            <a:ext cx="10744200" cy="257175"/>
          </a:xfrm>
          <a:prstGeom prst="rect">
            <a:avLst/>
          </a:prstGeom>
          <a:noFill/>
          <a:ln w="0">
            <a:noFill/>
          </a:ln>
        </p:spPr>
        <p:txBody>
          <a:bodyPr wrap="none" lIns="0" tIns="0" rIns="0" bIns="0" anchor="ctr">
            <a:noAutofit/>
          </a:bodyPr>
          <a:lstStyle/>
          <a:p>
            <a:pPr>
              <a:defRPr sz="1425" b="0">
                <a:solidFill>
                  <a:srgbClr val="287D78"/>
                </a:solidFill>
                <a:latin typeface="Segoe UI"/>
                <a:ea typeface="Segoe UI"/>
                <a:cs typeface="Segoe UI"/>
              </a:defRPr>
            </a:pPr>
            <a:r>
              <a:rPr sz="1425" b="0">
                <a:solidFill>
                  <a:srgbClr val="287D78"/>
                </a:solidFill>
                <a:latin typeface="Segoe UI"/>
                <a:ea typeface="Segoe UI"/>
                <a:cs typeface="Segoe UI"/>
              </a:rPr>
              <a:t>METHOD / TWO COMPRESSION STEPS</a:t>
            </a:r>
          </a:p>
        </p:txBody>
      </p:sp>
      <p:sp>
        <p:nvSpPr>
          <p:cNvPr id="2" name="S02-title">
            <a:extLst>
              <a:ext uri="{FF2B5EF4-FFF2-40B4-BE49-F238E27FC236}">
                <a16:creationId xmlns:a16="http://schemas.microsoft.com/office/drawing/2014/main" id="{B0A18481-3748-46C8-B040-D773482F990F}"/>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From a teacher to a compact student</a:t>
            </a:r>
          </a:p>
        </p:txBody>
      </p:sp>
      <p:sp>
        <p:nvSpPr>
          <p:cNvPr id="3" name="S02-disclosure">
            <a:extLst>
              <a:ext uri="{FF2B5EF4-FFF2-40B4-BE49-F238E27FC236}">
                <a16:creationId xmlns:a16="http://schemas.microsoft.com/office/drawing/2014/main" id="{0D26C020-E687-43A2-9252-B85FDA2591D6}"/>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4" name="S02-number">
            <a:extLst>
              <a:ext uri="{FF2B5EF4-FFF2-40B4-BE49-F238E27FC236}">
                <a16:creationId xmlns:a16="http://schemas.microsoft.com/office/drawing/2014/main" id="{16C78E3E-1CEB-47EA-B53A-2BEE9C7E5285}"/>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02</a:t>
            </a:r>
          </a:p>
        </p:txBody>
      </p:sp>
      <p:sp>
        <p:nvSpPr>
          <p:cNvPr id="5" name="S02-marker-1">
            <a:extLst>
              <a:ext uri="{FF2B5EF4-FFF2-40B4-BE49-F238E27FC236}">
                <a16:creationId xmlns:a16="http://schemas.microsoft.com/office/drawing/2014/main" id="{A1CCCF3E-D131-4C6A-8EBA-BE7D30BBDCC5}"/>
              </a:ext>
            </a:extLst>
          </p:cNvPr>
          <p:cNvSpPr>
            <a:spLocks noGrp="1"/>
          </p:cNvSpPr>
          <p:nvPr/>
        </p:nvSpPr>
        <p:spPr>
          <a:xfrm>
            <a:off x="685800" y="2333625"/>
            <a:ext cx="533400" cy="533400"/>
          </a:xfrm>
          <a:prstGeom prst="ellipse">
            <a:avLst/>
          </a:prstGeom>
          <a:solidFill>
            <a:srgbClr val="E8EDE5"/>
          </a:solidFill>
          <a:ln w="0">
            <a:noFill/>
          </a:ln>
        </p:spPr>
        <p:txBody>
          <a:bodyPr lIns="0" tIns="0" rIns="0" bIns="0" anchor="ctr"/>
          <a:lstStyle/>
          <a:p>
            <a:pPr algn="ctr">
              <a:defRPr sz="1650">
                <a:solidFill>
                  <a:srgbClr val="287D78"/>
                </a:solidFill>
                <a:latin typeface="Segoe UI"/>
                <a:ea typeface="Segoe UI"/>
                <a:cs typeface="Segoe UI"/>
              </a:defRPr>
            </a:pPr>
            <a:r>
              <a:rPr sz="1650">
                <a:solidFill>
                  <a:srgbClr val="287D78"/>
                </a:solidFill>
                <a:latin typeface="Segoe UI"/>
                <a:ea typeface="Segoe UI"/>
                <a:cs typeface="Segoe UI"/>
              </a:rPr>
              <a:t>01</a:t>
            </a:r>
          </a:p>
        </p:txBody>
      </p:sp>
      <p:sp>
        <p:nvSpPr>
          <p:cNvPr id="6" name="S02-marker-2">
            <a:extLst>
              <a:ext uri="{FF2B5EF4-FFF2-40B4-BE49-F238E27FC236}">
                <a16:creationId xmlns:a16="http://schemas.microsoft.com/office/drawing/2014/main" id="{E30A7E0B-6A7F-4EB3-B049-ED9215FC7920}"/>
              </a:ext>
            </a:extLst>
          </p:cNvPr>
          <p:cNvSpPr>
            <a:spLocks noGrp="1"/>
          </p:cNvSpPr>
          <p:nvPr/>
        </p:nvSpPr>
        <p:spPr>
          <a:xfrm>
            <a:off x="4648200" y="2333625"/>
            <a:ext cx="533400" cy="533400"/>
          </a:xfrm>
          <a:prstGeom prst="ellipse">
            <a:avLst/>
          </a:prstGeom>
          <a:solidFill>
            <a:srgbClr val="E8EDE5"/>
          </a:solidFill>
          <a:ln w="0">
            <a:noFill/>
          </a:ln>
        </p:spPr>
        <p:txBody>
          <a:bodyPr lIns="0" tIns="0" rIns="0" bIns="0" anchor="ctr"/>
          <a:lstStyle/>
          <a:p>
            <a:pPr algn="ctr">
              <a:defRPr sz="1650">
                <a:solidFill>
                  <a:srgbClr val="287D78"/>
                </a:solidFill>
                <a:latin typeface="Segoe UI"/>
                <a:ea typeface="Segoe UI"/>
                <a:cs typeface="Segoe UI"/>
              </a:defRPr>
            </a:pPr>
            <a:r>
              <a:rPr sz="1650">
                <a:solidFill>
                  <a:srgbClr val="287D78"/>
                </a:solidFill>
                <a:latin typeface="Segoe UI"/>
                <a:ea typeface="Segoe UI"/>
                <a:cs typeface="Segoe UI"/>
              </a:rPr>
              <a:t>02</a:t>
            </a:r>
          </a:p>
        </p:txBody>
      </p:sp>
      <p:sp>
        <p:nvSpPr>
          <p:cNvPr id="7" name="S02-marker-3">
            <a:extLst>
              <a:ext uri="{FF2B5EF4-FFF2-40B4-BE49-F238E27FC236}">
                <a16:creationId xmlns:a16="http://schemas.microsoft.com/office/drawing/2014/main" id="{589A3122-8F0E-4C97-A5B4-3A6FE7F24859}"/>
              </a:ext>
            </a:extLst>
          </p:cNvPr>
          <p:cNvSpPr>
            <a:spLocks noGrp="1"/>
          </p:cNvSpPr>
          <p:nvPr/>
        </p:nvSpPr>
        <p:spPr>
          <a:xfrm>
            <a:off x="8610600" y="2333625"/>
            <a:ext cx="533400" cy="533400"/>
          </a:xfrm>
          <a:prstGeom prst="ellipse">
            <a:avLst/>
          </a:prstGeom>
          <a:solidFill>
            <a:srgbClr val="287D78"/>
          </a:solidFill>
          <a:ln w="0">
            <a:noFill/>
          </a:ln>
        </p:spPr>
        <p:txBody>
          <a:bodyPr lIns="0" tIns="0" rIns="0" bIns="0" anchor="ctr"/>
          <a:lstStyle/>
          <a:p>
            <a:pPr algn="ctr">
              <a:defRPr sz="1650">
                <a:solidFill>
                  <a:srgbClr val="FFFFFF"/>
                </a:solidFill>
                <a:latin typeface="Segoe UI"/>
                <a:ea typeface="Segoe UI"/>
                <a:cs typeface="Segoe UI"/>
              </a:defRPr>
            </a:pPr>
            <a:r>
              <a:rPr sz="1650">
                <a:solidFill>
                  <a:srgbClr val="FFFFFF"/>
                </a:solidFill>
                <a:latin typeface="Segoe UI"/>
                <a:ea typeface="Segoe UI"/>
                <a:cs typeface="Segoe UI"/>
              </a:rPr>
              <a:t>03</a:t>
            </a:r>
          </a:p>
        </p:txBody>
      </p:sp>
      <p:cxnSp>
        <p:nvCxnSpPr>
          <p:cNvPr id="29" name="S02-link-2"/>
          <p:cNvCxnSpPr>
            <a:stCxn id="5" idx="6"/>
            <a:endCxn id="6" idx="2"/>
          </p:cNvCxnSpPr>
          <p:nvPr/>
        </p:nvCxnSpPr>
        <p:spPr>
          <a:xfrm>
            <a:off x="1219200" y="2600325"/>
            <a:ext cx="3429000" cy="0"/>
          </a:xfrm>
          <a:prstGeom prst="straightConnector1">
            <a:avLst/>
          </a:prstGeom>
          <a:ln w="17145">
            <a:solidFill>
              <a:srgbClr val="9EADA5"/>
            </a:solidFill>
            <a:tailEnd type="triangle" w="sm" len="sm"/>
          </a:ln>
        </p:spPr>
      </p:cxnSp>
      <p:cxnSp>
        <p:nvCxnSpPr>
          <p:cNvPr id="30" name="S02-link-3"/>
          <p:cNvCxnSpPr>
            <a:stCxn id="6" idx="6"/>
            <a:endCxn id="7" idx="2"/>
          </p:cNvCxnSpPr>
          <p:nvPr/>
        </p:nvCxnSpPr>
        <p:spPr>
          <a:xfrm>
            <a:off x="5181600" y="2600325"/>
            <a:ext cx="3429000" cy="0"/>
          </a:xfrm>
          <a:prstGeom prst="straightConnector1">
            <a:avLst/>
          </a:prstGeom>
          <a:ln w="17145">
            <a:solidFill>
              <a:srgbClr val="9EADA5"/>
            </a:solidFill>
            <a:tailEnd type="triangle" w="sm" len="sm"/>
          </a:ln>
        </p:spPr>
      </p:cxnSp>
      <p:sp>
        <p:nvSpPr>
          <p:cNvPr id="10" name="S02-flow-2">
            <a:extLst>
              <a:ext uri="{FF2B5EF4-FFF2-40B4-BE49-F238E27FC236}">
                <a16:creationId xmlns:a16="http://schemas.microsoft.com/office/drawing/2014/main" id="{C3FB482B-8C3A-4AF4-9139-6144D2C21705}"/>
              </a:ext>
            </a:extLst>
          </p:cNvPr>
          <p:cNvSpPr>
            <a:spLocks noGrp="1"/>
          </p:cNvSpPr>
          <p:nvPr/>
        </p:nvSpPr>
        <p:spPr>
          <a:xfrm>
            <a:off x="1466850" y="2076450"/>
            <a:ext cx="2971800" cy="352425"/>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Prediction transfer</a:t>
            </a:r>
          </a:p>
        </p:txBody>
      </p:sp>
      <p:sp>
        <p:nvSpPr>
          <p:cNvPr id="11" name="S02-flow-3">
            <a:extLst>
              <a:ext uri="{FF2B5EF4-FFF2-40B4-BE49-F238E27FC236}">
                <a16:creationId xmlns:a16="http://schemas.microsoft.com/office/drawing/2014/main" id="{D6EC3D8F-1037-4D7D-8D4F-6F442121BDBC}"/>
              </a:ext>
            </a:extLst>
          </p:cNvPr>
          <p:cNvSpPr>
            <a:spLocks noGrp="1"/>
          </p:cNvSpPr>
          <p:nvPr/>
        </p:nvSpPr>
        <p:spPr>
          <a:xfrm>
            <a:off x="5429250" y="2076450"/>
            <a:ext cx="2971800" cy="352425"/>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Numeric conversion</a:t>
            </a:r>
          </a:p>
        </p:txBody>
      </p:sp>
      <p:sp>
        <p:nvSpPr>
          <p:cNvPr id="12" name="S02-stage-1">
            <a:extLst>
              <a:ext uri="{FF2B5EF4-FFF2-40B4-BE49-F238E27FC236}">
                <a16:creationId xmlns:a16="http://schemas.microsoft.com/office/drawing/2014/main" id="{8985360B-9721-48F9-B506-A2502A8D348A}"/>
              </a:ext>
            </a:extLst>
          </p:cNvPr>
          <p:cNvSpPr>
            <a:spLocks noGrp="1"/>
          </p:cNvSpPr>
          <p:nvPr/>
        </p:nvSpPr>
        <p:spPr>
          <a:xfrm>
            <a:off x="685800" y="3152775"/>
            <a:ext cx="3181350" cy="457200"/>
          </a:xfrm>
          <a:prstGeom prst="rect">
            <a:avLst/>
          </a:prstGeom>
          <a:noFill/>
          <a:ln w="0">
            <a:noFill/>
          </a:ln>
        </p:spPr>
        <p:txBody>
          <a:bodyPr wrap="none" lIns="0" tIns="0" rIns="0" bIns="0" anchor="ctr">
            <a:noAutofit/>
          </a:bodyPr>
          <a:lstStyle/>
          <a:p>
            <a:pPr>
              <a:defRPr sz="2250" b="0">
                <a:solidFill>
                  <a:srgbClr val="1E302F"/>
                </a:solidFill>
                <a:latin typeface="Segoe UI"/>
                <a:ea typeface="Segoe UI"/>
                <a:cs typeface="Segoe UI"/>
              </a:defRPr>
            </a:pPr>
            <a:r>
              <a:rPr sz="2250" b="0">
                <a:solidFill>
                  <a:srgbClr val="1E302F"/>
                </a:solidFill>
                <a:latin typeface="Segoe UI"/>
                <a:ea typeface="Segoe UI"/>
                <a:cs typeface="Segoe UI"/>
              </a:rPr>
              <a:t>Baseline</a:t>
            </a:r>
          </a:p>
        </p:txBody>
      </p:sp>
      <p:sp>
        <p:nvSpPr>
          <p:cNvPr id="13" name="S02-name-1">
            <a:extLst>
              <a:ext uri="{FF2B5EF4-FFF2-40B4-BE49-F238E27FC236}">
                <a16:creationId xmlns:a16="http://schemas.microsoft.com/office/drawing/2014/main" id="{95049510-C349-4929-8584-5DBC90F89AA2}"/>
              </a:ext>
            </a:extLst>
          </p:cNvPr>
          <p:cNvSpPr>
            <a:spLocks noGrp="1"/>
          </p:cNvSpPr>
          <p:nvPr/>
        </p:nvSpPr>
        <p:spPr>
          <a:xfrm>
            <a:off x="6858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Segoe UI"/>
                <a:ea typeface="Segoe UI"/>
                <a:cs typeface="Segoe UI"/>
              </a:defRPr>
            </a:pPr>
            <a:r>
              <a:rPr sz="1575" b="0">
                <a:solidFill>
                  <a:srgbClr val="287D78"/>
                </a:solidFill>
                <a:latin typeface="Segoe UI"/>
                <a:ea typeface="Segoe UI"/>
                <a:cs typeface="Segoe UI"/>
              </a:rPr>
              <a:t>baseline</a:t>
            </a:r>
          </a:p>
        </p:txBody>
      </p:sp>
      <p:sp>
        <p:nvSpPr>
          <p:cNvPr id="14" name="S02-detail-1">
            <a:extLst>
              <a:ext uri="{FF2B5EF4-FFF2-40B4-BE49-F238E27FC236}">
                <a16:creationId xmlns:a16="http://schemas.microsoft.com/office/drawing/2014/main" id="{125424C2-44BA-44FE-848B-84FD7909F3D1}"/>
              </a:ext>
            </a:extLst>
          </p:cNvPr>
          <p:cNvSpPr>
            <a:spLocks noGrp="1"/>
          </p:cNvSpPr>
          <p:nvPr/>
        </p:nvSpPr>
        <p:spPr>
          <a:xfrm>
            <a:off x="685800" y="4295775"/>
            <a:ext cx="3181350" cy="771525"/>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The reference model</a:t>
            </a:r>
          </a:p>
          <a:p>
            <a:pPr>
              <a:defRPr sz="1800" b="0">
                <a:solidFill>
                  <a:srgbClr val="586C68"/>
                </a:solidFill>
                <a:latin typeface="Segoe UI"/>
                <a:ea typeface="Segoe UI"/>
                <a:cs typeface="Segoe UI"/>
              </a:defRPr>
            </a:pPr>
            <a:r>
              <a:rPr sz="1800" b="0">
                <a:solidFill>
                  <a:srgbClr val="586C68"/>
                </a:solidFill>
                <a:latin typeface="Segoe UI"/>
                <a:ea typeface="Segoe UI"/>
                <a:cs typeface="Segoe UI"/>
              </a:rPr>
              <a:t>serves as the teacher.</a:t>
            </a:r>
          </a:p>
        </p:txBody>
      </p:sp>
      <p:sp>
        <p:nvSpPr>
          <p:cNvPr id="15" name="S02-stage-2">
            <a:extLst>
              <a:ext uri="{FF2B5EF4-FFF2-40B4-BE49-F238E27FC236}">
                <a16:creationId xmlns:a16="http://schemas.microsoft.com/office/drawing/2014/main" id="{E5F9886C-E7E3-4633-A958-E5212F8E5317}"/>
              </a:ext>
            </a:extLst>
          </p:cNvPr>
          <p:cNvSpPr>
            <a:spLocks noGrp="1"/>
          </p:cNvSpPr>
          <p:nvPr/>
        </p:nvSpPr>
        <p:spPr>
          <a:xfrm>
            <a:off x="4648200" y="3152775"/>
            <a:ext cx="3181350" cy="457200"/>
          </a:xfrm>
          <a:prstGeom prst="rect">
            <a:avLst/>
          </a:prstGeom>
          <a:noFill/>
          <a:ln w="0">
            <a:noFill/>
          </a:ln>
        </p:spPr>
        <p:txBody>
          <a:bodyPr wrap="none" lIns="0" tIns="0" rIns="0" bIns="0" anchor="ctr">
            <a:noAutofit/>
          </a:bodyPr>
          <a:lstStyle/>
          <a:p>
            <a:pPr>
              <a:defRPr sz="2250" b="0">
                <a:solidFill>
                  <a:srgbClr val="1E302F"/>
                </a:solidFill>
                <a:latin typeface="Segoe UI"/>
                <a:ea typeface="Segoe UI"/>
                <a:cs typeface="Segoe UI"/>
              </a:defRPr>
            </a:pPr>
            <a:r>
              <a:rPr sz="2250" b="0">
                <a:solidFill>
                  <a:srgbClr val="1E302F"/>
                </a:solidFill>
                <a:latin typeface="Segoe UI"/>
                <a:ea typeface="Segoe UI"/>
                <a:cs typeface="Segoe UI"/>
              </a:rPr>
              <a:t>Distillation</a:t>
            </a:r>
          </a:p>
        </p:txBody>
      </p:sp>
      <p:sp>
        <p:nvSpPr>
          <p:cNvPr id="16" name="S02-name-2">
            <a:extLst>
              <a:ext uri="{FF2B5EF4-FFF2-40B4-BE49-F238E27FC236}">
                <a16:creationId xmlns:a16="http://schemas.microsoft.com/office/drawing/2014/main" id="{8E293791-745A-4D99-A079-03922D0FDB19}"/>
              </a:ext>
            </a:extLst>
          </p:cNvPr>
          <p:cNvSpPr>
            <a:spLocks noGrp="1"/>
          </p:cNvSpPr>
          <p:nvPr/>
        </p:nvSpPr>
        <p:spPr>
          <a:xfrm>
            <a:off x="46482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Segoe UI"/>
                <a:ea typeface="Segoe UI"/>
                <a:cs typeface="Segoe UI"/>
              </a:defRPr>
            </a:pPr>
            <a:r>
              <a:rPr sz="1575" b="0">
                <a:solidFill>
                  <a:srgbClr val="287D78"/>
                </a:solidFill>
                <a:latin typeface="Segoe UI"/>
                <a:ea typeface="Segoe UI"/>
                <a:cs typeface="Segoe UI"/>
              </a:rPr>
              <a:t>distilled</a:t>
            </a:r>
          </a:p>
        </p:txBody>
      </p:sp>
      <p:sp>
        <p:nvSpPr>
          <p:cNvPr id="17" name="S02-detail-2">
            <a:extLst>
              <a:ext uri="{FF2B5EF4-FFF2-40B4-BE49-F238E27FC236}">
                <a16:creationId xmlns:a16="http://schemas.microsoft.com/office/drawing/2014/main" id="{83CF5FE0-4AD3-4D18-9AFA-7920E8EF220E}"/>
              </a:ext>
            </a:extLst>
          </p:cNvPr>
          <p:cNvSpPr>
            <a:spLocks noGrp="1"/>
          </p:cNvSpPr>
          <p:nvPr/>
        </p:nvSpPr>
        <p:spPr>
          <a:xfrm>
            <a:off x="4648200" y="4295775"/>
            <a:ext cx="3181350" cy="771525"/>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A smaller student learns</a:t>
            </a:r>
          </a:p>
          <a:p>
            <a:pPr>
              <a:defRPr sz="1800" b="0">
                <a:solidFill>
                  <a:srgbClr val="586C68"/>
                </a:solidFill>
                <a:latin typeface="Segoe UI"/>
                <a:ea typeface="Segoe UI"/>
                <a:cs typeface="Segoe UI"/>
              </a:defRPr>
            </a:pPr>
            <a:r>
              <a:rPr sz="1800" b="0">
                <a:solidFill>
                  <a:srgbClr val="586C68"/>
                </a:solidFill>
                <a:latin typeface="Segoe UI"/>
                <a:ea typeface="Segoe UI"/>
                <a:cs typeface="Segoe UI"/>
              </a:rPr>
              <a:t>from teacher predictions.</a:t>
            </a:r>
          </a:p>
        </p:txBody>
      </p:sp>
      <p:sp>
        <p:nvSpPr>
          <p:cNvPr id="18" name="S02-stage-3">
            <a:extLst>
              <a:ext uri="{FF2B5EF4-FFF2-40B4-BE49-F238E27FC236}">
                <a16:creationId xmlns:a16="http://schemas.microsoft.com/office/drawing/2014/main" id="{7DF34022-0808-4707-8EB5-EE5830F647D9}"/>
              </a:ext>
            </a:extLst>
          </p:cNvPr>
          <p:cNvSpPr>
            <a:spLocks noGrp="1"/>
          </p:cNvSpPr>
          <p:nvPr/>
        </p:nvSpPr>
        <p:spPr>
          <a:xfrm>
            <a:off x="8610600" y="3152775"/>
            <a:ext cx="3181350" cy="457200"/>
          </a:xfrm>
          <a:prstGeom prst="rect">
            <a:avLst/>
          </a:prstGeom>
          <a:noFill/>
          <a:ln w="0">
            <a:noFill/>
          </a:ln>
        </p:spPr>
        <p:txBody>
          <a:bodyPr wrap="none" lIns="0" tIns="0" rIns="0" bIns="0" anchor="ctr">
            <a:noAutofit/>
          </a:bodyPr>
          <a:lstStyle/>
          <a:p>
            <a:pPr>
              <a:defRPr sz="2250" b="0">
                <a:solidFill>
                  <a:srgbClr val="1E302F"/>
                </a:solidFill>
                <a:latin typeface="Segoe UI"/>
                <a:ea typeface="Segoe UI"/>
                <a:cs typeface="Segoe UI"/>
              </a:defRPr>
            </a:pPr>
            <a:r>
              <a:rPr sz="2250" b="0">
                <a:solidFill>
                  <a:srgbClr val="1E302F"/>
                </a:solidFill>
                <a:latin typeface="Segoe UI"/>
                <a:ea typeface="Segoe UI"/>
                <a:cs typeface="Segoe UI"/>
              </a:rPr>
              <a:t>INT8 quantization</a:t>
            </a:r>
          </a:p>
        </p:txBody>
      </p:sp>
      <p:sp>
        <p:nvSpPr>
          <p:cNvPr id="19" name="S02-name-3">
            <a:extLst>
              <a:ext uri="{FF2B5EF4-FFF2-40B4-BE49-F238E27FC236}">
                <a16:creationId xmlns:a16="http://schemas.microsoft.com/office/drawing/2014/main" id="{636C148B-A2F9-4F48-A1EE-72E6A939F67A}"/>
              </a:ext>
            </a:extLst>
          </p:cNvPr>
          <p:cNvSpPr>
            <a:spLocks noGrp="1"/>
          </p:cNvSpPr>
          <p:nvPr/>
        </p:nvSpPr>
        <p:spPr>
          <a:xfrm>
            <a:off x="86106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Segoe UI"/>
                <a:ea typeface="Segoe UI"/>
                <a:cs typeface="Segoe UI"/>
              </a:defRPr>
            </a:pPr>
            <a:r>
              <a:rPr sz="1575" b="0">
                <a:solidFill>
                  <a:srgbClr val="287D78"/>
                </a:solidFill>
                <a:latin typeface="Segoe UI"/>
                <a:ea typeface="Segoe UI"/>
                <a:cs typeface="Segoe UI"/>
              </a:rPr>
              <a:t>int8</a:t>
            </a:r>
          </a:p>
        </p:txBody>
      </p:sp>
      <p:sp>
        <p:nvSpPr>
          <p:cNvPr id="20" name="S02-detail-3">
            <a:extLst>
              <a:ext uri="{FF2B5EF4-FFF2-40B4-BE49-F238E27FC236}">
                <a16:creationId xmlns:a16="http://schemas.microsoft.com/office/drawing/2014/main" id="{EA4199E6-94C7-46AF-BBBF-B1A92E9459A7}"/>
              </a:ext>
            </a:extLst>
          </p:cNvPr>
          <p:cNvSpPr>
            <a:spLocks noGrp="1"/>
          </p:cNvSpPr>
          <p:nvPr/>
        </p:nvSpPr>
        <p:spPr>
          <a:xfrm>
            <a:off x="8610600" y="4295775"/>
            <a:ext cx="3181350" cy="771525"/>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Represent student numbers</a:t>
            </a:r>
          </a:p>
          <a:p>
            <a:pPr>
              <a:defRPr sz="1800" b="0">
                <a:solidFill>
                  <a:srgbClr val="586C68"/>
                </a:solidFill>
                <a:latin typeface="Segoe UI"/>
                <a:ea typeface="Segoe UI"/>
                <a:cs typeface="Segoe UI"/>
              </a:defRPr>
            </a:pPr>
            <a:r>
              <a:rPr sz="1800" b="0">
                <a:solidFill>
                  <a:srgbClr val="586C68"/>
                </a:solidFill>
                <a:latin typeface="Segoe UI"/>
                <a:ea typeface="Segoe UI"/>
                <a:cs typeface="Segoe UI"/>
              </a:rPr>
              <a:t>as 8-bit integers.</a:t>
            </a:r>
          </a:p>
        </p:txBody>
      </p:sp>
      <p:sp>
        <p:nvSpPr>
          <p:cNvPr id="21" name="S02-caveat">
            <a:extLst>
              <a:ext uri="{FF2B5EF4-FFF2-40B4-BE49-F238E27FC236}">
                <a16:creationId xmlns:a16="http://schemas.microsoft.com/office/drawing/2014/main" id="{C57FDE32-D10D-4606-886B-C68F08802B4B}"/>
              </a:ext>
            </a:extLst>
          </p:cNvPr>
          <p:cNvSpPr>
            <a:spLocks noGrp="1"/>
          </p:cNvSpPr>
          <p:nvPr/>
        </p:nvSpPr>
        <p:spPr>
          <a:xfrm>
            <a:off x="685800" y="5657850"/>
            <a:ext cx="10820400" cy="361950"/>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Conceptual workflow. Architecture and quantization scope are unspecified.</a:t>
            </a:r>
          </a:p>
        </p:txBody>
      </p:sp>
    </p:spTree>
    <p:extLst>
      <p:ext uri="{BB962C8B-B14F-4D97-AF65-F5344CB8AC3E}">
        <p14:creationId xmlns:p14="http://schemas.microsoft.com/office/powerpoint/2010/main" val="1999575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350"/>
                                        <p:tgtEl>
                                          <p:spTgt spid="2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35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35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5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350"/>
                                        <p:tgtEl>
                                          <p:spTgt spid="7"/>
                                        </p:tgtEl>
                                      </p:cBhvr>
                                    </p:animEffect>
                                  </p:childTnLst>
                                </p:cTn>
                              </p:par>
                              <p:par>
                                <p:cTn id="28" presetID="10" presetClass="entr" presetSubtype="0" fill="hold"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350"/>
                                        <p:tgtEl>
                                          <p:spTgt spid="3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35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3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3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p:bldP spid="11" grpId="0"/>
      <p:bldP spid="15" grpId="0"/>
      <p:bldP spid="16" grpId="0"/>
      <p:bldP spid="17" grpId="0"/>
      <p:bldP spid="18" grpId="0"/>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9" name="S03-section">
            <a:extLst>
              <a:ext uri="{FF2B5EF4-FFF2-40B4-BE49-F238E27FC236}">
                <a16:creationId xmlns:a16="http://schemas.microsoft.com/office/drawing/2014/main" id="{533610C8-20CD-4FFE-B28E-BAD1925CE24F}"/>
              </a:ext>
            </a:extLst>
          </p:cNvPr>
          <p:cNvSpPr>
            <a:spLocks noGrp="1"/>
          </p:cNvSpPr>
          <p:nvPr/>
        </p:nvSpPr>
        <p:spPr>
          <a:xfrm>
            <a:off x="685800" y="400050"/>
            <a:ext cx="10744200" cy="257175"/>
          </a:xfrm>
          <a:prstGeom prst="rect">
            <a:avLst/>
          </a:prstGeom>
          <a:noFill/>
          <a:ln w="0">
            <a:noFill/>
          </a:ln>
        </p:spPr>
        <p:txBody>
          <a:bodyPr wrap="none" lIns="0" tIns="0" rIns="0" bIns="0" anchor="ctr">
            <a:noAutofit/>
          </a:bodyPr>
          <a:lstStyle/>
          <a:p>
            <a:pPr>
              <a:defRPr sz="1425" b="0">
                <a:solidFill>
                  <a:srgbClr val="287D78"/>
                </a:solidFill>
                <a:latin typeface="Segoe UI"/>
                <a:ea typeface="Segoe UI"/>
                <a:cs typeface="Segoe UI"/>
              </a:defRPr>
            </a:pPr>
            <a:r>
              <a:rPr sz="1425" b="0">
                <a:solidFill>
                  <a:srgbClr val="287D78"/>
                </a:solidFill>
                <a:latin typeface="Segoe UI"/>
                <a:ea typeface="Segoe UI"/>
                <a:cs typeface="Segoe UI"/>
              </a:rPr>
              <a:t>EVIDENCE / FICTIONAL COMPARISON</a:t>
            </a:r>
          </a:p>
        </p:txBody>
      </p:sp>
      <p:sp>
        <p:nvSpPr>
          <p:cNvPr id="2" name="S03-title">
            <a:extLst>
              <a:ext uri="{FF2B5EF4-FFF2-40B4-BE49-F238E27FC236}">
                <a16:creationId xmlns:a16="http://schemas.microsoft.com/office/drawing/2014/main" id="{CE70BED3-63C0-4CDA-8B29-D663C34D27C9}"/>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Three models. One shared comparison.</a:t>
            </a:r>
          </a:p>
        </p:txBody>
      </p:sp>
      <p:sp>
        <p:nvSpPr>
          <p:cNvPr id="3" name="S03-disclosure">
            <a:extLst>
              <a:ext uri="{FF2B5EF4-FFF2-40B4-BE49-F238E27FC236}">
                <a16:creationId xmlns:a16="http://schemas.microsoft.com/office/drawing/2014/main" id="{58292DC1-2B05-42C8-A46E-08495A59EBFA}"/>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4" name="S03-number">
            <a:extLst>
              <a:ext uri="{FF2B5EF4-FFF2-40B4-BE49-F238E27FC236}">
                <a16:creationId xmlns:a16="http://schemas.microsoft.com/office/drawing/2014/main" id="{2A831829-C4C5-4502-AA30-B5947112B1A9}"/>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03</a:t>
            </a:r>
          </a:p>
        </p:txBody>
      </p:sp>
      <p:sp>
        <p:nvSpPr>
          <p:cNvPr id="5" name="S03-direction">
            <a:extLst>
              <a:ext uri="{FF2B5EF4-FFF2-40B4-BE49-F238E27FC236}">
                <a16:creationId xmlns:a16="http://schemas.microsoft.com/office/drawing/2014/main" id="{5F860A98-9107-4FD4-958D-C1FFF623BA7B}"/>
              </a:ext>
            </a:extLst>
          </p:cNvPr>
          <p:cNvSpPr>
            <a:spLocks noGrp="1"/>
          </p:cNvSpPr>
          <p:nvPr/>
        </p:nvSpPr>
        <p:spPr>
          <a:xfrm>
            <a:off x="685800" y="1628775"/>
            <a:ext cx="10820400" cy="38100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Lower latency and size are better; higher F1 is better.</a:t>
            </a:r>
          </a:p>
        </p:txBody>
      </p:sp>
      <p:graphicFrame>
        <p:nvGraphicFramePr>
          <p:cNvPr id="14" name="표 13"/>
          <p:cNvGraphicFramePr/>
          <p:nvPr/>
        </p:nvGraphicFramePr>
        <p:xfrm>
          <a:off x="609600" y="2314575"/>
          <a:ext cx="10972800" cy="2857500"/>
        </p:xfrm>
        <a:graphic>
          <a:graphicData uri="http://schemas.openxmlformats.org/drawingml/2006/table">
            <a:tbl>
              <a:tblPr/>
              <a:tblGrid>
                <a:gridCol w="34290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209800">
                  <a:extLst>
                    <a:ext uri="{9D8B030D-6E8A-4147-A177-3AD203B41FA5}">
                      <a16:colId xmlns:a16="http://schemas.microsoft.com/office/drawing/2014/main" val="20002"/>
                    </a:ext>
                  </a:extLst>
                </a:gridCol>
                <a:gridCol w="2667000">
                  <a:extLst>
                    <a:ext uri="{9D8B030D-6E8A-4147-A177-3AD203B41FA5}">
                      <a16:colId xmlns:a16="http://schemas.microsoft.com/office/drawing/2014/main" val="20003"/>
                    </a:ext>
                  </a:extLst>
                </a:gridCol>
              </a:tblGrid>
              <a:tr h="714375">
                <a:tc>
                  <a:txBody>
                    <a:bodyPr/>
                    <a:lstStyle/>
                    <a:p>
                      <a:pPr algn="l"/>
                      <a:r>
                        <a:rPr sz="1800" b="0">
                          <a:solidFill>
                            <a:srgbClr val="586C68"/>
                          </a:solidFill>
                          <a:latin typeface="Segoe UI"/>
                          <a:ea typeface="Segoe UI"/>
                          <a:cs typeface="Segoe UI"/>
                        </a:rPr>
                        <a:t>Model</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Latency (ms)</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F1</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Size (MB)</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0"/>
                  </a:ext>
                </a:extLst>
              </a:tr>
              <a:tr h="714375">
                <a:tc>
                  <a:txBody>
                    <a:bodyPr/>
                    <a:lstStyle/>
                    <a:p>
                      <a:pPr algn="l"/>
                      <a:r>
                        <a:rPr sz="2400" b="0">
                          <a:solidFill>
                            <a:srgbClr val="1E302F"/>
                          </a:solidFill>
                          <a:latin typeface="Segoe UI"/>
                          <a:ea typeface="Segoe UI"/>
                          <a:cs typeface="Segoe UI"/>
                        </a:rPr>
                        <a:t>baseline</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120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0.910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48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1"/>
                  </a:ext>
                </a:extLst>
              </a:tr>
              <a:tr h="714375">
                <a:tc>
                  <a:txBody>
                    <a:bodyPr/>
                    <a:lstStyle/>
                    <a:p>
                      <a:pPr algn="l"/>
                      <a:r>
                        <a:rPr sz="2400" b="0">
                          <a:solidFill>
                            <a:srgbClr val="1E302F"/>
                          </a:solidFill>
                          <a:latin typeface="Segoe UI"/>
                          <a:ea typeface="Segoe UI"/>
                          <a:cs typeface="Segoe UI"/>
                        </a:rPr>
                        <a:t>distilled</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72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0.902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2"/>
                  </a:ext>
                </a:extLst>
              </a:tr>
              <a:tr h="714375">
                <a:tc>
                  <a:txBody>
                    <a:bodyPr/>
                    <a:lstStyle/>
                    <a:p>
                      <a:pPr algn="l"/>
                      <a:r>
                        <a:rPr sz="2400" b="0">
                          <a:solidFill>
                            <a:srgbClr val="287D78"/>
                          </a:solidFill>
                          <a:latin typeface="Segoe UI"/>
                          <a:ea typeface="Segoe UI"/>
                          <a:cs typeface="Segoe UI"/>
                        </a:rPr>
                        <a:t>int8</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Segoe UI"/>
                          <a:ea typeface="Segoe UI"/>
                          <a:cs typeface="Segoe UI"/>
                        </a:rPr>
                        <a:t>54</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Segoe UI"/>
                          <a:ea typeface="Segoe UI"/>
                          <a:cs typeface="Segoe UI"/>
                        </a:rPr>
                        <a:t>0.896</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Segoe UI"/>
                          <a:ea typeface="Segoe UI"/>
                          <a:cs typeface="Segoe UI"/>
                        </a:rPr>
                        <a:t>12</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extLst>
                  <a:ext uri="{0D108BD9-81ED-4DB2-BD59-A6C34878D82A}">
                    <a16:rowId xmlns:a16="http://schemas.microsoft.com/office/drawing/2014/main" val="10003"/>
                  </a:ext>
                </a:extLst>
              </a:tr>
            </a:tbl>
          </a:graphicData>
        </a:graphic>
      </p:graphicFrame>
      <p:sp>
        <p:nvSpPr>
          <p:cNvPr id="7" name="S03-header-rule">
            <a:extLst>
              <a:ext uri="{FF2B5EF4-FFF2-40B4-BE49-F238E27FC236}">
                <a16:creationId xmlns:a16="http://schemas.microsoft.com/office/drawing/2014/main" id="{4F4933A8-7935-4902-85C4-E8CFE5886EB0}"/>
              </a:ext>
            </a:extLst>
          </p:cNvPr>
          <p:cNvSpPr>
            <a:spLocks noGrp="1"/>
          </p:cNvSpPr>
          <p:nvPr/>
        </p:nvSpPr>
        <p:spPr>
          <a:xfrm>
            <a:off x="685800" y="3028950"/>
            <a:ext cx="10820400" cy="0"/>
          </a:xfrm>
          <a:prstGeom prst="line">
            <a:avLst/>
          </a:prstGeom>
          <a:ln w="9525">
            <a:solidFill>
              <a:srgbClr val="CFD8D1"/>
            </a:solidFill>
          </a:ln>
        </p:spPr>
      </p:sp>
      <p:sp>
        <p:nvSpPr>
          <p:cNvPr id="8" name="S03-limit">
            <a:extLst>
              <a:ext uri="{FF2B5EF4-FFF2-40B4-BE49-F238E27FC236}">
                <a16:creationId xmlns:a16="http://schemas.microsoft.com/office/drawing/2014/main" id="{B6827B90-3AF9-4418-89BF-646D006B2760}"/>
              </a:ext>
            </a:extLst>
          </p:cNvPr>
          <p:cNvSpPr>
            <a:spLocks noGrp="1"/>
          </p:cNvSpPr>
          <p:nvPr/>
        </p:nvSpPr>
        <p:spPr>
          <a:xfrm>
            <a:off x="685800" y="5619750"/>
            <a:ext cx="10820400" cy="400050"/>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Same device and data assumed. Sample count, variance and dataset are unspecified.</a:t>
            </a:r>
          </a:p>
        </p:txBody>
      </p:sp>
    </p:spTree>
    <p:extLst>
      <p:ext uri="{BB962C8B-B14F-4D97-AF65-F5344CB8AC3E}">
        <p14:creationId xmlns:p14="http://schemas.microsoft.com/office/powerpoint/2010/main" val="1011031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7" name="S04-section">
            <a:extLst>
              <a:ext uri="{FF2B5EF4-FFF2-40B4-BE49-F238E27FC236}">
                <a16:creationId xmlns:a16="http://schemas.microsoft.com/office/drawing/2014/main" id="{BC636639-B28F-4A01-9CE4-2ADE76FFCFCA}"/>
              </a:ext>
            </a:extLst>
          </p:cNvPr>
          <p:cNvSpPr>
            <a:spLocks noGrp="1"/>
          </p:cNvSpPr>
          <p:nvPr/>
        </p:nvSpPr>
        <p:spPr>
          <a:xfrm>
            <a:off x="685800" y="400050"/>
            <a:ext cx="10744200" cy="257175"/>
          </a:xfrm>
          <a:prstGeom prst="rect">
            <a:avLst/>
          </a:prstGeom>
          <a:noFill/>
          <a:ln w="0">
            <a:noFill/>
          </a:ln>
        </p:spPr>
        <p:txBody>
          <a:bodyPr wrap="none" lIns="0" tIns="0" rIns="0" bIns="0" anchor="ctr">
            <a:noAutofit/>
          </a:bodyPr>
          <a:lstStyle/>
          <a:p>
            <a:pPr>
              <a:defRPr sz="1425" b="0">
                <a:solidFill>
                  <a:srgbClr val="287D78"/>
                </a:solidFill>
                <a:latin typeface="Segoe UI"/>
                <a:ea typeface="Segoe UI"/>
                <a:cs typeface="Segoe UI"/>
              </a:defRPr>
            </a:pPr>
            <a:r>
              <a:rPr sz="1425" b="0">
                <a:solidFill>
                  <a:srgbClr val="287D78"/>
                </a:solidFill>
                <a:latin typeface="Segoe UI"/>
                <a:ea typeface="Segoe UI"/>
                <a:cs typeface="Segoe UI"/>
              </a:rPr>
              <a:t>RESULT / BASELINE TO INT8</a:t>
            </a:r>
          </a:p>
        </p:txBody>
      </p:sp>
      <p:sp>
        <p:nvSpPr>
          <p:cNvPr id="2" name="S04-title">
            <a:extLst>
              <a:ext uri="{FF2B5EF4-FFF2-40B4-BE49-F238E27FC236}">
                <a16:creationId xmlns:a16="http://schemas.microsoft.com/office/drawing/2014/main" id="{F2711B63-5182-4F65-BEE2-70658FD0BC1E}"/>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Lower latency, lower F1</a:t>
            </a:r>
          </a:p>
        </p:txBody>
      </p:sp>
      <p:sp>
        <p:nvSpPr>
          <p:cNvPr id="3" name="S04-disclosure">
            <a:extLst>
              <a:ext uri="{FF2B5EF4-FFF2-40B4-BE49-F238E27FC236}">
                <a16:creationId xmlns:a16="http://schemas.microsoft.com/office/drawing/2014/main" id="{1169E09D-882C-428B-B46C-44A8F3BC6EE5}"/>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4" name="S04-number">
            <a:extLst>
              <a:ext uri="{FF2B5EF4-FFF2-40B4-BE49-F238E27FC236}">
                <a16:creationId xmlns:a16="http://schemas.microsoft.com/office/drawing/2014/main" id="{20447F9E-9B5C-4ACF-8067-BE987339E42F}"/>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04</a:t>
            </a:r>
          </a:p>
        </p:txBody>
      </p:sp>
      <p:sp>
        <p:nvSpPr>
          <p:cNvPr id="5" name="S04-chart-unit">
            <a:extLst>
              <a:ext uri="{FF2B5EF4-FFF2-40B4-BE49-F238E27FC236}">
                <a16:creationId xmlns:a16="http://schemas.microsoft.com/office/drawing/2014/main" id="{E36052B5-A6F9-4623-8165-C8AFF2552BD9}"/>
              </a:ext>
            </a:extLst>
          </p:cNvPr>
          <p:cNvSpPr>
            <a:spLocks noGrp="1"/>
          </p:cNvSpPr>
          <p:nvPr/>
        </p:nvSpPr>
        <p:spPr>
          <a:xfrm>
            <a:off x="685800" y="1828800"/>
            <a:ext cx="6000750" cy="352425"/>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Latency (ms)</a:t>
            </a:r>
          </a:p>
        </p:txBody>
      </p:sp>
      <p:graphicFrame>
        <p:nvGraphicFramePr>
          <p:cNvPr id="22" name="Chart"/>
          <p:cNvGraphicFramePr/>
          <p:nvPr/>
        </p:nvGraphicFramePr>
        <p:xfrm>
          <a:off x="552450" y="2343150"/>
          <a:ext cx="6810375" cy="2857500"/>
        </p:xfrm>
        <a:graphic>
          <a:graphicData uri="http://schemas.openxmlformats.org/drawingml/2006/chart">
            <c:chart xmlns:c="http://schemas.openxmlformats.org/drawingml/2006/chart" xmlns:r="http://schemas.openxmlformats.org/officeDocument/2006/relationships" r:id="rId3"/>
          </a:graphicData>
        </a:graphic>
      </p:graphicFrame>
      <p:sp>
        <p:nvSpPr>
          <p:cNvPr id="7" name="S04-latency">
            <a:extLst>
              <a:ext uri="{FF2B5EF4-FFF2-40B4-BE49-F238E27FC236}">
                <a16:creationId xmlns:a16="http://schemas.microsoft.com/office/drawing/2014/main" id="{D51546B4-1D7A-4253-87A8-B3272307B943}"/>
              </a:ext>
            </a:extLst>
          </p:cNvPr>
          <p:cNvSpPr>
            <a:spLocks noGrp="1"/>
          </p:cNvSpPr>
          <p:nvPr/>
        </p:nvSpPr>
        <p:spPr>
          <a:xfrm>
            <a:off x="8058150" y="1885950"/>
            <a:ext cx="3276600" cy="809625"/>
          </a:xfrm>
          <a:prstGeom prst="rect">
            <a:avLst/>
          </a:prstGeom>
          <a:noFill/>
          <a:ln w="0">
            <a:noFill/>
          </a:ln>
        </p:spPr>
        <p:txBody>
          <a:bodyPr wrap="none" lIns="0" tIns="0" rIns="0" bIns="0" anchor="ctr">
            <a:noAutofit/>
          </a:bodyPr>
          <a:lstStyle/>
          <a:p>
            <a:pPr>
              <a:defRPr sz="5325" b="0">
                <a:solidFill>
                  <a:srgbClr val="287D78"/>
                </a:solidFill>
                <a:latin typeface="Segoe UI"/>
                <a:ea typeface="Segoe UI"/>
                <a:cs typeface="Segoe UI"/>
              </a:defRPr>
            </a:pPr>
            <a:r>
              <a:rPr sz="5325" b="0">
                <a:solidFill>
                  <a:srgbClr val="287D78"/>
                </a:solidFill>
                <a:latin typeface="Segoe UI"/>
                <a:ea typeface="Segoe UI"/>
                <a:cs typeface="Segoe UI"/>
              </a:rPr>
              <a:t>55%</a:t>
            </a:r>
          </a:p>
        </p:txBody>
      </p:sp>
      <p:sp>
        <p:nvSpPr>
          <p:cNvPr id="8" name="S04-latency-label">
            <a:extLst>
              <a:ext uri="{FF2B5EF4-FFF2-40B4-BE49-F238E27FC236}">
                <a16:creationId xmlns:a16="http://schemas.microsoft.com/office/drawing/2014/main" id="{7AF19377-FAD8-4B0E-84D6-C88DC070BAA3}"/>
              </a:ext>
            </a:extLst>
          </p:cNvPr>
          <p:cNvSpPr>
            <a:spLocks noGrp="1"/>
          </p:cNvSpPr>
          <p:nvPr/>
        </p:nvSpPr>
        <p:spPr>
          <a:xfrm>
            <a:off x="8058150" y="2714625"/>
            <a:ext cx="3448050" cy="342900"/>
          </a:xfrm>
          <a:prstGeom prst="rect">
            <a:avLst/>
          </a:prstGeom>
          <a:noFill/>
          <a:ln w="0">
            <a:noFill/>
          </a:ln>
        </p:spPr>
        <p:txBody>
          <a:bodyPr wrap="none" lIns="0" tIns="0" rIns="0" bIns="0" anchor="ctr">
            <a:noAutofit/>
          </a:bodyPr>
          <a:lstStyle/>
          <a:p>
            <a:pPr>
              <a:defRPr sz="1725" b="0">
                <a:solidFill>
                  <a:srgbClr val="586C68"/>
                </a:solidFill>
                <a:latin typeface="Segoe UI"/>
                <a:ea typeface="Segoe UI"/>
                <a:cs typeface="Segoe UI"/>
              </a:defRPr>
            </a:pPr>
            <a:r>
              <a:rPr sz="1725" b="0">
                <a:solidFill>
                  <a:srgbClr val="586C68"/>
                </a:solidFill>
                <a:latin typeface="Segoe UI"/>
                <a:ea typeface="Segoe UI"/>
                <a:cs typeface="Segoe UI"/>
              </a:rPr>
              <a:t>lower latency · 120 → 54 ms</a:t>
            </a:r>
          </a:p>
        </p:txBody>
      </p:sp>
      <p:sp>
        <p:nvSpPr>
          <p:cNvPr id="9" name="S04-size">
            <a:extLst>
              <a:ext uri="{FF2B5EF4-FFF2-40B4-BE49-F238E27FC236}">
                <a16:creationId xmlns:a16="http://schemas.microsoft.com/office/drawing/2014/main" id="{E86F22F7-99DC-49C0-8EA3-1C600B671779}"/>
              </a:ext>
            </a:extLst>
          </p:cNvPr>
          <p:cNvSpPr>
            <a:spLocks noGrp="1"/>
          </p:cNvSpPr>
          <p:nvPr/>
        </p:nvSpPr>
        <p:spPr>
          <a:xfrm>
            <a:off x="8058150" y="3352800"/>
            <a:ext cx="1524000" cy="647700"/>
          </a:xfrm>
          <a:prstGeom prst="rect">
            <a:avLst/>
          </a:prstGeom>
          <a:noFill/>
          <a:ln w="0">
            <a:noFill/>
          </a:ln>
        </p:spPr>
        <p:txBody>
          <a:bodyPr wrap="none" lIns="0" tIns="0" rIns="0" bIns="0" anchor="ctr">
            <a:noAutofit/>
          </a:bodyPr>
          <a:lstStyle/>
          <a:p>
            <a:pPr>
              <a:defRPr sz="3975" b="0">
                <a:solidFill>
                  <a:srgbClr val="1E302F"/>
                </a:solidFill>
                <a:latin typeface="Segoe UI"/>
                <a:ea typeface="Segoe UI"/>
                <a:cs typeface="Segoe UI"/>
              </a:defRPr>
            </a:pPr>
            <a:r>
              <a:rPr sz="3975" b="0">
                <a:solidFill>
                  <a:srgbClr val="1E302F"/>
                </a:solidFill>
                <a:latin typeface="Segoe UI"/>
                <a:ea typeface="Segoe UI"/>
                <a:cs typeface="Segoe UI"/>
              </a:rPr>
              <a:t>75%</a:t>
            </a:r>
          </a:p>
        </p:txBody>
      </p:sp>
      <p:sp>
        <p:nvSpPr>
          <p:cNvPr id="10" name="S04-f1">
            <a:extLst>
              <a:ext uri="{FF2B5EF4-FFF2-40B4-BE49-F238E27FC236}">
                <a16:creationId xmlns:a16="http://schemas.microsoft.com/office/drawing/2014/main" id="{0FCD41A2-3991-4C2D-B5EF-51FDD86D8E73}"/>
              </a:ext>
            </a:extLst>
          </p:cNvPr>
          <p:cNvSpPr>
            <a:spLocks noGrp="1"/>
          </p:cNvSpPr>
          <p:nvPr/>
        </p:nvSpPr>
        <p:spPr>
          <a:xfrm>
            <a:off x="9906000" y="3352800"/>
            <a:ext cx="1657350" cy="647700"/>
          </a:xfrm>
          <a:prstGeom prst="rect">
            <a:avLst/>
          </a:prstGeom>
          <a:noFill/>
          <a:ln w="0">
            <a:noFill/>
          </a:ln>
        </p:spPr>
        <p:txBody>
          <a:bodyPr wrap="none" lIns="0" tIns="0" rIns="0" bIns="0" anchor="ctr">
            <a:noAutofit/>
          </a:bodyPr>
          <a:lstStyle/>
          <a:p>
            <a:pPr>
              <a:defRPr sz="3525" b="0">
                <a:solidFill>
                  <a:srgbClr val="A3563E"/>
                </a:solidFill>
                <a:latin typeface="Segoe UI"/>
                <a:ea typeface="Segoe UI"/>
                <a:cs typeface="Segoe UI"/>
              </a:defRPr>
            </a:pPr>
            <a:r>
              <a:rPr sz="3525" b="0">
                <a:solidFill>
                  <a:srgbClr val="A3563E"/>
                </a:solidFill>
                <a:latin typeface="Segoe UI"/>
                <a:ea typeface="Segoe UI"/>
                <a:cs typeface="Segoe UI"/>
              </a:rPr>
              <a:t>−0.014</a:t>
            </a:r>
          </a:p>
        </p:txBody>
      </p:sp>
      <p:sp>
        <p:nvSpPr>
          <p:cNvPr id="11" name="S04-size-label">
            <a:extLst>
              <a:ext uri="{FF2B5EF4-FFF2-40B4-BE49-F238E27FC236}">
                <a16:creationId xmlns:a16="http://schemas.microsoft.com/office/drawing/2014/main" id="{C6FCB46E-3BC3-4326-8492-B1CF566E6F91}"/>
              </a:ext>
            </a:extLst>
          </p:cNvPr>
          <p:cNvSpPr>
            <a:spLocks noGrp="1"/>
          </p:cNvSpPr>
          <p:nvPr/>
        </p:nvSpPr>
        <p:spPr>
          <a:xfrm>
            <a:off x="8058150" y="4076700"/>
            <a:ext cx="1752600" cy="314325"/>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smaller model</a:t>
            </a:r>
          </a:p>
        </p:txBody>
      </p:sp>
      <p:sp>
        <p:nvSpPr>
          <p:cNvPr id="12" name="S04-f1-label">
            <a:extLst>
              <a:ext uri="{FF2B5EF4-FFF2-40B4-BE49-F238E27FC236}">
                <a16:creationId xmlns:a16="http://schemas.microsoft.com/office/drawing/2014/main" id="{DF2DAA3B-0B09-48FF-8978-997403DABA6D}"/>
              </a:ext>
            </a:extLst>
          </p:cNvPr>
          <p:cNvSpPr>
            <a:spLocks noGrp="1"/>
          </p:cNvSpPr>
          <p:nvPr/>
        </p:nvSpPr>
        <p:spPr>
          <a:xfrm>
            <a:off x="9906000" y="4076700"/>
            <a:ext cx="1657350" cy="314325"/>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F1 difference</a:t>
            </a:r>
          </a:p>
        </p:txBody>
      </p:sp>
      <p:sp>
        <p:nvSpPr>
          <p:cNvPr id="13" name="S04-size-values">
            <a:extLst>
              <a:ext uri="{FF2B5EF4-FFF2-40B4-BE49-F238E27FC236}">
                <a16:creationId xmlns:a16="http://schemas.microsoft.com/office/drawing/2014/main" id="{DEB4987F-D5F1-4E13-9ECD-BF1E86019B54}"/>
              </a:ext>
            </a:extLst>
          </p:cNvPr>
          <p:cNvSpPr>
            <a:spLocks noGrp="1"/>
          </p:cNvSpPr>
          <p:nvPr/>
        </p:nvSpPr>
        <p:spPr>
          <a:xfrm>
            <a:off x="8058150" y="4524375"/>
            <a:ext cx="1762125" cy="323850"/>
          </a:xfrm>
          <a:prstGeom prst="rect">
            <a:avLst/>
          </a:prstGeom>
          <a:noFill/>
          <a:ln w="0">
            <a:noFill/>
          </a:ln>
        </p:spPr>
        <p:txBody>
          <a:bodyPr wrap="none" lIns="0" tIns="0" rIns="0" bIns="0" anchor="ctr">
            <a:noAutofit/>
          </a:bodyPr>
          <a:lstStyle/>
          <a:p>
            <a:pPr>
              <a:defRPr sz="1650" b="0">
                <a:solidFill>
                  <a:srgbClr val="1E302F"/>
                </a:solidFill>
                <a:latin typeface="Segoe UI"/>
                <a:ea typeface="Segoe UI"/>
                <a:cs typeface="Segoe UI"/>
              </a:defRPr>
            </a:pPr>
            <a:r>
              <a:rPr sz="1650" b="0">
                <a:solidFill>
                  <a:srgbClr val="1E302F"/>
                </a:solidFill>
                <a:latin typeface="Segoe UI"/>
                <a:ea typeface="Segoe UI"/>
                <a:cs typeface="Segoe UI"/>
              </a:rPr>
              <a:t>48 → 12 MB</a:t>
            </a:r>
          </a:p>
        </p:txBody>
      </p:sp>
      <p:sp>
        <p:nvSpPr>
          <p:cNvPr id="14" name="S04-f1-values">
            <a:extLst>
              <a:ext uri="{FF2B5EF4-FFF2-40B4-BE49-F238E27FC236}">
                <a16:creationId xmlns:a16="http://schemas.microsoft.com/office/drawing/2014/main" id="{E5AFD2F2-0A46-4796-985A-BB72239C16CC}"/>
              </a:ext>
            </a:extLst>
          </p:cNvPr>
          <p:cNvSpPr>
            <a:spLocks noGrp="1"/>
          </p:cNvSpPr>
          <p:nvPr/>
        </p:nvSpPr>
        <p:spPr>
          <a:xfrm>
            <a:off x="9906000" y="4524375"/>
            <a:ext cx="1657350" cy="323850"/>
          </a:xfrm>
          <a:prstGeom prst="rect">
            <a:avLst/>
          </a:prstGeom>
          <a:noFill/>
          <a:ln w="0">
            <a:noFill/>
          </a:ln>
        </p:spPr>
        <p:txBody>
          <a:bodyPr wrap="none" lIns="0" tIns="0" rIns="0" bIns="0" anchor="ctr">
            <a:noAutofit/>
          </a:bodyPr>
          <a:lstStyle/>
          <a:p>
            <a:pPr>
              <a:defRPr sz="1575" b="0">
                <a:solidFill>
                  <a:srgbClr val="1E302F"/>
                </a:solidFill>
                <a:latin typeface="Segoe UI"/>
                <a:ea typeface="Segoe UI"/>
                <a:cs typeface="Segoe UI"/>
              </a:defRPr>
            </a:pPr>
            <a:r>
              <a:rPr sz="1575" b="0">
                <a:solidFill>
                  <a:srgbClr val="1E302F"/>
                </a:solidFill>
                <a:latin typeface="Segoe UI"/>
                <a:ea typeface="Segoe UI"/>
                <a:cs typeface="Segoe UI"/>
              </a:rPr>
              <a:t>0.910 → 0.896</a:t>
            </a:r>
          </a:p>
        </p:txBody>
      </p:sp>
      <p:sp>
        <p:nvSpPr>
          <p:cNvPr id="15" name="S04-stage1">
            <a:extLst>
              <a:ext uri="{FF2B5EF4-FFF2-40B4-BE49-F238E27FC236}">
                <a16:creationId xmlns:a16="http://schemas.microsoft.com/office/drawing/2014/main" id="{6A9C1FD7-A266-4FB7-8965-BC9BE4EC65F6}"/>
              </a:ext>
            </a:extLst>
          </p:cNvPr>
          <p:cNvSpPr>
            <a:spLocks noGrp="1"/>
          </p:cNvSpPr>
          <p:nvPr/>
        </p:nvSpPr>
        <p:spPr>
          <a:xfrm>
            <a:off x="685800" y="5467350"/>
            <a:ext cx="10820400" cy="304800"/>
          </a:xfrm>
          <a:prstGeom prst="rect">
            <a:avLst/>
          </a:prstGeom>
          <a:noFill/>
          <a:ln w="0">
            <a:noFill/>
          </a:ln>
        </p:spPr>
        <p:txBody>
          <a:bodyPr wrap="none" lIns="0" tIns="0" rIns="0" bIns="0" anchor="ctr">
            <a:noAutofit/>
          </a:bodyPr>
          <a:lstStyle/>
          <a:p>
            <a:pPr>
              <a:defRPr sz="1650" b="0">
                <a:solidFill>
                  <a:srgbClr val="586C68"/>
                </a:solidFill>
                <a:latin typeface="Segoe UI"/>
                <a:ea typeface="Segoe UI"/>
                <a:cs typeface="Segoe UI"/>
              </a:defRPr>
            </a:pPr>
            <a:r>
              <a:rPr sz="1650" b="0">
                <a:solidFill>
                  <a:srgbClr val="586C68"/>
                </a:solidFill>
                <a:latin typeface="Segoe UI"/>
                <a:ea typeface="Segoe UI"/>
                <a:cs typeface="Segoe UI"/>
              </a:rPr>
              <a:t>Distillation: latency −40%; F1 −0.008</a:t>
            </a:r>
          </a:p>
        </p:txBody>
      </p:sp>
      <p:sp>
        <p:nvSpPr>
          <p:cNvPr id="16" name="S04-stage2">
            <a:extLst>
              <a:ext uri="{FF2B5EF4-FFF2-40B4-BE49-F238E27FC236}">
                <a16:creationId xmlns:a16="http://schemas.microsoft.com/office/drawing/2014/main" id="{C8BF7D9E-B914-41F4-9848-53C09B8400B1}"/>
              </a:ext>
            </a:extLst>
          </p:cNvPr>
          <p:cNvSpPr>
            <a:spLocks noGrp="1"/>
          </p:cNvSpPr>
          <p:nvPr/>
        </p:nvSpPr>
        <p:spPr>
          <a:xfrm>
            <a:off x="685800" y="5810250"/>
            <a:ext cx="10820400" cy="304800"/>
          </a:xfrm>
          <a:prstGeom prst="rect">
            <a:avLst/>
          </a:prstGeom>
          <a:noFill/>
          <a:ln w="0">
            <a:noFill/>
          </a:ln>
        </p:spPr>
        <p:txBody>
          <a:bodyPr wrap="none" lIns="0" tIns="0" rIns="0" bIns="0" anchor="ctr">
            <a:noAutofit/>
          </a:bodyPr>
          <a:lstStyle/>
          <a:p>
            <a:pPr>
              <a:defRPr sz="1650" b="0">
                <a:solidFill>
                  <a:srgbClr val="586C68"/>
                </a:solidFill>
                <a:latin typeface="Segoe UI"/>
                <a:ea typeface="Segoe UI"/>
                <a:cs typeface="Segoe UI"/>
              </a:defRPr>
            </a:pPr>
            <a:r>
              <a:rPr sz="1650" b="0">
                <a:solidFill>
                  <a:srgbClr val="586C68"/>
                </a:solidFill>
                <a:latin typeface="Segoe UI"/>
                <a:ea typeface="Segoe UI"/>
                <a:cs typeface="Segoe UI"/>
              </a:rPr>
              <a:t>Additional INT8 step: latency −25%; F1 −0.006</a:t>
            </a:r>
          </a:p>
        </p:txBody>
      </p:sp>
    </p:spTree>
    <p:extLst>
      <p:ext uri="{BB962C8B-B14F-4D97-AF65-F5344CB8AC3E}">
        <p14:creationId xmlns:p14="http://schemas.microsoft.com/office/powerpoint/2010/main" val="1633204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5" name="S05-section">
            <a:extLst>
              <a:ext uri="{FF2B5EF4-FFF2-40B4-BE49-F238E27FC236}">
                <a16:creationId xmlns:a16="http://schemas.microsoft.com/office/drawing/2014/main" id="{4C19C853-E6B9-461C-9EC7-7EE3FA1203C8}"/>
              </a:ext>
            </a:extLst>
          </p:cNvPr>
          <p:cNvSpPr>
            <a:spLocks noGrp="1"/>
          </p:cNvSpPr>
          <p:nvPr/>
        </p:nvSpPr>
        <p:spPr>
          <a:xfrm>
            <a:off x="685800" y="400050"/>
            <a:ext cx="10744200" cy="257175"/>
          </a:xfrm>
          <a:prstGeom prst="rect">
            <a:avLst/>
          </a:prstGeom>
          <a:noFill/>
          <a:ln w="0">
            <a:noFill/>
          </a:ln>
        </p:spPr>
        <p:txBody>
          <a:bodyPr wrap="none" lIns="0" tIns="0" rIns="0" bIns="0" anchor="ctr">
            <a:noAutofit/>
          </a:bodyPr>
          <a:lstStyle/>
          <a:p>
            <a:pPr>
              <a:defRPr sz="1425" b="0">
                <a:solidFill>
                  <a:srgbClr val="287D78"/>
                </a:solidFill>
                <a:latin typeface="Segoe UI"/>
                <a:ea typeface="Segoe UI"/>
                <a:cs typeface="Segoe UI"/>
              </a:defRPr>
            </a:pPr>
            <a:r>
              <a:rPr sz="1425" b="0">
                <a:solidFill>
                  <a:srgbClr val="287D78"/>
                </a:solidFill>
                <a:latin typeface="Segoe UI"/>
                <a:ea typeface="Segoe UI"/>
                <a:cs typeface="Segoe UI"/>
              </a:rPr>
              <a:t>NEXT / DEFINE THE ACCEPTABLE TRADE-OFF</a:t>
            </a:r>
          </a:p>
        </p:txBody>
      </p:sp>
      <p:sp>
        <p:nvSpPr>
          <p:cNvPr id="2" name="S05-title">
            <a:extLst>
              <a:ext uri="{FF2B5EF4-FFF2-40B4-BE49-F238E27FC236}">
                <a16:creationId xmlns:a16="http://schemas.microsoft.com/office/drawing/2014/main" id="{F2634974-6713-4142-9EA7-CE889EB9FAE3}"/>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Decide what the trade-off is worth</a:t>
            </a:r>
          </a:p>
        </p:txBody>
      </p:sp>
      <p:sp>
        <p:nvSpPr>
          <p:cNvPr id="3" name="S05-disclosure">
            <a:extLst>
              <a:ext uri="{FF2B5EF4-FFF2-40B4-BE49-F238E27FC236}">
                <a16:creationId xmlns:a16="http://schemas.microsoft.com/office/drawing/2014/main" id="{BFC2A32B-D2F4-4DD0-AD21-BD9C3F67C5DE}"/>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4" name="S05-number">
            <a:extLst>
              <a:ext uri="{FF2B5EF4-FFF2-40B4-BE49-F238E27FC236}">
                <a16:creationId xmlns:a16="http://schemas.microsoft.com/office/drawing/2014/main" id="{E378D239-3D97-45CC-8321-8823A487088C}"/>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05</a:t>
            </a:r>
          </a:p>
        </p:txBody>
      </p:sp>
      <p:sp>
        <p:nvSpPr>
          <p:cNvPr id="5" name="S05-main">
            <a:extLst>
              <a:ext uri="{FF2B5EF4-FFF2-40B4-BE49-F238E27FC236}">
                <a16:creationId xmlns:a16="http://schemas.microsoft.com/office/drawing/2014/main" id="{27DA5E0A-96B5-4B69-874C-DD0381FCFD63}"/>
              </a:ext>
            </a:extLst>
          </p:cNvPr>
          <p:cNvSpPr>
            <a:spLocks noGrp="1"/>
          </p:cNvSpPr>
          <p:nvPr/>
        </p:nvSpPr>
        <p:spPr>
          <a:xfrm>
            <a:off x="685800" y="1990725"/>
            <a:ext cx="10820400" cy="723900"/>
          </a:xfrm>
          <a:prstGeom prst="rect">
            <a:avLst/>
          </a:prstGeom>
          <a:noFill/>
          <a:ln w="0">
            <a:noFill/>
          </a:ln>
        </p:spPr>
        <p:txBody>
          <a:bodyPr wrap="none" lIns="0" tIns="0" rIns="0" bIns="0" anchor="ctr">
            <a:noAutofit/>
          </a:bodyPr>
          <a:lstStyle/>
          <a:p>
            <a:pPr>
              <a:defRPr sz="3675" b="0">
                <a:solidFill>
                  <a:srgbClr val="287D78"/>
                </a:solidFill>
                <a:latin typeface="Segoe UI"/>
                <a:ea typeface="Segoe UI"/>
                <a:cs typeface="Segoe UI"/>
              </a:defRPr>
            </a:pPr>
            <a:r>
              <a:rPr sz="3675" b="0">
                <a:solidFill>
                  <a:srgbClr val="287D78"/>
                </a:solidFill>
                <a:latin typeface="Segoe UI"/>
                <a:ea typeface="Segoe UI"/>
                <a:cs typeface="Segoe UI"/>
              </a:rPr>
              <a:t>Efficiency gains come with lower F1</a:t>
            </a:r>
          </a:p>
        </p:txBody>
      </p:sp>
      <p:sp>
        <p:nvSpPr>
          <p:cNvPr id="6" name="S05-rule-1">
            <a:extLst>
              <a:ext uri="{FF2B5EF4-FFF2-40B4-BE49-F238E27FC236}">
                <a16:creationId xmlns:a16="http://schemas.microsoft.com/office/drawing/2014/main" id="{9CB55CD0-84B1-438B-8667-050BCC257CC1}"/>
              </a:ext>
            </a:extLst>
          </p:cNvPr>
          <p:cNvSpPr>
            <a:spLocks noGrp="1"/>
          </p:cNvSpPr>
          <p:nvPr/>
        </p:nvSpPr>
        <p:spPr>
          <a:xfrm>
            <a:off x="685800" y="3124200"/>
            <a:ext cx="10820400" cy="0"/>
          </a:xfrm>
          <a:prstGeom prst="line">
            <a:avLst/>
          </a:prstGeom>
          <a:ln w="9525">
            <a:solidFill>
              <a:srgbClr val="CFD8D1"/>
            </a:solidFill>
          </a:ln>
        </p:spPr>
      </p:sp>
      <p:sp>
        <p:nvSpPr>
          <p:cNvPr id="7" name="S05-label1">
            <a:extLst>
              <a:ext uri="{FF2B5EF4-FFF2-40B4-BE49-F238E27FC236}">
                <a16:creationId xmlns:a16="http://schemas.microsoft.com/office/drawing/2014/main" id="{19CB2F7F-7D59-40B3-A705-65074EECCE48}"/>
              </a:ext>
            </a:extLst>
          </p:cNvPr>
          <p:cNvSpPr>
            <a:spLocks noGrp="1"/>
          </p:cNvSpPr>
          <p:nvPr/>
        </p:nvSpPr>
        <p:spPr>
          <a:xfrm>
            <a:off x="685800" y="3257550"/>
            <a:ext cx="2914650" cy="495300"/>
          </a:xfrm>
          <a:prstGeom prst="rect">
            <a:avLst/>
          </a:prstGeom>
          <a:noFill/>
          <a:ln w="0">
            <a:noFill/>
          </a:ln>
        </p:spPr>
        <p:txBody>
          <a:bodyPr wrap="none" lIns="0" tIns="0" rIns="0" bIns="0" anchor="ctr">
            <a:noAutofit/>
          </a:bodyPr>
          <a:lstStyle/>
          <a:p>
            <a:pPr>
              <a:defRPr sz="1875" b="0">
                <a:solidFill>
                  <a:srgbClr val="1E302F"/>
                </a:solidFill>
                <a:latin typeface="Segoe UI"/>
                <a:ea typeface="Segoe UI"/>
                <a:cs typeface="Segoe UI"/>
              </a:defRPr>
            </a:pPr>
            <a:r>
              <a:rPr sz="1875" b="0">
                <a:solidFill>
                  <a:srgbClr val="1E302F"/>
                </a:solidFill>
                <a:latin typeface="Segoe UI"/>
                <a:ea typeface="Segoe UI"/>
                <a:cs typeface="Segoe UI"/>
              </a:rPr>
              <a:t>Set the threshold</a:t>
            </a:r>
          </a:p>
        </p:txBody>
      </p:sp>
      <p:sp>
        <p:nvSpPr>
          <p:cNvPr id="8" name="S05-body1">
            <a:extLst>
              <a:ext uri="{FF2B5EF4-FFF2-40B4-BE49-F238E27FC236}">
                <a16:creationId xmlns:a16="http://schemas.microsoft.com/office/drawing/2014/main" id="{F8D4A716-829E-445A-8D85-F1F389B2925B}"/>
              </a:ext>
            </a:extLst>
          </p:cNvPr>
          <p:cNvSpPr>
            <a:spLocks noGrp="1"/>
          </p:cNvSpPr>
          <p:nvPr/>
        </p:nvSpPr>
        <p:spPr>
          <a:xfrm>
            <a:off x="3829050" y="3257550"/>
            <a:ext cx="7677150" cy="49530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Acceptable F1 loss and latency budget.</a:t>
            </a:r>
          </a:p>
        </p:txBody>
      </p:sp>
      <p:sp>
        <p:nvSpPr>
          <p:cNvPr id="9" name="S05-rule-2">
            <a:extLst>
              <a:ext uri="{FF2B5EF4-FFF2-40B4-BE49-F238E27FC236}">
                <a16:creationId xmlns:a16="http://schemas.microsoft.com/office/drawing/2014/main" id="{4E24EA9A-26E7-41E2-B062-7FEBDD63D46C}"/>
              </a:ext>
            </a:extLst>
          </p:cNvPr>
          <p:cNvSpPr>
            <a:spLocks noGrp="1"/>
          </p:cNvSpPr>
          <p:nvPr/>
        </p:nvSpPr>
        <p:spPr>
          <a:xfrm>
            <a:off x="685800" y="3962400"/>
            <a:ext cx="10820400" cy="0"/>
          </a:xfrm>
          <a:prstGeom prst="line">
            <a:avLst/>
          </a:prstGeom>
          <a:ln w="9525">
            <a:solidFill>
              <a:srgbClr val="CFD8D1"/>
            </a:solidFill>
          </a:ln>
        </p:spPr>
      </p:sp>
      <p:sp>
        <p:nvSpPr>
          <p:cNvPr id="10" name="S05-label2">
            <a:extLst>
              <a:ext uri="{FF2B5EF4-FFF2-40B4-BE49-F238E27FC236}">
                <a16:creationId xmlns:a16="http://schemas.microsoft.com/office/drawing/2014/main" id="{BF8C2591-9A1E-4116-AF1A-A960257A7944}"/>
              </a:ext>
            </a:extLst>
          </p:cNvPr>
          <p:cNvSpPr>
            <a:spLocks noGrp="1"/>
          </p:cNvSpPr>
          <p:nvPr/>
        </p:nvSpPr>
        <p:spPr>
          <a:xfrm>
            <a:off x="685800" y="4095750"/>
            <a:ext cx="2914650" cy="495300"/>
          </a:xfrm>
          <a:prstGeom prst="rect">
            <a:avLst/>
          </a:prstGeom>
          <a:noFill/>
          <a:ln w="0">
            <a:noFill/>
          </a:ln>
        </p:spPr>
        <p:txBody>
          <a:bodyPr wrap="none" lIns="0" tIns="0" rIns="0" bIns="0" anchor="ctr">
            <a:noAutofit/>
          </a:bodyPr>
          <a:lstStyle/>
          <a:p>
            <a:pPr>
              <a:defRPr sz="1875" b="0">
                <a:solidFill>
                  <a:srgbClr val="1E302F"/>
                </a:solidFill>
                <a:latin typeface="Segoe UI"/>
                <a:ea typeface="Segoe UI"/>
                <a:cs typeface="Segoe UI"/>
              </a:defRPr>
            </a:pPr>
            <a:r>
              <a:rPr sz="1875" b="0">
                <a:solidFill>
                  <a:srgbClr val="1E302F"/>
                </a:solidFill>
                <a:latin typeface="Segoe UI"/>
                <a:ea typeface="Segoe UI"/>
                <a:cs typeface="Segoe UI"/>
              </a:rPr>
              <a:t>Test the behavior</a:t>
            </a:r>
          </a:p>
        </p:txBody>
      </p:sp>
      <p:sp>
        <p:nvSpPr>
          <p:cNvPr id="11" name="S05-body2">
            <a:extLst>
              <a:ext uri="{FF2B5EF4-FFF2-40B4-BE49-F238E27FC236}">
                <a16:creationId xmlns:a16="http://schemas.microsoft.com/office/drawing/2014/main" id="{9C0232FA-8F00-40F2-8497-E1B643158554}"/>
              </a:ext>
            </a:extLst>
          </p:cNvPr>
          <p:cNvSpPr>
            <a:spLocks noGrp="1"/>
          </p:cNvSpPr>
          <p:nvPr/>
        </p:nvSpPr>
        <p:spPr>
          <a:xfrm>
            <a:off x="3829050" y="4095750"/>
            <a:ext cx="7677150" cy="49530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Repeat measurements; inspect failures by anomaly type.</a:t>
            </a:r>
          </a:p>
        </p:txBody>
      </p:sp>
      <p:sp>
        <p:nvSpPr>
          <p:cNvPr id="12" name="S05-rule-3">
            <a:extLst>
              <a:ext uri="{FF2B5EF4-FFF2-40B4-BE49-F238E27FC236}">
                <a16:creationId xmlns:a16="http://schemas.microsoft.com/office/drawing/2014/main" id="{13263353-6662-4892-8755-BB00AE96FC9F}"/>
              </a:ext>
            </a:extLst>
          </p:cNvPr>
          <p:cNvSpPr>
            <a:spLocks noGrp="1"/>
          </p:cNvSpPr>
          <p:nvPr/>
        </p:nvSpPr>
        <p:spPr>
          <a:xfrm>
            <a:off x="685800" y="4800600"/>
            <a:ext cx="10820400" cy="0"/>
          </a:xfrm>
          <a:prstGeom prst="line">
            <a:avLst/>
          </a:prstGeom>
          <a:ln w="9525">
            <a:solidFill>
              <a:srgbClr val="CFD8D1"/>
            </a:solidFill>
          </a:ln>
        </p:spPr>
      </p:sp>
      <p:sp>
        <p:nvSpPr>
          <p:cNvPr id="13" name="S05-label3">
            <a:extLst>
              <a:ext uri="{FF2B5EF4-FFF2-40B4-BE49-F238E27FC236}">
                <a16:creationId xmlns:a16="http://schemas.microsoft.com/office/drawing/2014/main" id="{48C5EE6A-6070-41C2-A5A8-A34B86D65264}"/>
              </a:ext>
            </a:extLst>
          </p:cNvPr>
          <p:cNvSpPr>
            <a:spLocks noGrp="1"/>
          </p:cNvSpPr>
          <p:nvPr/>
        </p:nvSpPr>
        <p:spPr>
          <a:xfrm>
            <a:off x="685800" y="4933950"/>
            <a:ext cx="2914650" cy="495300"/>
          </a:xfrm>
          <a:prstGeom prst="rect">
            <a:avLst/>
          </a:prstGeom>
          <a:noFill/>
          <a:ln w="0">
            <a:noFill/>
          </a:ln>
        </p:spPr>
        <p:txBody>
          <a:bodyPr wrap="none" lIns="0" tIns="0" rIns="0" bIns="0" anchor="ctr">
            <a:noAutofit/>
          </a:bodyPr>
          <a:lstStyle/>
          <a:p>
            <a:pPr>
              <a:defRPr sz="1875" b="0">
                <a:solidFill>
                  <a:srgbClr val="1E302F"/>
                </a:solidFill>
                <a:latin typeface="Segoe UI"/>
                <a:ea typeface="Segoe UI"/>
                <a:cs typeface="Segoe UI"/>
              </a:defRPr>
            </a:pPr>
            <a:r>
              <a:rPr sz="1875" b="0">
                <a:solidFill>
                  <a:srgbClr val="1E302F"/>
                </a:solidFill>
                <a:latin typeface="Segoe UI"/>
                <a:ea typeface="Segoe UI"/>
                <a:cs typeface="Segoe UI"/>
              </a:rPr>
              <a:t>Keep the limit visible</a:t>
            </a:r>
          </a:p>
        </p:txBody>
      </p:sp>
      <p:sp>
        <p:nvSpPr>
          <p:cNvPr id="14" name="S05-body3">
            <a:extLst>
              <a:ext uri="{FF2B5EF4-FFF2-40B4-BE49-F238E27FC236}">
                <a16:creationId xmlns:a16="http://schemas.microsoft.com/office/drawing/2014/main" id="{CFB01367-3082-43F8-8DD6-04D660FEE560}"/>
              </a:ext>
            </a:extLst>
          </p:cNvPr>
          <p:cNvSpPr>
            <a:spLocks noGrp="1"/>
          </p:cNvSpPr>
          <p:nvPr/>
        </p:nvSpPr>
        <p:spPr>
          <a:xfrm>
            <a:off x="3829050" y="4933950"/>
            <a:ext cx="7677150" cy="49530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No real dataset or sample count: no generalization claim.</a:t>
            </a:r>
          </a:p>
        </p:txBody>
      </p:sp>
    </p:spTree>
    <p:extLst>
      <p:ext uri="{BB962C8B-B14F-4D97-AF65-F5344CB8AC3E}">
        <p14:creationId xmlns:p14="http://schemas.microsoft.com/office/powerpoint/2010/main" val="135932443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696</Words>
  <Application>Microsoft Office PowerPoint</Application>
  <DocSecurity>0</DocSecurity>
  <PresentationFormat>와이드스크린</PresentationFormat>
  <Paragraphs>82</Paragraphs>
  <Slides>5</Slides>
  <Notes>5</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5</vt:i4>
      </vt:variant>
    </vt:vector>
  </HeadingPairs>
  <TitlesOfParts>
    <vt:vector size="8" baseType="lpstr">
      <vt:lpstr>Calibri</vt:lpstr>
      <vt:lpstr>Segoe UI</vt:lpstr>
      <vt:lpstr>ChatGPT</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ns0:coreProperties xmlns:dc="http://purl.org/dc/elements/1.1/" xmlns:ns0="http://schemas.openxmlformats.org/package/2006/metadata/core-properties" xmlns:ns2="http://purl.org/dc/terms/" xmlns:xsi="http://www.w3.org/2001/XMLSchema-instance">
  <dc:title>Presentation</dc:title>
  <dc:creator>Walnut Exporter</dc:creator>
  <ns0:revision>1</ns0:revision>
  <ns2:created xsi:type="dcterms:W3CDTF">2026-10-02T07:08:55Z</ns2:created>
  <ns2:modified xsi:type="dcterms:W3CDTF">2026-10-02T07:13:26Z</ns2:modified>
</ns0:coreProperties>
</file>