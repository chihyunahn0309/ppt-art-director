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지연 (ms)</c:v>
          </c:tx>
          <c:spPr>
            <a:solidFill>
              <a:srgbClr val="007E80"/>
            </a:solidFill>
          </c:spPr>
          <c:invertIfNegative val="1"/>
          <c:dPt>
            <c:idx val="0"/>
            <c:invertIfNegative val="0"/>
            <c:bubble3D val="0"/>
            <c:spPr>
              <a:solidFill>
                <a:srgbClr val="7D9192"/>
              </a:solidFill>
            </c:spPr>
            <c:extLst>
              <c:ext xmlns:c16="http://schemas.microsoft.com/office/drawing/2014/chart" uri="{C3380CC4-5D6E-409C-BE32-E72D297353CC}">
                <c16:uniqueId val="{00000001-5E97-4EFF-9E41-3A624D2105CD}"/>
              </c:ext>
            </c:extLst>
          </c:dPt>
          <c:dPt>
            <c:idx val="1"/>
            <c:invertIfNegative val="0"/>
            <c:bubble3D val="0"/>
            <c:extLst>
              <c:ext xmlns:c16="http://schemas.microsoft.com/office/drawing/2014/chart" uri="{C3380CC4-5D6E-409C-BE32-E72D297353CC}">
                <c16:uniqueId val="{00000003-5E97-4EFF-9E41-3A624D2105CD}"/>
              </c:ext>
            </c:extLst>
          </c:dPt>
          <c:dPt>
            <c:idx val="2"/>
            <c:invertIfNegative val="0"/>
            <c:bubble3D val="0"/>
            <c:spPr>
              <a:solidFill>
                <a:srgbClr val="173F40"/>
              </a:solidFill>
            </c:spPr>
            <c:extLst>
              <c:ext xmlns:c16="http://schemas.microsoft.com/office/drawing/2014/chart" uri="{C3380CC4-5D6E-409C-BE32-E72D297353CC}">
                <c16:uniqueId val="{00000005-5E97-4EFF-9E41-3A624D2105CD}"/>
              </c:ext>
            </c:extLst>
          </c:dPt>
          <c:dLbls>
            <c:spPr>
              <a:noFill/>
              <a:ln>
                <a:noFill/>
              </a:ln>
              <a:effectLst/>
            </c:spPr>
            <c:txPr>
              <a:bodyPr anchorCtr="1"/>
              <a:lstStyle/>
              <a:p>
                <a:pPr>
                  <a:defRPr sz="2175" b="1">
                    <a:solidFill>
                      <a:srgbClr val="173F40"/>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baseline</c:v>
                </c:pt>
                <c:pt idx="1">
                  <c:v>distilled</c:v>
                </c:pt>
                <c:pt idx="2">
                  <c:v>int8</c:v>
                </c:pt>
              </c:strCache>
            </c:strRef>
          </c:cat>
          <c:val>
            <c:numRef>
              <c:f>'Chart Data'!$B$2:$B$4</c:f>
              <c:numCache>
                <c:formatCode>0</c:formatCode>
                <c:ptCount val="3"/>
                <c:pt idx="0">
                  <c:v>120</c:v>
                </c:pt>
                <c:pt idx="1">
                  <c:v>72</c:v>
                </c:pt>
                <c:pt idx="2">
                  <c:v>54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5E97-4EFF-9E41-3A624D2105CD}"/>
            </c:ext>
          </c:extLst>
        </c:ser>
        <c:dLbls>
          <c:dLblPos val="outEnd"/>
          <c:showLegendKey val="0"/>
          <c:showVal val="1"/>
          <c:showCatName val="0"/>
          <c:showSerName val="0"/>
          <c:showPercent val="0"/>
          <c:showBubbleSize val="0"/>
        </c:dLbls>
        <c:gapWidth val="9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456162"/>
            </a:solidFill>
          </a:ln>
        </c:spPr>
        <c:txPr>
          <a:bodyPr anchorCtr="1"/>
          <a:lstStyle/>
          <a:p>
            <a:pPr>
              <a:defRPr sz="1800">
                <a:solidFill>
                  <a:srgbClr val="173F40"/>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40"/>
          <c:min val="0"/>
        </c:scaling>
        <c:delete val="0"/>
        <c:axPos val="l"/>
        <c:majorGridlines>
          <c:spPr>
            <a:ln w="9525">
              <a:solidFill>
                <a:srgbClr val="D8E8E6"/>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575">
                <a:solidFill>
                  <a:srgbClr val="456162"/>
                </a:solidFill>
                <a:latin typeface="Malgun Gothic"/>
                <a:ea typeface="Malgun Gothic"/>
                <a:cs typeface="Malgun Gothic"/>
              </a:defRPr>
            </a:pPr>
            <a:endParaRPr lang="ko-KR"/>
          </a:p>
        </c:txPr>
        <c:crossAx val="48650112"/>
        <c:crosses val="autoZero"/>
        <c:crossBetween val="between"/>
        <c:majorUnit val="40"/>
      </c:valAx>
      <c:spPr>
        <a:solidFill>
          <a:srgbClr val="F7FAF9"/>
        </a:solidFill>
      </c:spPr>
    </c:plotArea>
    <c:plotVisOnly val="1"/>
    <c:dispBlanksAs val="zero"/>
    <c:showDLblsOverMax val="1"/>
  </c:chart>
  <c:spPr>
    <a:solidFill>
      <a:srgbClr val="F7FAF9"/>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 시간 30초. 이 발표의 성능 수치는 모두 사용자가 제공한 가상 예시이다. 실제 실험 결과나 특정 데이터셋의 평가 결과가 아니다. 동일 장치·데이터에서 비교한다는 조건만 주어져 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 시간 90초. 교사 모델의 예측을 학생 모델의 학습에 활용하는 지식 증류와 수치 표현을 8비트 정수로 바꾸는 양자화를 개념적으로 설명한다. 학습 방법과 양자화 범위는 사용자에게서 제공받지 않았으므로 구체적인 손실함수, 비트 범위, PTQ/QAT를 단정하지 않는다. 첫 클릭에서 증류 단계, 둘째 클릭에서 INT8 단계를 설명한다. 출처: Hinton et al., Distilling the Knowledge in a Neural Network (2015), https://arxiv.org/abs/1503.02531 ; Jacob et al., Quantization and Training of Neural Networks for Efficient Integer-Arithmetic-Only Inference (2017), https://arxiv.org/abs/1712.05877 . 문헌의 결과 수치를 이 예시로 사용하지 않았다.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 시간 60초. 출처: 사용자 제공 가상 데이터. baseline: 지연 120ms, F1 0.910, 모델 48MB. distilled: 72ms, 0.902, 18MB. int8: 54ms, 0.896, 12MB. 장치·데이터는 동일하다는 조건이다. 표본수·분산·실제 데이터셋명은 미제공. 지연 통계량의 정의, F1 집계 방법, 데이터 분할과 장치 사양도 알려지지 않았다. 단일 가상 요약값의 산술 비교이며 통계적 유의성, 신뢰구간, 일반화 성능을 주장하지 않는다.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 시간 65초. 모든 수치는 사용자 제공 가상 데이터에서 계산했다. 전체 지연 감소율: (120−54)/120 = 55%. 전체 모델 크기 감소율: (48−12)/48 = 75%. F1 절대 차이: 0.896−0.910 = −0.014. 증류 단계 지연 감소율: (120−72)/120 = 40%, F1 차이 −0.008. 추가 양자화 단계: (72−54)/72 = 25%, F1 차이 −0.006. 단계별 감소율의 분모가 다르므로 40%와 25%를 더하지 않는다. F1 차이는 상대 감소율 또는 퍼센트포인트라는 표현 없이 절대 차이로 제시했다. 표본수와 분산이 없어 통계적 판단은 불가하다.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 시간 55초. 어느 모델이 최선이라고 단정하지 않는다. 사용 환경에 맞는 지연 한도와 허용 가능한 F1 저하부터 정해야 한다. 실제 데이터셋에서 반복 측정하여 분산과 실패 사례를 확인해야 한다. 현재 수치는 모두 가상이므로 실제 적용 성능이나 일반화 능력을 예측하지 않는다. 총 발표 시간 300초.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40"/>
        </a:solidFill>
        <a:effectLst/>
      </p:bgPr>
    </p:bg>
    <p:spTree>
      <p:nvGrpSpPr>
        <p:cNvPr id="1" name=""/>
        <p:cNvGrpSpPr/>
        <p:nvPr/>
      </p:nvGrpSpPr>
      <p:grpSpPr>
        <a:xfrm>
          <a:off x="0" y="0"/>
          <a:ext cx="0" cy="0"/>
          <a:chOff x="0" y="0"/>
          <a:chExt cx="0" cy="0"/>
        </a:xfrm>
      </p:grpSpPr>
      <p:sp>
        <p:nvSpPr>
          <p:cNvPr id="5" name="S01-title">
            <a:extLst>
              <a:ext uri="{FF2B5EF4-FFF2-40B4-BE49-F238E27FC236}">
                <a16:creationId xmlns:a16="http://schemas.microsoft.com/office/drawing/2014/main" id="{7B7AFD70-B979-4E05-BA08-1CE709AB0310}"/>
              </a:ext>
            </a:extLst>
          </p:cNvPr>
          <p:cNvSpPr>
            <a:spLocks noGrp="1"/>
          </p:cNvSpPr>
          <p:nvPr/>
        </p:nvSpPr>
        <p:spPr>
          <a:xfrm>
            <a:off x="609600" y="1571625"/>
            <a:ext cx="10934700" cy="1714500"/>
          </a:xfrm>
          <a:prstGeom prst="rect">
            <a:avLst/>
          </a:prstGeom>
          <a:noFill/>
          <a:ln w="0">
            <a:noFill/>
          </a:ln>
        </p:spPr>
        <p:txBody>
          <a:bodyPr wrap="none" lIns="0" tIns="0" rIns="0" bIns="0" anchor="ctr">
            <a:noAutofit/>
          </a:bodyPr>
          <a:lstStyle/>
          <a:p>
            <a:pPr>
              <a:defRPr sz="4800" b="1">
                <a:solidFill>
                  <a:srgbClr val="FFFFFF"/>
                </a:solidFill>
                <a:latin typeface="Malgun Gothic"/>
                <a:ea typeface="Malgun Gothic"/>
                <a:cs typeface="Malgun Gothic"/>
              </a:defRPr>
            </a:pPr>
            <a:r>
              <a:rPr sz="4800" b="1">
                <a:solidFill>
                  <a:srgbClr val="FFFFFF"/>
                </a:solidFill>
                <a:latin typeface="Malgun Gothic"/>
                <a:ea typeface="Malgun Gothic"/>
                <a:cs typeface="Malgun Gothic"/>
              </a:rPr>
              <a:t>센서 이상 탐지 모델의</a:t>
            </a:r>
          </a:p>
          <a:p>
            <a:pPr>
              <a:defRPr sz="4800" b="1">
                <a:solidFill>
                  <a:srgbClr val="FFFFFF"/>
                </a:solidFill>
                <a:latin typeface="Malgun Gothic"/>
                <a:ea typeface="Malgun Gothic"/>
                <a:cs typeface="Malgun Gothic"/>
              </a:defRPr>
            </a:pPr>
            <a:r>
              <a:rPr sz="4800" b="1">
                <a:solidFill>
                  <a:srgbClr val="FFFFFF"/>
                </a:solidFill>
                <a:latin typeface="Malgun Gothic"/>
                <a:ea typeface="Malgun Gothic"/>
                <a:cs typeface="Malgun Gothic"/>
              </a:rPr>
              <a:t>경량화</a:t>
            </a:r>
          </a:p>
        </p:txBody>
      </p:sp>
      <p:sp>
        <p:nvSpPr>
          <p:cNvPr id="2" name="S01-subtitle">
            <a:extLst>
              <a:ext uri="{FF2B5EF4-FFF2-40B4-BE49-F238E27FC236}">
                <a16:creationId xmlns:a16="http://schemas.microsoft.com/office/drawing/2014/main" id="{881B07A9-251E-4C37-B7EE-41C04FF575A2}"/>
              </a:ext>
            </a:extLst>
          </p:cNvPr>
          <p:cNvSpPr>
            <a:spLocks noGrp="1"/>
          </p:cNvSpPr>
          <p:nvPr/>
        </p:nvSpPr>
        <p:spPr>
          <a:xfrm>
            <a:off x="647700" y="3810000"/>
            <a:ext cx="10477500" cy="533400"/>
          </a:xfrm>
          <a:prstGeom prst="rect">
            <a:avLst/>
          </a:prstGeom>
          <a:noFill/>
          <a:ln w="0">
            <a:noFill/>
          </a:ln>
        </p:spPr>
        <p:txBody>
          <a:bodyPr wrap="none" lIns="0" tIns="0" rIns="0" bIns="0" anchor="ctr">
            <a:noAutofit/>
          </a:bodyPr>
          <a:lstStyle/>
          <a:p>
            <a:pPr>
              <a:defRPr sz="2325" b="0">
                <a:solidFill>
                  <a:srgbClr val="FFFFFF"/>
                </a:solidFill>
                <a:latin typeface="Malgun Gothic"/>
                <a:ea typeface="Malgun Gothic"/>
                <a:cs typeface="Malgun Gothic"/>
              </a:defRPr>
            </a:pPr>
            <a:r>
              <a:rPr sz="2325" b="0">
                <a:solidFill>
                  <a:srgbClr val="FFFFFF"/>
                </a:solidFill>
                <a:latin typeface="Malgun Gothic"/>
                <a:ea typeface="Malgun Gothic"/>
                <a:cs typeface="Malgun Gothic"/>
              </a:rPr>
              <a:t>지식 증류와 INT8 양자화의 성능 교환관계</a:t>
            </a:r>
          </a:p>
        </p:txBody>
      </p:sp>
      <p:sp>
        <p:nvSpPr>
          <p:cNvPr id="3" name="S01-context">
            <a:extLst>
              <a:ext uri="{FF2B5EF4-FFF2-40B4-BE49-F238E27FC236}">
                <a16:creationId xmlns:a16="http://schemas.microsoft.com/office/drawing/2014/main" id="{4EA2CB9D-147A-44A2-8391-9CF930527BF9}"/>
              </a:ext>
            </a:extLst>
          </p:cNvPr>
          <p:cNvSpPr>
            <a:spLocks noGrp="1"/>
          </p:cNvSpPr>
          <p:nvPr/>
        </p:nvSpPr>
        <p:spPr>
          <a:xfrm>
            <a:off x="647700" y="4610100"/>
            <a:ext cx="9525000" cy="419100"/>
          </a:xfrm>
          <a:prstGeom prst="rect">
            <a:avLst/>
          </a:prstGeom>
          <a:noFill/>
          <a:ln w="0">
            <a:noFill/>
          </a:ln>
        </p:spPr>
        <p:txBody>
          <a:bodyPr wrap="none" lIns="0" tIns="0" rIns="0" bIns="0" anchor="ctr">
            <a:noAutofit/>
          </a:bodyPr>
          <a:lstStyle/>
          <a:p>
            <a:pPr>
              <a:defRPr sz="1800" b="0">
                <a:solidFill>
                  <a:srgbClr val="C8E2DE"/>
                </a:solidFill>
                <a:latin typeface="Malgun Gothic"/>
                <a:ea typeface="Malgun Gothic"/>
                <a:cs typeface="Malgun Gothic"/>
              </a:defRPr>
            </a:pPr>
            <a:r>
              <a:rPr sz="1800" b="0">
                <a:solidFill>
                  <a:srgbClr val="C8E2DE"/>
                </a:solidFill>
                <a:latin typeface="Malgun Gothic"/>
                <a:ea typeface="Malgun Gothic"/>
                <a:cs typeface="Malgun Gothic"/>
              </a:rPr>
              <a:t>연구실 세미나 · 5분</a:t>
            </a:r>
          </a:p>
        </p:txBody>
      </p:sp>
      <p:sp>
        <p:nvSpPr>
          <p:cNvPr id="4" name="S01-disclosure">
            <a:extLst>
              <a:ext uri="{FF2B5EF4-FFF2-40B4-BE49-F238E27FC236}">
                <a16:creationId xmlns:a16="http://schemas.microsoft.com/office/drawing/2014/main" id="{1CDDF37E-E3C1-4A58-88BC-77207933FA12}"/>
              </a:ext>
            </a:extLst>
          </p:cNvPr>
          <p:cNvSpPr>
            <a:spLocks noGrp="1"/>
          </p:cNvSpPr>
          <p:nvPr/>
        </p:nvSpPr>
        <p:spPr>
          <a:xfrm>
            <a:off x="647700" y="6191250"/>
            <a:ext cx="10477500" cy="342900"/>
          </a:xfrm>
          <a:prstGeom prst="rect">
            <a:avLst/>
          </a:prstGeom>
          <a:noFill/>
          <a:ln w="0">
            <a:noFill/>
          </a:ln>
        </p:spPr>
        <p:txBody>
          <a:bodyPr wrap="none" lIns="0" tIns="0" rIns="0" bIns="0" anchor="ctr">
            <a:noAutofit/>
          </a:bodyPr>
          <a:lstStyle/>
          <a:p>
            <a:pPr>
              <a:defRPr sz="1650" b="0">
                <a:solidFill>
                  <a:srgbClr val="C8E2DE"/>
                </a:solidFill>
                <a:latin typeface="Malgun Gothic"/>
                <a:ea typeface="Malgun Gothic"/>
                <a:cs typeface="Malgun Gothic"/>
              </a:defRPr>
            </a:pPr>
            <a:r>
              <a:rPr sz="1650" b="0">
                <a:solidFill>
                  <a:srgbClr val="C8E2DE"/>
                </a:solidFill>
                <a:latin typeface="Malgun Gothic"/>
                <a:ea typeface="Malgun Gothic"/>
                <a:cs typeface="Malgun Gothic"/>
              </a:rPr>
              <a:t>모든 성능 수치는 가상 예시입니다</a:t>
            </a:r>
          </a:p>
        </p:txBody>
      </p:sp>
    </p:spTree>
    <p:extLst>
      <p:ext uri="{BB962C8B-B14F-4D97-AF65-F5344CB8AC3E}">
        <p14:creationId xmlns:p14="http://schemas.microsoft.com/office/powerpoint/2010/main" val="1081520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AF9"/>
        </a:solidFill>
        <a:effectLst/>
      </p:bgPr>
    </p:bg>
    <p:spTree>
      <p:nvGrpSpPr>
        <p:cNvPr id="1" name=""/>
        <p:cNvGrpSpPr/>
        <p:nvPr/>
      </p:nvGrpSpPr>
      <p:grpSpPr>
        <a:xfrm>
          <a:off x="0" y="0"/>
          <a:ext cx="0" cy="0"/>
          <a:chOff x="0" y="0"/>
          <a:chExt cx="0" cy="0"/>
        </a:xfrm>
      </p:grpSpPr>
      <p:sp>
        <p:nvSpPr>
          <p:cNvPr id="18" name="S02-title">
            <a:extLst>
              <a:ext uri="{FF2B5EF4-FFF2-40B4-BE49-F238E27FC236}">
                <a16:creationId xmlns:a16="http://schemas.microsoft.com/office/drawing/2014/main" id="{6315F9F1-0BBD-4A88-92EC-F6EDB12505B0}"/>
              </a:ext>
            </a:extLst>
          </p:cNvPr>
          <p:cNvSpPr>
            <a:spLocks noGrp="1"/>
          </p:cNvSpPr>
          <p:nvPr/>
        </p:nvSpPr>
        <p:spPr>
          <a:xfrm>
            <a:off x="609600" y="438150"/>
            <a:ext cx="10972800" cy="666750"/>
          </a:xfrm>
          <a:prstGeom prst="rect">
            <a:avLst/>
          </a:prstGeom>
          <a:noFill/>
          <a:ln w="0">
            <a:noFill/>
          </a:ln>
        </p:spPr>
        <p:txBody>
          <a:bodyPr wrap="none" lIns="0" tIns="0" rIns="0" bIns="0" anchor="ctr">
            <a:noAutofit/>
          </a:bodyPr>
          <a:lstStyle/>
          <a:p>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원본 모델, 지식 증류, INT8 양자화</a:t>
            </a:r>
          </a:p>
        </p:txBody>
      </p:sp>
      <p:sp>
        <p:nvSpPr>
          <p:cNvPr id="2" name="S02-disclosure">
            <a:extLst>
              <a:ext uri="{FF2B5EF4-FFF2-40B4-BE49-F238E27FC236}">
                <a16:creationId xmlns:a16="http://schemas.microsoft.com/office/drawing/2014/main" id="{338D7C5E-66FA-469C-A9AD-BBBEBE263C2C}"/>
              </a:ext>
            </a:extLst>
          </p:cNvPr>
          <p:cNvSpPr>
            <a:spLocks noGrp="1"/>
          </p:cNvSpPr>
          <p:nvPr/>
        </p:nvSpPr>
        <p:spPr>
          <a:xfrm>
            <a:off x="609600" y="6286500"/>
            <a:ext cx="95250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2-number">
            <a:extLst>
              <a:ext uri="{FF2B5EF4-FFF2-40B4-BE49-F238E27FC236}">
                <a16:creationId xmlns:a16="http://schemas.microsoft.com/office/drawing/2014/main" id="{DABE90B2-EE35-41C5-8FF0-811B566FB3CC}"/>
              </a:ext>
            </a:extLst>
          </p:cNvPr>
          <p:cNvSpPr>
            <a:spLocks noGrp="1"/>
          </p:cNvSpPr>
          <p:nvPr/>
        </p:nvSpPr>
        <p:spPr>
          <a:xfrm>
            <a:off x="10953750" y="6286500"/>
            <a:ext cx="6096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02</a:t>
            </a:r>
          </a:p>
        </p:txBody>
      </p:sp>
      <p:sp>
        <p:nvSpPr>
          <p:cNvPr id="4" name="S02-stage-1">
            <a:extLst>
              <a:ext uri="{FF2B5EF4-FFF2-40B4-BE49-F238E27FC236}">
                <a16:creationId xmlns:a16="http://schemas.microsoft.com/office/drawing/2014/main" id="{4BF2E19D-7875-4BAC-9595-A5E06884DD12}"/>
              </a:ext>
            </a:extLst>
          </p:cNvPr>
          <p:cNvSpPr>
            <a:spLocks noGrp="1"/>
          </p:cNvSpPr>
          <p:nvPr/>
        </p:nvSpPr>
        <p:spPr>
          <a:xfrm>
            <a:off x="609600" y="2343150"/>
            <a:ext cx="3124200" cy="1066800"/>
          </a:xfrm>
          <a:prstGeom prst="rect">
            <a:avLst/>
          </a:prstGeom>
          <a:solidFill>
            <a:srgbClr val="7D9192"/>
          </a:solidFill>
          <a:ln w="0">
            <a:noFill/>
          </a:ln>
        </p:spPr>
        <p:txBody>
          <a:bodyPr anchor="ctr"/>
          <a:lstStyle/>
          <a:p>
            <a:pPr algn="ctr">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원본 모델</a:t>
            </a:r>
          </a:p>
        </p:txBody>
      </p:sp>
      <p:sp>
        <p:nvSpPr>
          <p:cNvPr id="5" name="S02-stage-2">
            <a:extLst>
              <a:ext uri="{FF2B5EF4-FFF2-40B4-BE49-F238E27FC236}">
                <a16:creationId xmlns:a16="http://schemas.microsoft.com/office/drawing/2014/main" id="{5EFEBC4D-44BC-4EBC-ADA2-7FDD965511FB}"/>
              </a:ext>
            </a:extLst>
          </p:cNvPr>
          <p:cNvSpPr>
            <a:spLocks noGrp="1"/>
          </p:cNvSpPr>
          <p:nvPr/>
        </p:nvSpPr>
        <p:spPr>
          <a:xfrm>
            <a:off x="4533900" y="2343150"/>
            <a:ext cx="3124200" cy="1066800"/>
          </a:xfrm>
          <a:prstGeom prst="rect">
            <a:avLst/>
          </a:prstGeom>
          <a:solidFill>
            <a:srgbClr val="007E80"/>
          </a:solidFill>
          <a:ln w="0">
            <a:noFill/>
          </a:ln>
        </p:spPr>
        <p:txBody>
          <a:bodyPr anchor="ctr"/>
          <a:lstStyle/>
          <a:p>
            <a:pPr algn="ctr">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지식 증류</a:t>
            </a:r>
          </a:p>
        </p:txBody>
      </p:sp>
      <p:sp>
        <p:nvSpPr>
          <p:cNvPr id="6" name="S02-stage-3">
            <a:extLst>
              <a:ext uri="{FF2B5EF4-FFF2-40B4-BE49-F238E27FC236}">
                <a16:creationId xmlns:a16="http://schemas.microsoft.com/office/drawing/2014/main" id="{9DE3AEFA-1DC3-4FF1-B401-3676139D4389}"/>
              </a:ext>
            </a:extLst>
          </p:cNvPr>
          <p:cNvSpPr>
            <a:spLocks noGrp="1"/>
          </p:cNvSpPr>
          <p:nvPr/>
        </p:nvSpPr>
        <p:spPr>
          <a:xfrm>
            <a:off x="8458200" y="2343150"/>
            <a:ext cx="3124200" cy="1066800"/>
          </a:xfrm>
          <a:prstGeom prst="rect">
            <a:avLst/>
          </a:prstGeom>
          <a:solidFill>
            <a:srgbClr val="173F40"/>
          </a:solidFill>
          <a:ln w="0">
            <a:noFill/>
          </a:ln>
        </p:spPr>
        <p:txBody>
          <a:bodyPr anchor="ctr"/>
          <a:lstStyle/>
          <a:p>
            <a:pPr algn="ctr">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INT8 양자화</a:t>
            </a:r>
          </a:p>
        </p:txBody>
      </p:sp>
      <p:cxnSp>
        <p:nvCxnSpPr>
          <p:cNvPr id="24" name="S02-link-2"/>
          <p:cNvCxnSpPr>
            <a:stCxn id="4" idx="3"/>
            <a:endCxn id="5" idx="1"/>
          </p:cNvCxnSpPr>
          <p:nvPr/>
        </p:nvCxnSpPr>
        <p:spPr>
          <a:xfrm>
            <a:off x="3733800" y="2876550"/>
            <a:ext cx="800100" cy="0"/>
          </a:xfrm>
          <a:prstGeom prst="straightConnector1">
            <a:avLst/>
          </a:prstGeom>
          <a:ln w="28575">
            <a:solidFill>
              <a:srgbClr val="456162"/>
            </a:solidFill>
            <a:tailEnd type="triangle" w="sm" len="sm"/>
          </a:ln>
        </p:spPr>
      </p:cxnSp>
      <p:cxnSp>
        <p:nvCxnSpPr>
          <p:cNvPr id="25" name="S02-link-3"/>
          <p:cNvCxnSpPr>
            <a:stCxn id="5" idx="3"/>
            <a:endCxn id="6" idx="1"/>
          </p:cNvCxnSpPr>
          <p:nvPr/>
        </p:nvCxnSpPr>
        <p:spPr>
          <a:xfrm>
            <a:off x="7658100" y="2876550"/>
            <a:ext cx="800100" cy="0"/>
          </a:xfrm>
          <a:prstGeom prst="straightConnector1">
            <a:avLst/>
          </a:prstGeom>
          <a:ln w="28575">
            <a:solidFill>
              <a:srgbClr val="456162"/>
            </a:solidFill>
            <a:tailEnd type="triangle" w="sm" len="sm"/>
          </a:ln>
        </p:spPr>
      </p:cxnSp>
      <p:sp>
        <p:nvSpPr>
          <p:cNvPr id="9" name="S02-flow-2">
            <a:extLst>
              <a:ext uri="{FF2B5EF4-FFF2-40B4-BE49-F238E27FC236}">
                <a16:creationId xmlns:a16="http://schemas.microsoft.com/office/drawing/2014/main" id="{63D8E09F-B10B-4A88-A3F4-8B69AB6D7956}"/>
              </a:ext>
            </a:extLst>
          </p:cNvPr>
          <p:cNvSpPr>
            <a:spLocks noGrp="1"/>
          </p:cNvSpPr>
          <p:nvPr/>
        </p:nvSpPr>
        <p:spPr>
          <a:xfrm>
            <a:off x="2800350" y="1781175"/>
            <a:ext cx="3238500" cy="361950"/>
          </a:xfrm>
          <a:prstGeom prst="rect">
            <a:avLst/>
          </a:prstGeom>
          <a:noFill/>
          <a:ln w="0">
            <a:noFill/>
          </a:ln>
        </p:spPr>
        <p:txBody>
          <a:bodyPr wrap="none" lIns="0" tIns="0" rIns="0" bIns="0" anchor="ctr">
            <a:noAutofit/>
          </a:bodyPr>
          <a:lstStyle/>
          <a:p>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예측 지식 전달</a:t>
            </a:r>
          </a:p>
        </p:txBody>
      </p:sp>
      <p:sp>
        <p:nvSpPr>
          <p:cNvPr id="10" name="S02-flow-3">
            <a:extLst>
              <a:ext uri="{FF2B5EF4-FFF2-40B4-BE49-F238E27FC236}">
                <a16:creationId xmlns:a16="http://schemas.microsoft.com/office/drawing/2014/main" id="{B9C7067B-B2B6-42C2-8AED-705DDC143E66}"/>
              </a:ext>
            </a:extLst>
          </p:cNvPr>
          <p:cNvSpPr>
            <a:spLocks noGrp="1"/>
          </p:cNvSpPr>
          <p:nvPr/>
        </p:nvSpPr>
        <p:spPr>
          <a:xfrm>
            <a:off x="6724650" y="1781175"/>
            <a:ext cx="3238500" cy="361950"/>
          </a:xfrm>
          <a:prstGeom prst="rect">
            <a:avLst/>
          </a:prstGeom>
          <a:noFill/>
          <a:ln w="0">
            <a:noFill/>
          </a:ln>
        </p:spPr>
        <p:txBody>
          <a:bodyPr wrap="none" lIns="0" tIns="0" rIns="0" bIns="0" anchor="ctr">
            <a:noAutofit/>
          </a:bodyPr>
          <a:lstStyle/>
          <a:p>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수치 표현 변환</a:t>
            </a:r>
          </a:p>
        </p:txBody>
      </p:sp>
      <p:sp>
        <p:nvSpPr>
          <p:cNvPr id="11" name="S02-name-1">
            <a:extLst>
              <a:ext uri="{FF2B5EF4-FFF2-40B4-BE49-F238E27FC236}">
                <a16:creationId xmlns:a16="http://schemas.microsoft.com/office/drawing/2014/main" id="{78357F85-2057-4A51-AD28-31EEAB8821D5}"/>
              </a:ext>
            </a:extLst>
          </p:cNvPr>
          <p:cNvSpPr>
            <a:spLocks noGrp="1"/>
          </p:cNvSpPr>
          <p:nvPr/>
        </p:nvSpPr>
        <p:spPr>
          <a:xfrm>
            <a:off x="609600" y="3619500"/>
            <a:ext cx="3124200" cy="400050"/>
          </a:xfrm>
          <a:prstGeom prst="rect">
            <a:avLst/>
          </a:prstGeom>
          <a:noFill/>
          <a:ln w="0">
            <a:noFill/>
          </a:ln>
        </p:spPr>
        <p:txBody>
          <a:bodyPr wrap="none" lIns="0" tIns="0" rIns="0" bIns="0" anchor="ctr">
            <a:noAutofit/>
          </a:bodyPr>
          <a:lstStyle/>
          <a:p>
            <a:pPr>
              <a:defRPr sz="2100" b="0">
                <a:solidFill>
                  <a:srgbClr val="456162"/>
                </a:solidFill>
                <a:latin typeface="Malgun Gothic"/>
                <a:ea typeface="Malgun Gothic"/>
                <a:cs typeface="Malgun Gothic"/>
              </a:defRPr>
            </a:pPr>
            <a:r>
              <a:rPr sz="2100" b="0">
                <a:solidFill>
                  <a:srgbClr val="456162"/>
                </a:solidFill>
                <a:latin typeface="Malgun Gothic"/>
                <a:ea typeface="Malgun Gothic"/>
                <a:cs typeface="Malgun Gothic"/>
              </a:rPr>
              <a:t>baseline</a:t>
            </a:r>
          </a:p>
        </p:txBody>
      </p:sp>
      <p:sp>
        <p:nvSpPr>
          <p:cNvPr id="12" name="S02-name-2">
            <a:extLst>
              <a:ext uri="{FF2B5EF4-FFF2-40B4-BE49-F238E27FC236}">
                <a16:creationId xmlns:a16="http://schemas.microsoft.com/office/drawing/2014/main" id="{EB0257C9-B14C-458A-93DB-B450017F4AAF}"/>
              </a:ext>
            </a:extLst>
          </p:cNvPr>
          <p:cNvSpPr>
            <a:spLocks noGrp="1"/>
          </p:cNvSpPr>
          <p:nvPr/>
        </p:nvSpPr>
        <p:spPr>
          <a:xfrm>
            <a:off x="4533900" y="3619500"/>
            <a:ext cx="3124200" cy="400050"/>
          </a:xfrm>
          <a:prstGeom prst="rect">
            <a:avLst/>
          </a:prstGeom>
          <a:noFill/>
          <a:ln w="0">
            <a:noFill/>
          </a:ln>
        </p:spPr>
        <p:txBody>
          <a:bodyPr wrap="none" lIns="0" tIns="0" rIns="0" bIns="0" anchor="ctr">
            <a:noAutofit/>
          </a:bodyPr>
          <a:lstStyle/>
          <a:p>
            <a:pPr>
              <a:defRPr sz="2100" b="0">
                <a:solidFill>
                  <a:srgbClr val="007E80"/>
                </a:solidFill>
                <a:latin typeface="Malgun Gothic"/>
                <a:ea typeface="Malgun Gothic"/>
                <a:cs typeface="Malgun Gothic"/>
              </a:defRPr>
            </a:pPr>
            <a:r>
              <a:rPr sz="2100" b="0">
                <a:solidFill>
                  <a:srgbClr val="007E80"/>
                </a:solidFill>
                <a:latin typeface="Malgun Gothic"/>
                <a:ea typeface="Malgun Gothic"/>
                <a:cs typeface="Malgun Gothic"/>
              </a:rPr>
              <a:t>distilled</a:t>
            </a:r>
          </a:p>
        </p:txBody>
      </p:sp>
      <p:sp>
        <p:nvSpPr>
          <p:cNvPr id="13" name="S02-name-3">
            <a:extLst>
              <a:ext uri="{FF2B5EF4-FFF2-40B4-BE49-F238E27FC236}">
                <a16:creationId xmlns:a16="http://schemas.microsoft.com/office/drawing/2014/main" id="{9CEF6620-D8D7-4A7C-B9D7-660A1C8C332F}"/>
              </a:ext>
            </a:extLst>
          </p:cNvPr>
          <p:cNvSpPr>
            <a:spLocks noGrp="1"/>
          </p:cNvSpPr>
          <p:nvPr/>
        </p:nvSpPr>
        <p:spPr>
          <a:xfrm>
            <a:off x="8458200" y="3619500"/>
            <a:ext cx="3124200" cy="400050"/>
          </a:xfrm>
          <a:prstGeom prst="rect">
            <a:avLst/>
          </a:prstGeom>
          <a:noFill/>
          <a:ln w="0">
            <a:noFill/>
          </a:ln>
        </p:spPr>
        <p:txBody>
          <a:bodyPr wrap="none" lIns="0" tIns="0" rIns="0" bIns="0" anchor="ctr">
            <a:noAutofit/>
          </a:bodyPr>
          <a:lstStyle/>
          <a:p>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int8</a:t>
            </a:r>
          </a:p>
        </p:txBody>
      </p:sp>
      <p:sp>
        <p:nvSpPr>
          <p:cNvPr id="14" name="S02-detail-1">
            <a:extLst>
              <a:ext uri="{FF2B5EF4-FFF2-40B4-BE49-F238E27FC236}">
                <a16:creationId xmlns:a16="http://schemas.microsoft.com/office/drawing/2014/main" id="{C6E9E600-9F07-4925-B08A-3A052029B13F}"/>
              </a:ext>
            </a:extLst>
          </p:cNvPr>
          <p:cNvSpPr>
            <a:spLocks noGrp="1"/>
          </p:cNvSpPr>
          <p:nvPr/>
        </p:nvSpPr>
        <p:spPr>
          <a:xfrm>
            <a:off x="609600" y="4238625"/>
            <a:ext cx="3124200" cy="857250"/>
          </a:xfrm>
          <a:prstGeom prst="rect">
            <a:avLst/>
          </a:prstGeom>
          <a:noFill/>
          <a:ln w="0">
            <a:noFill/>
          </a:ln>
        </p:spPr>
        <p:txBody>
          <a:bodyPr wrap="none" lIns="0" tIns="0" rIns="0" bIns="0" anchor="ctr">
            <a:noAutofit/>
          </a:bodyPr>
          <a:lstStyle/>
          <a:p>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기준 모델, 교사 역할</a:t>
            </a:r>
          </a:p>
        </p:txBody>
      </p:sp>
      <p:sp>
        <p:nvSpPr>
          <p:cNvPr id="15" name="S02-detail-2">
            <a:extLst>
              <a:ext uri="{FF2B5EF4-FFF2-40B4-BE49-F238E27FC236}">
                <a16:creationId xmlns:a16="http://schemas.microsoft.com/office/drawing/2014/main" id="{0F1A5465-FA6D-4751-A64F-58AACA05A41B}"/>
              </a:ext>
            </a:extLst>
          </p:cNvPr>
          <p:cNvSpPr>
            <a:spLocks noGrp="1"/>
          </p:cNvSpPr>
          <p:nvPr/>
        </p:nvSpPr>
        <p:spPr>
          <a:xfrm>
            <a:off x="4533900" y="4238625"/>
            <a:ext cx="3124200" cy="857250"/>
          </a:xfrm>
          <a:prstGeom prst="rect">
            <a:avLst/>
          </a:prstGeom>
          <a:noFill/>
          <a:ln w="0">
            <a:noFill/>
          </a:ln>
        </p:spPr>
        <p:txBody>
          <a:bodyPr wrap="none" lIns="0" tIns="0" rIns="0" bIns="0" anchor="ctr">
            <a:noAutofit/>
          </a:bodyPr>
          <a:lstStyle/>
          <a:p>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교사 예측을 활용해</a:t>
            </a:r>
          </a:p>
          <a:p>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작은 학생 모델을 학습</a:t>
            </a:r>
          </a:p>
        </p:txBody>
      </p:sp>
      <p:sp>
        <p:nvSpPr>
          <p:cNvPr id="16" name="S02-detail-3">
            <a:extLst>
              <a:ext uri="{FF2B5EF4-FFF2-40B4-BE49-F238E27FC236}">
                <a16:creationId xmlns:a16="http://schemas.microsoft.com/office/drawing/2014/main" id="{7BE96265-20AF-47F5-858C-1B2B58B56435}"/>
              </a:ext>
            </a:extLst>
          </p:cNvPr>
          <p:cNvSpPr>
            <a:spLocks noGrp="1"/>
          </p:cNvSpPr>
          <p:nvPr/>
        </p:nvSpPr>
        <p:spPr>
          <a:xfrm>
            <a:off x="8458200" y="4238625"/>
            <a:ext cx="3124200" cy="857250"/>
          </a:xfrm>
          <a:prstGeom prst="rect">
            <a:avLst/>
          </a:prstGeom>
          <a:noFill/>
          <a:ln w="0">
            <a:noFill/>
          </a:ln>
        </p:spPr>
        <p:txBody>
          <a:bodyPr wrap="none" lIns="0" tIns="0" rIns="0" bIns="0" anchor="ctr">
            <a:noAutofit/>
          </a:bodyPr>
          <a:lstStyle/>
          <a:p>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학생 모델의 수치를</a:t>
            </a:r>
          </a:p>
          <a:p>
            <a:pPr>
              <a:defRPr sz="2025" b="0">
                <a:solidFill>
                  <a:srgbClr val="173F40"/>
                </a:solidFill>
                <a:latin typeface="Malgun Gothic"/>
                <a:ea typeface="Malgun Gothic"/>
                <a:cs typeface="Malgun Gothic"/>
              </a:defRPr>
            </a:pPr>
            <a:r>
              <a:rPr sz="2025" b="0">
                <a:solidFill>
                  <a:srgbClr val="173F40"/>
                </a:solidFill>
                <a:latin typeface="Malgun Gothic"/>
                <a:ea typeface="Malgun Gothic"/>
                <a:cs typeface="Malgun Gothic"/>
              </a:rPr>
              <a:t>8비트 정수로 표현</a:t>
            </a:r>
          </a:p>
        </p:txBody>
      </p:sp>
      <p:sp>
        <p:nvSpPr>
          <p:cNvPr id="17" name="S02-caveat">
            <a:extLst>
              <a:ext uri="{FF2B5EF4-FFF2-40B4-BE49-F238E27FC236}">
                <a16:creationId xmlns:a16="http://schemas.microsoft.com/office/drawing/2014/main" id="{7B4DF687-57F2-49B1-943F-AC36FF2C1499}"/>
              </a:ext>
            </a:extLst>
          </p:cNvPr>
          <p:cNvSpPr>
            <a:spLocks noGrp="1"/>
          </p:cNvSpPr>
          <p:nvPr/>
        </p:nvSpPr>
        <p:spPr>
          <a:xfrm>
            <a:off x="609600" y="5572125"/>
            <a:ext cx="10953750" cy="428625"/>
          </a:xfrm>
          <a:prstGeom prst="rect">
            <a:avLst/>
          </a:prstGeom>
          <a:noFill/>
          <a:ln w="0">
            <a:noFill/>
          </a:ln>
        </p:spPr>
        <p:txBody>
          <a:bodyPr wrap="none" lIns="0" tIns="0" rIns="0" bIns="0" anchor="ctr">
            <a:noAutofit/>
          </a:bodyPr>
          <a:lstStyle/>
          <a:p>
            <a:pPr>
              <a:defRPr sz="1725" b="0">
                <a:solidFill>
                  <a:srgbClr val="456162"/>
                </a:solidFill>
                <a:latin typeface="Malgun Gothic"/>
                <a:ea typeface="Malgun Gothic"/>
                <a:cs typeface="Malgun Gothic"/>
              </a:defRPr>
            </a:pPr>
            <a:r>
              <a:rPr sz="1725" b="0">
                <a:solidFill>
                  <a:srgbClr val="456162"/>
                </a:solidFill>
                <a:latin typeface="Malgun Gothic"/>
                <a:ea typeface="Malgun Gothic"/>
                <a:cs typeface="Malgun Gothic"/>
              </a:rPr>
              <a:t>개념도이며 모델 구조·학습 설정·양자화 범위는 미제공</a:t>
            </a:r>
          </a:p>
        </p:txBody>
      </p:sp>
    </p:spTree>
    <p:extLst>
      <p:ext uri="{BB962C8B-B14F-4D97-AF65-F5344CB8AC3E}">
        <p14:creationId xmlns:p14="http://schemas.microsoft.com/office/powerpoint/2010/main" val="1768447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350"/>
                                        <p:tgtEl>
                                          <p:spTgt spid="2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35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350"/>
                                        <p:tgtEl>
                                          <p:spTgt spid="6"/>
                                        </p:tgtEl>
                                      </p:cBhvr>
                                    </p:animEffect>
                                  </p:childTnLst>
                                </p:cTn>
                              </p:par>
                              <p:par>
                                <p:cTn id="25" presetID="10"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350"/>
                                        <p:tgtEl>
                                          <p:spTgt spid="2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5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35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p:bldP spid="10" grpId="0"/>
      <p:bldP spid="12" grpId="0"/>
      <p:bldP spid="13" grpId="0"/>
      <p:bldP spid="15" grpId="0"/>
      <p:bldP spid="16"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AF9"/>
        </a:solidFill>
        <a:effectLst/>
      </p:bgPr>
    </p:bg>
    <p:spTree>
      <p:nvGrpSpPr>
        <p:cNvPr id="1" name=""/>
        <p:cNvGrpSpPr/>
        <p:nvPr/>
      </p:nvGrpSpPr>
      <p:grpSpPr>
        <a:xfrm>
          <a:off x="0" y="0"/>
          <a:ext cx="0" cy="0"/>
          <a:chOff x="0" y="0"/>
          <a:chExt cx="0" cy="0"/>
        </a:xfrm>
      </p:grpSpPr>
      <p:sp>
        <p:nvSpPr>
          <p:cNvPr id="8" name="S03-title">
            <a:extLst>
              <a:ext uri="{FF2B5EF4-FFF2-40B4-BE49-F238E27FC236}">
                <a16:creationId xmlns:a16="http://schemas.microsoft.com/office/drawing/2014/main" id="{9D8094C0-743D-4103-9048-C9F1F1EFEC0A}"/>
              </a:ext>
            </a:extLst>
          </p:cNvPr>
          <p:cNvSpPr>
            <a:spLocks noGrp="1"/>
          </p:cNvSpPr>
          <p:nvPr/>
        </p:nvSpPr>
        <p:spPr>
          <a:xfrm>
            <a:off x="609600" y="438150"/>
            <a:ext cx="10972800" cy="666750"/>
          </a:xfrm>
          <a:prstGeom prst="rect">
            <a:avLst/>
          </a:prstGeom>
          <a:noFill/>
          <a:ln w="0">
            <a:noFill/>
          </a:ln>
        </p:spPr>
        <p:txBody>
          <a:bodyPr wrap="none" lIns="0" tIns="0" rIns="0" bIns="0" anchor="ctr">
            <a:noAutofit/>
          </a:bodyPr>
          <a:lstStyle/>
          <a:p>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동일 장치·데이터에서 비교한 가상 성능</a:t>
            </a:r>
          </a:p>
        </p:txBody>
      </p:sp>
      <p:sp>
        <p:nvSpPr>
          <p:cNvPr id="2" name="S03-disclosure">
            <a:extLst>
              <a:ext uri="{FF2B5EF4-FFF2-40B4-BE49-F238E27FC236}">
                <a16:creationId xmlns:a16="http://schemas.microsoft.com/office/drawing/2014/main" id="{DB2D7A61-BFAE-4FC4-B914-68911C377983}"/>
              </a:ext>
            </a:extLst>
          </p:cNvPr>
          <p:cNvSpPr>
            <a:spLocks noGrp="1"/>
          </p:cNvSpPr>
          <p:nvPr/>
        </p:nvSpPr>
        <p:spPr>
          <a:xfrm>
            <a:off x="609600" y="6286500"/>
            <a:ext cx="95250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3-number">
            <a:extLst>
              <a:ext uri="{FF2B5EF4-FFF2-40B4-BE49-F238E27FC236}">
                <a16:creationId xmlns:a16="http://schemas.microsoft.com/office/drawing/2014/main" id="{D3329BEC-519C-4FC7-84AC-A418E010F3F7}"/>
              </a:ext>
            </a:extLst>
          </p:cNvPr>
          <p:cNvSpPr>
            <a:spLocks noGrp="1"/>
          </p:cNvSpPr>
          <p:nvPr/>
        </p:nvSpPr>
        <p:spPr>
          <a:xfrm>
            <a:off x="10953750" y="6286500"/>
            <a:ext cx="6096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03</a:t>
            </a:r>
          </a:p>
        </p:txBody>
      </p:sp>
      <p:graphicFrame>
        <p:nvGraphicFramePr>
          <p:cNvPr id="11" name="표 10"/>
          <p:cNvGraphicFramePr/>
          <p:nvPr/>
        </p:nvGraphicFramePr>
        <p:xfrm>
          <a:off x="609600" y="2171700"/>
          <a:ext cx="10972800" cy="2857500"/>
        </p:xfrm>
        <a:graphic>
          <a:graphicData uri="http://schemas.openxmlformats.org/drawingml/2006/table">
            <a:tbl>
              <a:tblPr/>
              <a:tblGrid>
                <a:gridCol w="32004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3105150">
                  <a:extLst>
                    <a:ext uri="{9D8B030D-6E8A-4147-A177-3AD203B41FA5}">
                      <a16:colId xmlns:a16="http://schemas.microsoft.com/office/drawing/2014/main" val="20003"/>
                    </a:ext>
                  </a:extLst>
                </a:gridCol>
              </a:tblGrid>
              <a:tr h="714375">
                <a:tc>
                  <a:txBody>
                    <a:bodyPr/>
                    <a:lstStyle/>
                    <a:p>
                      <a:pPr algn="l"/>
                      <a:r>
                        <a:rPr sz="2175" b="1">
                          <a:solidFill>
                            <a:srgbClr val="FFFFFF"/>
                          </a:solidFill>
                          <a:latin typeface="Malgun Gothic"/>
                          <a:ea typeface="Malgun Gothic"/>
                          <a:cs typeface="Malgun Gothic"/>
                        </a:rPr>
                        <a:t>모델</a:t>
                      </a:r>
                    </a:p>
                  </a:txBody>
                  <a:tcPr anchor="ctr">
                    <a:solidFill>
                      <a:srgbClr val="173F40"/>
                    </a:solidFill>
                  </a:tcPr>
                </a:tc>
                <a:tc>
                  <a:txBody>
                    <a:bodyPr/>
                    <a:lstStyle/>
                    <a:p>
                      <a:pPr algn="ctr"/>
                      <a:r>
                        <a:rPr sz="2175" b="1">
                          <a:solidFill>
                            <a:srgbClr val="FFFFFF"/>
                          </a:solidFill>
                          <a:latin typeface="Malgun Gothic"/>
                          <a:ea typeface="Malgun Gothic"/>
                          <a:cs typeface="Malgun Gothic"/>
                        </a:rPr>
                        <a:t>지연 (ms)</a:t>
                      </a:r>
                    </a:p>
                  </a:txBody>
                  <a:tcPr anchor="ctr">
                    <a:solidFill>
                      <a:srgbClr val="173F40"/>
                    </a:solidFill>
                  </a:tcPr>
                </a:tc>
                <a:tc>
                  <a:txBody>
                    <a:bodyPr/>
                    <a:lstStyle/>
                    <a:p>
                      <a:pPr algn="ctr"/>
                      <a:r>
                        <a:rPr sz="2175" b="1">
                          <a:solidFill>
                            <a:srgbClr val="FFFFFF"/>
                          </a:solidFill>
                          <a:latin typeface="Malgun Gothic"/>
                          <a:ea typeface="Malgun Gothic"/>
                          <a:cs typeface="Malgun Gothic"/>
                        </a:rPr>
                        <a:t>F1</a:t>
                      </a:r>
                    </a:p>
                  </a:txBody>
                  <a:tcPr anchor="ctr">
                    <a:solidFill>
                      <a:srgbClr val="173F40"/>
                    </a:solidFill>
                  </a:tcPr>
                </a:tc>
                <a:tc>
                  <a:txBody>
                    <a:bodyPr/>
                    <a:lstStyle/>
                    <a:p>
                      <a:pPr algn="ctr"/>
                      <a:r>
                        <a:rPr sz="2175" b="1">
                          <a:solidFill>
                            <a:srgbClr val="FFFFFF"/>
                          </a:solidFill>
                          <a:latin typeface="Malgun Gothic"/>
                          <a:ea typeface="Malgun Gothic"/>
                          <a:cs typeface="Malgun Gothic"/>
                        </a:rPr>
                        <a:t>모델 크기 (MB)</a:t>
                      </a:r>
                    </a:p>
                  </a:txBody>
                  <a:tcPr anchor="ctr">
                    <a:solidFill>
                      <a:srgbClr val="173F40"/>
                    </a:solidFill>
                  </a:tcPr>
                </a:tc>
                <a:extLst>
                  <a:ext uri="{0D108BD9-81ED-4DB2-BD59-A6C34878D82A}">
                    <a16:rowId xmlns:a16="http://schemas.microsoft.com/office/drawing/2014/main" val="10000"/>
                  </a:ext>
                </a:extLst>
              </a:tr>
              <a:tr h="714375">
                <a:tc>
                  <a:txBody>
                    <a:bodyPr/>
                    <a:lstStyle/>
                    <a:p>
                      <a:pPr algn="l"/>
                      <a:r>
                        <a:rPr sz="2175" b="0">
                          <a:solidFill>
                            <a:srgbClr val="173F40"/>
                          </a:solidFill>
                          <a:latin typeface="Malgun Gothic"/>
                          <a:ea typeface="Malgun Gothic"/>
                          <a:cs typeface="Malgun Gothic"/>
                        </a:rPr>
                        <a:t>baseline</a:t>
                      </a:r>
                    </a:p>
                  </a:txBody>
                  <a:tcPr anchor="ctr">
                    <a:solidFill>
                      <a:srgbClr val="FFFFFF"/>
                    </a:solidFill>
                  </a:tcPr>
                </a:tc>
                <a:tc>
                  <a:txBody>
                    <a:bodyPr/>
                    <a:lstStyle/>
                    <a:p>
                      <a:pPr algn="ctr"/>
                      <a:r>
                        <a:rPr sz="2175" b="0">
                          <a:solidFill>
                            <a:srgbClr val="173F40"/>
                          </a:solidFill>
                          <a:latin typeface="Malgun Gothic"/>
                          <a:ea typeface="Malgun Gothic"/>
                          <a:cs typeface="Malgun Gothic"/>
                        </a:rPr>
                        <a:t>120</a:t>
                      </a:r>
                    </a:p>
                  </a:txBody>
                  <a:tcPr anchor="ctr">
                    <a:solidFill>
                      <a:srgbClr val="FFFFFF"/>
                    </a:solidFill>
                  </a:tcPr>
                </a:tc>
                <a:tc>
                  <a:txBody>
                    <a:bodyPr/>
                    <a:lstStyle/>
                    <a:p>
                      <a:pPr algn="ctr"/>
                      <a:r>
                        <a:rPr sz="2175" b="0">
                          <a:solidFill>
                            <a:srgbClr val="173F40"/>
                          </a:solidFill>
                          <a:latin typeface="Malgun Gothic"/>
                          <a:ea typeface="Malgun Gothic"/>
                          <a:cs typeface="Malgun Gothic"/>
                        </a:rPr>
                        <a:t>0.910</a:t>
                      </a:r>
                    </a:p>
                  </a:txBody>
                  <a:tcPr anchor="ctr">
                    <a:solidFill>
                      <a:srgbClr val="FFFFFF"/>
                    </a:solidFill>
                  </a:tcPr>
                </a:tc>
                <a:tc>
                  <a:txBody>
                    <a:bodyPr/>
                    <a:lstStyle/>
                    <a:p>
                      <a:pPr algn="ctr"/>
                      <a:r>
                        <a:rPr sz="2175" b="0">
                          <a:solidFill>
                            <a:srgbClr val="173F40"/>
                          </a:solidFill>
                          <a:latin typeface="Malgun Gothic"/>
                          <a:ea typeface="Malgun Gothic"/>
                          <a:cs typeface="Malgun Gothic"/>
                        </a:rPr>
                        <a:t>48</a:t>
                      </a:r>
                    </a:p>
                  </a:txBody>
                  <a:tcPr anchor="ctr">
                    <a:solidFill>
                      <a:srgbClr val="FFFFFF"/>
                    </a:solidFill>
                  </a:tcPr>
                </a:tc>
                <a:extLst>
                  <a:ext uri="{0D108BD9-81ED-4DB2-BD59-A6C34878D82A}">
                    <a16:rowId xmlns:a16="http://schemas.microsoft.com/office/drawing/2014/main" val="10001"/>
                  </a:ext>
                </a:extLst>
              </a:tr>
              <a:tr h="714375">
                <a:tc>
                  <a:txBody>
                    <a:bodyPr/>
                    <a:lstStyle/>
                    <a:p>
                      <a:pPr algn="l"/>
                      <a:r>
                        <a:rPr sz="2175" b="0">
                          <a:solidFill>
                            <a:srgbClr val="173F40"/>
                          </a:solidFill>
                          <a:latin typeface="Malgun Gothic"/>
                          <a:ea typeface="Malgun Gothic"/>
                          <a:cs typeface="Malgun Gothic"/>
                        </a:rPr>
                        <a:t>distilled</a:t>
                      </a:r>
                    </a:p>
                  </a:txBody>
                  <a:tcPr anchor="ctr">
                    <a:solidFill>
                      <a:srgbClr val="FFFFFF"/>
                    </a:solidFill>
                  </a:tcPr>
                </a:tc>
                <a:tc>
                  <a:txBody>
                    <a:bodyPr/>
                    <a:lstStyle/>
                    <a:p>
                      <a:pPr algn="ctr"/>
                      <a:r>
                        <a:rPr sz="2175" b="0">
                          <a:solidFill>
                            <a:srgbClr val="173F40"/>
                          </a:solidFill>
                          <a:latin typeface="Malgun Gothic"/>
                          <a:ea typeface="Malgun Gothic"/>
                          <a:cs typeface="Malgun Gothic"/>
                        </a:rPr>
                        <a:t>72</a:t>
                      </a:r>
                    </a:p>
                  </a:txBody>
                  <a:tcPr anchor="ctr">
                    <a:solidFill>
                      <a:srgbClr val="FFFFFF"/>
                    </a:solidFill>
                  </a:tcPr>
                </a:tc>
                <a:tc>
                  <a:txBody>
                    <a:bodyPr/>
                    <a:lstStyle/>
                    <a:p>
                      <a:pPr algn="ctr"/>
                      <a:r>
                        <a:rPr sz="2175" b="0">
                          <a:solidFill>
                            <a:srgbClr val="173F40"/>
                          </a:solidFill>
                          <a:latin typeface="Malgun Gothic"/>
                          <a:ea typeface="Malgun Gothic"/>
                          <a:cs typeface="Malgun Gothic"/>
                        </a:rPr>
                        <a:t>0.902</a:t>
                      </a:r>
                    </a:p>
                  </a:txBody>
                  <a:tcPr anchor="ctr">
                    <a:solidFill>
                      <a:srgbClr val="FFFFFF"/>
                    </a:solidFill>
                  </a:tcPr>
                </a:tc>
                <a:tc>
                  <a:txBody>
                    <a:bodyPr/>
                    <a:lstStyle/>
                    <a:p>
                      <a:pPr algn="ctr"/>
                      <a:r>
                        <a:rPr sz="2175" b="0">
                          <a:solidFill>
                            <a:srgbClr val="173F40"/>
                          </a:solidFill>
                          <a:latin typeface="Malgun Gothic"/>
                          <a:ea typeface="Malgun Gothic"/>
                          <a:cs typeface="Malgun Gothic"/>
                        </a:rPr>
                        <a:t>18</a:t>
                      </a:r>
                    </a:p>
                  </a:txBody>
                  <a:tcPr anchor="ctr">
                    <a:solidFill>
                      <a:srgbClr val="FFFFFF"/>
                    </a:solidFill>
                  </a:tcPr>
                </a:tc>
                <a:extLst>
                  <a:ext uri="{0D108BD9-81ED-4DB2-BD59-A6C34878D82A}">
                    <a16:rowId xmlns:a16="http://schemas.microsoft.com/office/drawing/2014/main" val="10002"/>
                  </a:ext>
                </a:extLst>
              </a:tr>
              <a:tr h="714375">
                <a:tc>
                  <a:txBody>
                    <a:bodyPr/>
                    <a:lstStyle/>
                    <a:p>
                      <a:pPr algn="l"/>
                      <a:r>
                        <a:rPr sz="2175" b="1">
                          <a:solidFill>
                            <a:srgbClr val="173F40"/>
                          </a:solidFill>
                          <a:latin typeface="Malgun Gothic"/>
                          <a:ea typeface="Malgun Gothic"/>
                          <a:cs typeface="Malgun Gothic"/>
                        </a:rPr>
                        <a:t>int8</a:t>
                      </a:r>
                    </a:p>
                  </a:txBody>
                  <a:tcPr anchor="ctr">
                    <a:solidFill>
                      <a:srgbClr val="E4F0EE"/>
                    </a:solidFill>
                  </a:tcPr>
                </a:tc>
                <a:tc>
                  <a:txBody>
                    <a:bodyPr/>
                    <a:lstStyle/>
                    <a:p>
                      <a:pPr algn="ctr"/>
                      <a:r>
                        <a:rPr sz="2175" b="1">
                          <a:solidFill>
                            <a:srgbClr val="173F40"/>
                          </a:solidFill>
                          <a:latin typeface="Malgun Gothic"/>
                          <a:ea typeface="Malgun Gothic"/>
                          <a:cs typeface="Malgun Gothic"/>
                        </a:rPr>
                        <a:t>54</a:t>
                      </a:r>
                    </a:p>
                  </a:txBody>
                  <a:tcPr anchor="ctr">
                    <a:solidFill>
                      <a:srgbClr val="E4F0EE"/>
                    </a:solidFill>
                  </a:tcPr>
                </a:tc>
                <a:tc>
                  <a:txBody>
                    <a:bodyPr/>
                    <a:lstStyle/>
                    <a:p>
                      <a:pPr algn="ctr"/>
                      <a:r>
                        <a:rPr sz="2175" b="1">
                          <a:solidFill>
                            <a:srgbClr val="173F40"/>
                          </a:solidFill>
                          <a:latin typeface="Malgun Gothic"/>
                          <a:ea typeface="Malgun Gothic"/>
                          <a:cs typeface="Malgun Gothic"/>
                        </a:rPr>
                        <a:t>0.896</a:t>
                      </a:r>
                    </a:p>
                  </a:txBody>
                  <a:tcPr anchor="ctr">
                    <a:solidFill>
                      <a:srgbClr val="E4F0EE"/>
                    </a:solidFill>
                  </a:tcPr>
                </a:tc>
                <a:tc>
                  <a:txBody>
                    <a:bodyPr/>
                    <a:lstStyle/>
                    <a:p>
                      <a:pPr algn="ctr"/>
                      <a:r>
                        <a:rPr sz="2175" b="1">
                          <a:solidFill>
                            <a:srgbClr val="173F40"/>
                          </a:solidFill>
                          <a:latin typeface="Malgun Gothic"/>
                          <a:ea typeface="Malgun Gothic"/>
                          <a:cs typeface="Malgun Gothic"/>
                        </a:rPr>
                        <a:t>12</a:t>
                      </a:r>
                    </a:p>
                  </a:txBody>
                  <a:tcPr anchor="ctr">
                    <a:solidFill>
                      <a:srgbClr val="E4F0EE"/>
                    </a:solidFill>
                  </a:tcPr>
                </a:tc>
                <a:extLst>
                  <a:ext uri="{0D108BD9-81ED-4DB2-BD59-A6C34878D82A}">
                    <a16:rowId xmlns:a16="http://schemas.microsoft.com/office/drawing/2014/main" val="10003"/>
                  </a:ext>
                </a:extLst>
              </a:tr>
            </a:tbl>
          </a:graphicData>
        </a:graphic>
      </p:graphicFrame>
      <p:sp>
        <p:nvSpPr>
          <p:cNvPr id="5" name="S03-direction">
            <a:extLst>
              <a:ext uri="{FF2B5EF4-FFF2-40B4-BE49-F238E27FC236}">
                <a16:creationId xmlns:a16="http://schemas.microsoft.com/office/drawing/2014/main" id="{5AA9D0A0-C261-4751-A545-A3C4CDEC1635}"/>
              </a:ext>
            </a:extLst>
          </p:cNvPr>
          <p:cNvSpPr>
            <a:spLocks noGrp="1"/>
          </p:cNvSpPr>
          <p:nvPr/>
        </p:nvSpPr>
        <p:spPr>
          <a:xfrm>
            <a:off x="609600" y="1562100"/>
            <a:ext cx="10972800" cy="361950"/>
          </a:xfrm>
          <a:prstGeom prst="rect">
            <a:avLst/>
          </a:prstGeom>
          <a:noFill/>
          <a:ln w="0">
            <a:noFill/>
          </a:ln>
        </p:spPr>
        <p:txBody>
          <a:bodyPr wrap="none" lIns="0" tIns="0" rIns="0" bIns="0" anchor="ctr">
            <a:noAutofit/>
          </a:bodyPr>
          <a:lstStyle/>
          <a:p>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지연·모델 크기는 낮을수록, F1은 높을수록 좋음</a:t>
            </a:r>
          </a:p>
        </p:txBody>
      </p:sp>
      <p:sp>
        <p:nvSpPr>
          <p:cNvPr id="6" name="S03-missing">
            <a:extLst>
              <a:ext uri="{FF2B5EF4-FFF2-40B4-BE49-F238E27FC236}">
                <a16:creationId xmlns:a16="http://schemas.microsoft.com/office/drawing/2014/main" id="{148DD3D7-4E27-464B-A042-60E267C53DEB}"/>
              </a:ext>
            </a:extLst>
          </p:cNvPr>
          <p:cNvSpPr>
            <a:spLocks noGrp="1"/>
          </p:cNvSpPr>
          <p:nvPr/>
        </p:nvSpPr>
        <p:spPr>
          <a:xfrm>
            <a:off x="609600" y="5334000"/>
            <a:ext cx="10972800" cy="342900"/>
          </a:xfrm>
          <a:prstGeom prst="rect">
            <a:avLst/>
          </a:prstGeom>
          <a:noFill/>
          <a:ln w="0">
            <a:noFill/>
          </a:ln>
        </p:spPr>
        <p:txBody>
          <a:bodyPr wrap="none" lIns="0" tIns="0" rIns="0" bIns="0" anchor="ctr">
            <a:noAutofit/>
          </a:bodyPr>
          <a:lstStyle/>
          <a:p>
            <a:pPr>
              <a:defRPr sz="2025" b="1">
                <a:solidFill>
                  <a:srgbClr val="173F40"/>
                </a:solidFill>
                <a:latin typeface="Malgun Gothic"/>
                <a:ea typeface="Malgun Gothic"/>
                <a:cs typeface="Malgun Gothic"/>
              </a:defRPr>
            </a:pPr>
            <a:r>
              <a:rPr sz="2025" b="1">
                <a:solidFill>
                  <a:srgbClr val="173F40"/>
                </a:solidFill>
                <a:latin typeface="Malgun Gothic"/>
                <a:ea typeface="Malgun Gothic"/>
                <a:cs typeface="Malgun Gothic"/>
              </a:rPr>
              <a:t>표본수·분산·실제 데이터셋명 미제공</a:t>
            </a:r>
          </a:p>
        </p:txBody>
      </p:sp>
      <p:sp>
        <p:nvSpPr>
          <p:cNvPr id="7" name="S03-limit">
            <a:extLst>
              <a:ext uri="{FF2B5EF4-FFF2-40B4-BE49-F238E27FC236}">
                <a16:creationId xmlns:a16="http://schemas.microsoft.com/office/drawing/2014/main" id="{EF3C35A4-45B5-4D51-AB8F-5890D6C53FD2}"/>
              </a:ext>
            </a:extLst>
          </p:cNvPr>
          <p:cNvSpPr>
            <a:spLocks noGrp="1"/>
          </p:cNvSpPr>
          <p:nvPr/>
        </p:nvSpPr>
        <p:spPr>
          <a:xfrm>
            <a:off x="609600" y="5724525"/>
            <a:ext cx="10972800" cy="342900"/>
          </a:xfrm>
          <a:prstGeom prst="rect">
            <a:avLst/>
          </a:prstGeom>
          <a:noFill/>
          <a:ln w="0">
            <a:noFill/>
          </a:ln>
        </p:spPr>
        <p:txBody>
          <a:bodyPr wrap="none" lIns="0" tIns="0" rIns="0" bIns="0" anchor="ctr">
            <a:noAutofit/>
          </a:bodyPr>
          <a:lstStyle/>
          <a:p>
            <a:pPr>
              <a:defRPr sz="1800" b="0">
                <a:solidFill>
                  <a:srgbClr val="456162"/>
                </a:solidFill>
                <a:latin typeface="Malgun Gothic"/>
                <a:ea typeface="Malgun Gothic"/>
                <a:cs typeface="Malgun Gothic"/>
              </a:defRPr>
            </a:pPr>
            <a:r>
              <a:rPr sz="1800" b="0">
                <a:solidFill>
                  <a:srgbClr val="456162"/>
                </a:solidFill>
                <a:latin typeface="Malgun Gothic"/>
                <a:ea typeface="Malgun Gothic"/>
                <a:cs typeface="Malgun Gothic"/>
              </a:rPr>
              <a:t>통계적 유의성이나 신뢰구간을 계산할 수 없음</a:t>
            </a:r>
          </a:p>
        </p:txBody>
      </p:sp>
    </p:spTree>
    <p:extLst>
      <p:ext uri="{BB962C8B-B14F-4D97-AF65-F5344CB8AC3E}">
        <p14:creationId xmlns:p14="http://schemas.microsoft.com/office/powerpoint/2010/main" val="159994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AF9"/>
        </a:solidFill>
        <a:effectLst/>
      </p:bgPr>
    </p:bg>
    <p:spTree>
      <p:nvGrpSpPr>
        <p:cNvPr id="1" name=""/>
        <p:cNvGrpSpPr/>
        <p:nvPr/>
      </p:nvGrpSpPr>
      <p:grpSpPr>
        <a:xfrm>
          <a:off x="0" y="0"/>
          <a:ext cx="0" cy="0"/>
          <a:chOff x="0" y="0"/>
          <a:chExt cx="0" cy="0"/>
        </a:xfrm>
      </p:grpSpPr>
      <p:sp>
        <p:nvSpPr>
          <p:cNvPr id="13" name="S04-title">
            <a:extLst>
              <a:ext uri="{FF2B5EF4-FFF2-40B4-BE49-F238E27FC236}">
                <a16:creationId xmlns:a16="http://schemas.microsoft.com/office/drawing/2014/main" id="{45CE6C9E-03EA-4E61-9492-3EF2E0A6070B}"/>
              </a:ext>
            </a:extLst>
          </p:cNvPr>
          <p:cNvSpPr>
            <a:spLocks noGrp="1"/>
          </p:cNvSpPr>
          <p:nvPr/>
        </p:nvSpPr>
        <p:spPr>
          <a:xfrm>
            <a:off x="609600" y="438150"/>
            <a:ext cx="10972800" cy="666750"/>
          </a:xfrm>
          <a:prstGeom prst="rect">
            <a:avLst/>
          </a:prstGeom>
          <a:noFill/>
          <a:ln w="0">
            <a:noFill/>
          </a:ln>
        </p:spPr>
        <p:txBody>
          <a:bodyPr wrap="none" lIns="0" tIns="0" rIns="0" bIns="0" anchor="ctr">
            <a:noAutofit/>
          </a:bodyPr>
          <a:lstStyle/>
          <a:p>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지연 55% 감소와 F1 0.014 하락</a:t>
            </a:r>
          </a:p>
        </p:txBody>
      </p:sp>
      <p:sp>
        <p:nvSpPr>
          <p:cNvPr id="2" name="S04-disclosure">
            <a:extLst>
              <a:ext uri="{FF2B5EF4-FFF2-40B4-BE49-F238E27FC236}">
                <a16:creationId xmlns:a16="http://schemas.microsoft.com/office/drawing/2014/main" id="{C8AC3A78-949B-41F9-AD9A-77F2925D5AF3}"/>
              </a:ext>
            </a:extLst>
          </p:cNvPr>
          <p:cNvSpPr>
            <a:spLocks noGrp="1"/>
          </p:cNvSpPr>
          <p:nvPr/>
        </p:nvSpPr>
        <p:spPr>
          <a:xfrm>
            <a:off x="609600" y="6286500"/>
            <a:ext cx="95250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4-number">
            <a:extLst>
              <a:ext uri="{FF2B5EF4-FFF2-40B4-BE49-F238E27FC236}">
                <a16:creationId xmlns:a16="http://schemas.microsoft.com/office/drawing/2014/main" id="{26C6A625-8088-4565-9944-0F41CE84CACC}"/>
              </a:ext>
            </a:extLst>
          </p:cNvPr>
          <p:cNvSpPr>
            <a:spLocks noGrp="1"/>
          </p:cNvSpPr>
          <p:nvPr/>
        </p:nvSpPr>
        <p:spPr>
          <a:xfrm>
            <a:off x="10953750" y="6286500"/>
            <a:ext cx="6096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04</a:t>
            </a:r>
          </a:p>
        </p:txBody>
      </p:sp>
      <p:sp>
        <p:nvSpPr>
          <p:cNvPr id="4" name="S04-chart-unit">
            <a:extLst>
              <a:ext uri="{FF2B5EF4-FFF2-40B4-BE49-F238E27FC236}">
                <a16:creationId xmlns:a16="http://schemas.microsoft.com/office/drawing/2014/main" id="{302C4B0E-EAE5-4E5E-B13A-2E945741B099}"/>
              </a:ext>
            </a:extLst>
          </p:cNvPr>
          <p:cNvSpPr>
            <a:spLocks noGrp="1"/>
          </p:cNvSpPr>
          <p:nvPr/>
        </p:nvSpPr>
        <p:spPr>
          <a:xfrm>
            <a:off x="609600" y="1495425"/>
            <a:ext cx="5715000" cy="381000"/>
          </a:xfrm>
          <a:prstGeom prst="rect">
            <a:avLst/>
          </a:prstGeom>
          <a:noFill/>
          <a:ln w="0">
            <a:noFill/>
          </a:ln>
        </p:spPr>
        <p:txBody>
          <a:bodyPr wrap="none" lIns="0" tIns="0" rIns="0" bIns="0" anchor="ctr">
            <a:noAutofit/>
          </a:bodyPr>
          <a:lstStyle/>
          <a:p>
            <a:pPr>
              <a:defRPr sz="2025" b="1">
                <a:solidFill>
                  <a:srgbClr val="173F40"/>
                </a:solidFill>
                <a:latin typeface="Malgun Gothic"/>
                <a:ea typeface="Malgun Gothic"/>
                <a:cs typeface="Malgun Gothic"/>
              </a:defRPr>
            </a:pPr>
            <a:r>
              <a:rPr sz="2025" b="1">
                <a:solidFill>
                  <a:srgbClr val="173F40"/>
                </a:solidFill>
                <a:latin typeface="Malgun Gothic"/>
                <a:ea typeface="Malgun Gothic"/>
                <a:cs typeface="Malgun Gothic"/>
              </a:rPr>
              <a:t>지연 (ms)</a:t>
            </a:r>
          </a:p>
        </p:txBody>
      </p:sp>
      <p:graphicFrame>
        <p:nvGraphicFramePr>
          <p:cNvPr id="17" name="Chart"/>
          <p:cNvGraphicFramePr/>
          <p:nvPr/>
        </p:nvGraphicFramePr>
        <p:xfrm>
          <a:off x="514350" y="2076450"/>
          <a:ext cx="6810375" cy="3000375"/>
        </p:xfrm>
        <a:graphic>
          <a:graphicData uri="http://schemas.openxmlformats.org/drawingml/2006/chart">
            <c:chart xmlns:c="http://schemas.openxmlformats.org/drawingml/2006/chart" xmlns:r="http://schemas.openxmlformats.org/officeDocument/2006/relationships" r:id="rId3"/>
          </a:graphicData>
        </a:graphic>
      </p:graphicFrame>
      <p:sp>
        <p:nvSpPr>
          <p:cNvPr id="6" name="S04-frame">
            <a:extLst>
              <a:ext uri="{FF2B5EF4-FFF2-40B4-BE49-F238E27FC236}">
                <a16:creationId xmlns:a16="http://schemas.microsoft.com/office/drawing/2014/main" id="{58211554-628A-464E-A9A4-A4B317904E97}"/>
              </a:ext>
            </a:extLst>
          </p:cNvPr>
          <p:cNvSpPr>
            <a:spLocks noGrp="1"/>
          </p:cNvSpPr>
          <p:nvPr/>
        </p:nvSpPr>
        <p:spPr>
          <a:xfrm>
            <a:off x="7981950" y="1524000"/>
            <a:ext cx="3600450" cy="381000"/>
          </a:xfrm>
          <a:prstGeom prst="rect">
            <a:avLst/>
          </a:prstGeom>
          <a:noFill/>
          <a:ln w="0">
            <a:noFill/>
          </a:ln>
        </p:spPr>
        <p:txBody>
          <a:bodyPr wrap="none" lIns="0" tIns="0" rIns="0" bIns="0" anchor="ctr">
            <a:noAutofit/>
          </a:bodyPr>
          <a:lstStyle/>
          <a:p>
            <a:pPr>
              <a:defRPr sz="1875" b="0">
                <a:solidFill>
                  <a:srgbClr val="456162"/>
                </a:solidFill>
                <a:latin typeface="Malgun Gothic"/>
                <a:ea typeface="Malgun Gothic"/>
                <a:cs typeface="Malgun Gothic"/>
              </a:defRPr>
            </a:pPr>
            <a:r>
              <a:rPr sz="1875" b="0">
                <a:solidFill>
                  <a:srgbClr val="456162"/>
                </a:solidFill>
                <a:latin typeface="Malgun Gothic"/>
                <a:ea typeface="Malgun Gothic"/>
                <a:cs typeface="Malgun Gothic"/>
              </a:rPr>
              <a:t>baseline 대비 INT8</a:t>
            </a:r>
          </a:p>
        </p:txBody>
      </p:sp>
      <p:sp>
        <p:nvSpPr>
          <p:cNvPr id="7" name="S04-size">
            <a:extLst>
              <a:ext uri="{FF2B5EF4-FFF2-40B4-BE49-F238E27FC236}">
                <a16:creationId xmlns:a16="http://schemas.microsoft.com/office/drawing/2014/main" id="{BF8E7648-6A8E-4018-8147-B4024D61CF8D}"/>
              </a:ext>
            </a:extLst>
          </p:cNvPr>
          <p:cNvSpPr>
            <a:spLocks noGrp="1"/>
          </p:cNvSpPr>
          <p:nvPr/>
        </p:nvSpPr>
        <p:spPr>
          <a:xfrm>
            <a:off x="7981950" y="2190750"/>
            <a:ext cx="3600450" cy="523875"/>
          </a:xfrm>
          <a:prstGeom prst="rect">
            <a:avLst/>
          </a:prstGeom>
          <a:noFill/>
          <a:ln w="0">
            <a:noFill/>
          </a:ln>
        </p:spPr>
        <p:txBody>
          <a:bodyPr wrap="none" lIns="0" tIns="0" rIns="0" bIns="0" anchor="ctr">
            <a:noAutofit/>
          </a:bodyPr>
          <a:lstStyle/>
          <a:p>
            <a:pPr>
              <a:defRPr sz="2400" b="1">
                <a:solidFill>
                  <a:srgbClr val="007E80"/>
                </a:solidFill>
                <a:latin typeface="Malgun Gothic"/>
                <a:ea typeface="Malgun Gothic"/>
                <a:cs typeface="Malgun Gothic"/>
              </a:defRPr>
            </a:pPr>
            <a:r>
              <a:rPr sz="2400" b="1">
                <a:solidFill>
                  <a:srgbClr val="007E80"/>
                </a:solidFill>
                <a:latin typeface="Malgun Gothic"/>
                <a:ea typeface="Malgun Gothic"/>
                <a:cs typeface="Malgun Gothic"/>
              </a:rPr>
              <a:t>모델 크기 75% 감소</a:t>
            </a:r>
          </a:p>
        </p:txBody>
      </p:sp>
      <p:sp>
        <p:nvSpPr>
          <p:cNvPr id="8" name="S04-size-values">
            <a:extLst>
              <a:ext uri="{FF2B5EF4-FFF2-40B4-BE49-F238E27FC236}">
                <a16:creationId xmlns:a16="http://schemas.microsoft.com/office/drawing/2014/main" id="{D85D80CB-1927-456A-93EC-7A03BE76C26E}"/>
              </a:ext>
            </a:extLst>
          </p:cNvPr>
          <p:cNvSpPr>
            <a:spLocks noGrp="1"/>
          </p:cNvSpPr>
          <p:nvPr/>
        </p:nvSpPr>
        <p:spPr>
          <a:xfrm>
            <a:off x="7981950" y="2743200"/>
            <a:ext cx="3600450" cy="400050"/>
          </a:xfrm>
          <a:prstGeom prst="rect">
            <a:avLst/>
          </a:prstGeom>
          <a:noFill/>
          <a:ln w="0">
            <a:noFill/>
          </a:ln>
        </p:spPr>
        <p:txBody>
          <a:bodyPr wrap="none" lIns="0" tIns="0" rIns="0" bIns="0" anchor="ctr">
            <a:noAutofit/>
          </a:bodyPr>
          <a:lstStyle/>
          <a:p>
            <a:pPr>
              <a:defRPr sz="2025" b="0">
                <a:solidFill>
                  <a:srgbClr val="456162"/>
                </a:solidFill>
                <a:latin typeface="Malgun Gothic"/>
                <a:ea typeface="Malgun Gothic"/>
                <a:cs typeface="Malgun Gothic"/>
              </a:defRPr>
            </a:pPr>
            <a:r>
              <a:rPr sz="2025" b="0">
                <a:solidFill>
                  <a:srgbClr val="456162"/>
                </a:solidFill>
                <a:latin typeface="Malgun Gothic"/>
                <a:ea typeface="Malgun Gothic"/>
                <a:cs typeface="Malgun Gothic"/>
              </a:rPr>
              <a:t>48MB에서 12MB</a:t>
            </a:r>
          </a:p>
        </p:txBody>
      </p:sp>
      <p:sp>
        <p:nvSpPr>
          <p:cNvPr id="9" name="S04-f1">
            <a:extLst>
              <a:ext uri="{FF2B5EF4-FFF2-40B4-BE49-F238E27FC236}">
                <a16:creationId xmlns:a16="http://schemas.microsoft.com/office/drawing/2014/main" id="{4376FA26-13A3-43EC-89C1-42E80DFB369B}"/>
              </a:ext>
            </a:extLst>
          </p:cNvPr>
          <p:cNvSpPr>
            <a:spLocks noGrp="1"/>
          </p:cNvSpPr>
          <p:nvPr/>
        </p:nvSpPr>
        <p:spPr>
          <a:xfrm>
            <a:off x="7981950" y="3590925"/>
            <a:ext cx="3600450" cy="523875"/>
          </a:xfrm>
          <a:prstGeom prst="rect">
            <a:avLst/>
          </a:prstGeom>
          <a:noFill/>
          <a:ln w="0">
            <a:noFill/>
          </a:ln>
        </p:spPr>
        <p:txBody>
          <a:bodyPr wrap="none" lIns="0" tIns="0" rIns="0" bIns="0" anchor="ctr">
            <a:noAutofit/>
          </a:bodyPr>
          <a:lstStyle/>
          <a:p>
            <a:pPr>
              <a:defRPr sz="2400" b="1">
                <a:solidFill>
                  <a:srgbClr val="173F40"/>
                </a:solidFill>
                <a:latin typeface="Malgun Gothic"/>
                <a:ea typeface="Malgun Gothic"/>
                <a:cs typeface="Malgun Gothic"/>
              </a:defRPr>
            </a:pPr>
            <a:r>
              <a:rPr sz="2400" b="1">
                <a:solidFill>
                  <a:srgbClr val="173F40"/>
                </a:solidFill>
                <a:latin typeface="Malgun Gothic"/>
                <a:ea typeface="Malgun Gothic"/>
                <a:cs typeface="Malgun Gothic"/>
              </a:rPr>
              <a:t>F1 0.014 하락</a:t>
            </a:r>
          </a:p>
        </p:txBody>
      </p:sp>
      <p:sp>
        <p:nvSpPr>
          <p:cNvPr id="10" name="S04-f1-values">
            <a:extLst>
              <a:ext uri="{FF2B5EF4-FFF2-40B4-BE49-F238E27FC236}">
                <a16:creationId xmlns:a16="http://schemas.microsoft.com/office/drawing/2014/main" id="{551D06A7-F77C-41B5-BB2A-B5E8BEFEF372}"/>
              </a:ext>
            </a:extLst>
          </p:cNvPr>
          <p:cNvSpPr>
            <a:spLocks noGrp="1"/>
          </p:cNvSpPr>
          <p:nvPr/>
        </p:nvSpPr>
        <p:spPr>
          <a:xfrm>
            <a:off x="7981950" y="4143375"/>
            <a:ext cx="3600450" cy="400050"/>
          </a:xfrm>
          <a:prstGeom prst="rect">
            <a:avLst/>
          </a:prstGeom>
          <a:noFill/>
          <a:ln w="0">
            <a:noFill/>
          </a:ln>
        </p:spPr>
        <p:txBody>
          <a:bodyPr wrap="none" lIns="0" tIns="0" rIns="0" bIns="0" anchor="ctr">
            <a:noAutofit/>
          </a:bodyPr>
          <a:lstStyle/>
          <a:p>
            <a:pPr>
              <a:defRPr sz="2025" b="0">
                <a:solidFill>
                  <a:srgbClr val="456162"/>
                </a:solidFill>
                <a:latin typeface="Malgun Gothic"/>
                <a:ea typeface="Malgun Gothic"/>
                <a:cs typeface="Malgun Gothic"/>
              </a:defRPr>
            </a:pPr>
            <a:r>
              <a:rPr sz="2025" b="0">
                <a:solidFill>
                  <a:srgbClr val="456162"/>
                </a:solidFill>
                <a:latin typeface="Malgun Gothic"/>
                <a:ea typeface="Malgun Gothic"/>
                <a:cs typeface="Malgun Gothic"/>
              </a:rPr>
              <a:t>0.910에서 0.896</a:t>
            </a:r>
          </a:p>
        </p:txBody>
      </p:sp>
      <p:sp>
        <p:nvSpPr>
          <p:cNvPr id="11" name="S04-stage1">
            <a:extLst>
              <a:ext uri="{FF2B5EF4-FFF2-40B4-BE49-F238E27FC236}">
                <a16:creationId xmlns:a16="http://schemas.microsoft.com/office/drawing/2014/main" id="{9676950D-6679-4B2E-8247-8724338616F9}"/>
              </a:ext>
            </a:extLst>
          </p:cNvPr>
          <p:cNvSpPr>
            <a:spLocks noGrp="1"/>
          </p:cNvSpPr>
          <p:nvPr/>
        </p:nvSpPr>
        <p:spPr>
          <a:xfrm>
            <a:off x="609600" y="5343525"/>
            <a:ext cx="10972800" cy="371475"/>
          </a:xfrm>
          <a:prstGeom prst="rect">
            <a:avLst/>
          </a:prstGeom>
          <a:noFill/>
          <a:ln w="0">
            <a:noFill/>
          </a:ln>
        </p:spPr>
        <p:txBody>
          <a:bodyPr wrap="none" lIns="0" tIns="0" rIns="0" bIns="0" anchor="ctr">
            <a:noAutofit/>
          </a:bodyPr>
          <a:lstStyle/>
          <a:p>
            <a:pPr>
              <a:defRPr sz="1875" b="0">
                <a:solidFill>
                  <a:srgbClr val="173F40"/>
                </a:solidFill>
                <a:latin typeface="Malgun Gothic"/>
                <a:ea typeface="Malgun Gothic"/>
                <a:cs typeface="Malgun Gothic"/>
              </a:defRPr>
            </a:pPr>
            <a:r>
              <a:rPr sz="1875" b="0">
                <a:solidFill>
                  <a:srgbClr val="173F40"/>
                </a:solidFill>
                <a:latin typeface="Malgun Gothic"/>
                <a:ea typeface="Malgun Gothic"/>
                <a:cs typeface="Malgun Gothic"/>
              </a:rPr>
              <a:t>증류 단계: 지연 40% 감소, F1 0.008 하락</a:t>
            </a:r>
          </a:p>
        </p:txBody>
      </p:sp>
      <p:sp>
        <p:nvSpPr>
          <p:cNvPr id="12" name="S04-stage2">
            <a:extLst>
              <a:ext uri="{FF2B5EF4-FFF2-40B4-BE49-F238E27FC236}">
                <a16:creationId xmlns:a16="http://schemas.microsoft.com/office/drawing/2014/main" id="{205EE3CA-0AC9-48BB-BE6B-159C6BE53E73}"/>
              </a:ext>
            </a:extLst>
          </p:cNvPr>
          <p:cNvSpPr>
            <a:spLocks noGrp="1"/>
          </p:cNvSpPr>
          <p:nvPr/>
        </p:nvSpPr>
        <p:spPr>
          <a:xfrm>
            <a:off x="609600" y="5743575"/>
            <a:ext cx="10972800" cy="371475"/>
          </a:xfrm>
          <a:prstGeom prst="rect">
            <a:avLst/>
          </a:prstGeom>
          <a:noFill/>
          <a:ln w="0">
            <a:noFill/>
          </a:ln>
        </p:spPr>
        <p:txBody>
          <a:bodyPr wrap="none" lIns="0" tIns="0" rIns="0" bIns="0" anchor="ctr">
            <a:noAutofit/>
          </a:bodyPr>
          <a:lstStyle/>
          <a:p>
            <a:pPr>
              <a:defRPr sz="1875" b="0">
                <a:solidFill>
                  <a:srgbClr val="173F40"/>
                </a:solidFill>
                <a:latin typeface="Malgun Gothic"/>
                <a:ea typeface="Malgun Gothic"/>
                <a:cs typeface="Malgun Gothic"/>
              </a:defRPr>
            </a:pPr>
            <a:r>
              <a:rPr sz="1875" b="0">
                <a:solidFill>
                  <a:srgbClr val="173F40"/>
                </a:solidFill>
                <a:latin typeface="Malgun Gothic"/>
                <a:ea typeface="Malgun Gothic"/>
                <a:cs typeface="Malgun Gothic"/>
              </a:rPr>
              <a:t>추가 INT8 단계: 지연 25% 감소, F1 0.006 하락</a:t>
            </a:r>
          </a:p>
        </p:txBody>
      </p:sp>
    </p:spTree>
    <p:extLst>
      <p:ext uri="{BB962C8B-B14F-4D97-AF65-F5344CB8AC3E}">
        <p14:creationId xmlns:p14="http://schemas.microsoft.com/office/powerpoint/2010/main" val="1646886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AF9"/>
        </a:solidFill>
        <a:effectLst/>
      </p:bgPr>
    </p:bg>
    <p:spTree>
      <p:nvGrpSpPr>
        <p:cNvPr id="1" name=""/>
        <p:cNvGrpSpPr/>
        <p:nvPr/>
      </p:nvGrpSpPr>
      <p:grpSpPr>
        <a:xfrm>
          <a:off x="0" y="0"/>
          <a:ext cx="0" cy="0"/>
          <a:chOff x="0" y="0"/>
          <a:chExt cx="0" cy="0"/>
        </a:xfrm>
      </p:grpSpPr>
      <p:sp>
        <p:nvSpPr>
          <p:cNvPr id="11" name="S05-title">
            <a:extLst>
              <a:ext uri="{FF2B5EF4-FFF2-40B4-BE49-F238E27FC236}">
                <a16:creationId xmlns:a16="http://schemas.microsoft.com/office/drawing/2014/main" id="{97241E12-D374-4609-A1D5-A0F06B37E48A}"/>
              </a:ext>
            </a:extLst>
          </p:cNvPr>
          <p:cNvSpPr>
            <a:spLocks noGrp="1"/>
          </p:cNvSpPr>
          <p:nvPr/>
        </p:nvSpPr>
        <p:spPr>
          <a:xfrm>
            <a:off x="609600" y="438150"/>
            <a:ext cx="10972800" cy="666750"/>
          </a:xfrm>
          <a:prstGeom prst="rect">
            <a:avLst/>
          </a:prstGeom>
          <a:noFill/>
          <a:ln w="0">
            <a:noFill/>
          </a:ln>
        </p:spPr>
        <p:txBody>
          <a:bodyPr wrap="none" lIns="0" tIns="0" rIns="0" bIns="0" anchor="ctr">
            <a:noAutofit/>
          </a:bodyPr>
          <a:lstStyle/>
          <a:p>
            <a:pPr>
              <a:defRPr sz="3375" b="1">
                <a:solidFill>
                  <a:srgbClr val="173F40"/>
                </a:solidFill>
                <a:latin typeface="Malgun Gothic"/>
                <a:ea typeface="Malgun Gothic"/>
                <a:cs typeface="Malgun Gothic"/>
              </a:defRPr>
            </a:pPr>
            <a:r>
              <a:rPr sz="3375" b="1">
                <a:solidFill>
                  <a:srgbClr val="173F40"/>
                </a:solidFill>
                <a:latin typeface="Malgun Gothic"/>
                <a:ea typeface="Malgun Gothic"/>
                <a:cs typeface="Malgun Gothic"/>
              </a:rPr>
              <a:t>배포 판단에 필요한 추가 근거</a:t>
            </a:r>
          </a:p>
        </p:txBody>
      </p:sp>
      <p:sp>
        <p:nvSpPr>
          <p:cNvPr id="2" name="S05-disclosure">
            <a:extLst>
              <a:ext uri="{FF2B5EF4-FFF2-40B4-BE49-F238E27FC236}">
                <a16:creationId xmlns:a16="http://schemas.microsoft.com/office/drawing/2014/main" id="{616B4BA6-73F0-4A0F-904F-FD5BC39C737C}"/>
              </a:ext>
            </a:extLst>
          </p:cNvPr>
          <p:cNvSpPr>
            <a:spLocks noGrp="1"/>
          </p:cNvSpPr>
          <p:nvPr/>
        </p:nvSpPr>
        <p:spPr>
          <a:xfrm>
            <a:off x="609600" y="6286500"/>
            <a:ext cx="95250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모든 성능 수치는 가상 예시입니다</a:t>
            </a:r>
          </a:p>
        </p:txBody>
      </p:sp>
      <p:sp>
        <p:nvSpPr>
          <p:cNvPr id="3" name="S05-number">
            <a:extLst>
              <a:ext uri="{FF2B5EF4-FFF2-40B4-BE49-F238E27FC236}">
                <a16:creationId xmlns:a16="http://schemas.microsoft.com/office/drawing/2014/main" id="{888C7DBF-F9E7-4D8E-81BA-8BEECFD4C5D3}"/>
              </a:ext>
            </a:extLst>
          </p:cNvPr>
          <p:cNvSpPr>
            <a:spLocks noGrp="1"/>
          </p:cNvSpPr>
          <p:nvPr/>
        </p:nvSpPr>
        <p:spPr>
          <a:xfrm>
            <a:off x="10953750" y="6286500"/>
            <a:ext cx="609600" cy="285750"/>
          </a:xfrm>
          <a:prstGeom prst="rect">
            <a:avLst/>
          </a:prstGeom>
          <a:noFill/>
          <a:ln w="0">
            <a:noFill/>
          </a:ln>
        </p:spPr>
        <p:txBody>
          <a:bodyPr wrap="none" lIns="0" tIns="0" rIns="0" bIns="0" anchor="ctr">
            <a:noAutofit/>
          </a:bodyPr>
          <a:lstStyle/>
          <a:p>
            <a:pPr>
              <a:defRPr sz="1425" b="0">
                <a:solidFill>
                  <a:srgbClr val="456162"/>
                </a:solidFill>
                <a:latin typeface="Malgun Gothic"/>
                <a:ea typeface="Malgun Gothic"/>
                <a:cs typeface="Malgun Gothic"/>
              </a:defRPr>
            </a:pPr>
            <a:r>
              <a:rPr sz="1425" b="0">
                <a:solidFill>
                  <a:srgbClr val="456162"/>
                </a:solidFill>
                <a:latin typeface="Malgun Gothic"/>
                <a:ea typeface="Malgun Gothic"/>
                <a:cs typeface="Malgun Gothic"/>
              </a:rPr>
              <a:t>05</a:t>
            </a:r>
          </a:p>
        </p:txBody>
      </p:sp>
      <p:sp>
        <p:nvSpPr>
          <p:cNvPr id="4" name="S05-main">
            <a:extLst>
              <a:ext uri="{FF2B5EF4-FFF2-40B4-BE49-F238E27FC236}">
                <a16:creationId xmlns:a16="http://schemas.microsoft.com/office/drawing/2014/main" id="{AE9119FC-5889-4105-9317-FCD7088CEDA9}"/>
              </a:ext>
            </a:extLst>
          </p:cNvPr>
          <p:cNvSpPr>
            <a:spLocks noGrp="1"/>
          </p:cNvSpPr>
          <p:nvPr/>
        </p:nvSpPr>
        <p:spPr>
          <a:xfrm>
            <a:off x="609600" y="1600200"/>
            <a:ext cx="10972800" cy="1143000"/>
          </a:xfrm>
          <a:prstGeom prst="rect">
            <a:avLst/>
          </a:prstGeom>
          <a:noFill/>
          <a:ln w="0">
            <a:noFill/>
          </a:ln>
        </p:spPr>
        <p:txBody>
          <a:bodyPr wrap="none" lIns="0" tIns="0" rIns="0" bIns="0" anchor="ctr">
            <a:noAutofit/>
          </a:bodyPr>
          <a:lstStyle/>
          <a:p>
            <a:pPr>
              <a:defRPr sz="3000" b="1">
                <a:solidFill>
                  <a:srgbClr val="007E80"/>
                </a:solidFill>
                <a:latin typeface="Malgun Gothic"/>
                <a:ea typeface="Malgun Gothic"/>
                <a:cs typeface="Malgun Gothic"/>
              </a:defRPr>
            </a:pPr>
            <a:r>
              <a:rPr sz="3000" b="1">
                <a:solidFill>
                  <a:srgbClr val="007E80"/>
                </a:solidFill>
                <a:latin typeface="Malgun Gothic"/>
                <a:ea typeface="Malgun Gothic"/>
                <a:cs typeface="Malgun Gothic"/>
              </a:rPr>
              <a:t>이 가상 예시는 효율과 F1의</a:t>
            </a:r>
          </a:p>
          <a:p>
            <a:pPr>
              <a:defRPr sz="3000" b="1">
                <a:solidFill>
                  <a:srgbClr val="007E80"/>
                </a:solidFill>
                <a:latin typeface="Malgun Gothic"/>
                <a:ea typeface="Malgun Gothic"/>
                <a:cs typeface="Malgun Gothic"/>
              </a:defRPr>
            </a:pPr>
            <a:r>
              <a:rPr sz="3000" b="1">
                <a:solidFill>
                  <a:srgbClr val="007E80"/>
                </a:solidFill>
                <a:latin typeface="Malgun Gothic"/>
                <a:ea typeface="Malgun Gothic"/>
                <a:cs typeface="Malgun Gothic"/>
              </a:rPr>
              <a:t>교환관계를 보여줍니다</a:t>
            </a:r>
          </a:p>
        </p:txBody>
      </p:sp>
      <p:sp>
        <p:nvSpPr>
          <p:cNvPr id="5" name="S05-label1">
            <a:extLst>
              <a:ext uri="{FF2B5EF4-FFF2-40B4-BE49-F238E27FC236}">
                <a16:creationId xmlns:a16="http://schemas.microsoft.com/office/drawing/2014/main" id="{19CB339F-7AEC-4446-AF7D-400E8D1E571F}"/>
              </a:ext>
            </a:extLst>
          </p:cNvPr>
          <p:cNvSpPr>
            <a:spLocks noGrp="1"/>
          </p:cNvSpPr>
          <p:nvPr/>
        </p:nvSpPr>
        <p:spPr>
          <a:xfrm>
            <a:off x="609600" y="3209925"/>
            <a:ext cx="2952750" cy="419100"/>
          </a:xfrm>
          <a:prstGeom prst="rect">
            <a:avLst/>
          </a:prstGeom>
          <a:noFill/>
          <a:ln w="0">
            <a:noFill/>
          </a:ln>
        </p:spPr>
        <p:txBody>
          <a:bodyPr wrap="none" lIns="0" tIns="0" rIns="0" bIns="0" anchor="ctr">
            <a:noAutofit/>
          </a:bodyPr>
          <a:lstStyle/>
          <a:p>
            <a:pPr>
              <a:defRPr sz="2100" b="1">
                <a:solidFill>
                  <a:srgbClr val="173F40"/>
                </a:solidFill>
                <a:latin typeface="Malgun Gothic"/>
                <a:ea typeface="Malgun Gothic"/>
                <a:cs typeface="Malgun Gothic"/>
              </a:defRPr>
            </a:pPr>
            <a:r>
              <a:rPr sz="2100" b="1">
                <a:solidFill>
                  <a:srgbClr val="173F40"/>
                </a:solidFill>
                <a:latin typeface="Malgun Gothic"/>
                <a:ea typeface="Malgun Gothic"/>
                <a:cs typeface="Malgun Gothic"/>
              </a:rPr>
              <a:t>먼저 정할 기준</a:t>
            </a:r>
          </a:p>
        </p:txBody>
      </p:sp>
      <p:sp>
        <p:nvSpPr>
          <p:cNvPr id="6" name="S05-body1">
            <a:extLst>
              <a:ext uri="{FF2B5EF4-FFF2-40B4-BE49-F238E27FC236}">
                <a16:creationId xmlns:a16="http://schemas.microsoft.com/office/drawing/2014/main" id="{993E1567-B944-4B33-95C7-6B1DD9C309E1}"/>
              </a:ext>
            </a:extLst>
          </p:cNvPr>
          <p:cNvSpPr>
            <a:spLocks noGrp="1"/>
          </p:cNvSpPr>
          <p:nvPr/>
        </p:nvSpPr>
        <p:spPr>
          <a:xfrm>
            <a:off x="3714750" y="3209925"/>
            <a:ext cx="7867650" cy="419100"/>
          </a:xfrm>
          <a:prstGeom prst="rect">
            <a:avLst/>
          </a:prstGeom>
          <a:noFill/>
          <a:ln w="0">
            <a:noFill/>
          </a:ln>
        </p:spPr>
        <p:txBody>
          <a:bodyPr wrap="none" lIns="0" tIns="0" rIns="0" bIns="0" anchor="ctr">
            <a:noAutofit/>
          </a:bodyPr>
          <a:lstStyle/>
          <a:p>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허용 가능한 F1 저하와 지연 한도</a:t>
            </a:r>
          </a:p>
        </p:txBody>
      </p:sp>
      <p:sp>
        <p:nvSpPr>
          <p:cNvPr id="7" name="S05-label2">
            <a:extLst>
              <a:ext uri="{FF2B5EF4-FFF2-40B4-BE49-F238E27FC236}">
                <a16:creationId xmlns:a16="http://schemas.microsoft.com/office/drawing/2014/main" id="{A02F50EE-787A-4C8C-A12A-AA2687B3338E}"/>
              </a:ext>
            </a:extLst>
          </p:cNvPr>
          <p:cNvSpPr>
            <a:spLocks noGrp="1"/>
          </p:cNvSpPr>
          <p:nvPr/>
        </p:nvSpPr>
        <p:spPr>
          <a:xfrm>
            <a:off x="609600" y="4019550"/>
            <a:ext cx="2952750" cy="419100"/>
          </a:xfrm>
          <a:prstGeom prst="rect">
            <a:avLst/>
          </a:prstGeom>
          <a:noFill/>
          <a:ln w="0">
            <a:noFill/>
          </a:ln>
        </p:spPr>
        <p:txBody>
          <a:bodyPr wrap="none" lIns="0" tIns="0" rIns="0" bIns="0" anchor="ctr">
            <a:noAutofit/>
          </a:bodyPr>
          <a:lstStyle/>
          <a:p>
            <a:pPr>
              <a:defRPr sz="2100" b="1">
                <a:solidFill>
                  <a:srgbClr val="173F40"/>
                </a:solidFill>
                <a:latin typeface="Malgun Gothic"/>
                <a:ea typeface="Malgun Gothic"/>
                <a:cs typeface="Malgun Gothic"/>
              </a:defRPr>
            </a:pPr>
            <a:r>
              <a:rPr sz="2100" b="1">
                <a:solidFill>
                  <a:srgbClr val="173F40"/>
                </a:solidFill>
                <a:latin typeface="Malgun Gothic"/>
                <a:ea typeface="Malgun Gothic"/>
                <a:cs typeface="Malgun Gothic"/>
              </a:rPr>
              <a:t>다음 검증</a:t>
            </a:r>
          </a:p>
        </p:txBody>
      </p:sp>
      <p:sp>
        <p:nvSpPr>
          <p:cNvPr id="8" name="S05-body2">
            <a:extLst>
              <a:ext uri="{FF2B5EF4-FFF2-40B4-BE49-F238E27FC236}">
                <a16:creationId xmlns:a16="http://schemas.microsoft.com/office/drawing/2014/main" id="{2296F06B-7A65-410C-A998-8E8885A752F5}"/>
              </a:ext>
            </a:extLst>
          </p:cNvPr>
          <p:cNvSpPr>
            <a:spLocks noGrp="1"/>
          </p:cNvSpPr>
          <p:nvPr/>
        </p:nvSpPr>
        <p:spPr>
          <a:xfrm>
            <a:off x="3714750" y="4019550"/>
            <a:ext cx="7867650" cy="419100"/>
          </a:xfrm>
          <a:prstGeom prst="rect">
            <a:avLst/>
          </a:prstGeom>
          <a:noFill/>
          <a:ln w="0">
            <a:noFill/>
          </a:ln>
        </p:spPr>
        <p:txBody>
          <a:bodyPr wrap="none" lIns="0" tIns="0" rIns="0" bIns="0" anchor="ctr">
            <a:noAutofit/>
          </a:bodyPr>
          <a:lstStyle/>
          <a:p>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반복 측정의 분산, 이상 유형별 실패 사례</a:t>
            </a:r>
          </a:p>
        </p:txBody>
      </p:sp>
      <p:sp>
        <p:nvSpPr>
          <p:cNvPr id="9" name="S05-label3">
            <a:extLst>
              <a:ext uri="{FF2B5EF4-FFF2-40B4-BE49-F238E27FC236}">
                <a16:creationId xmlns:a16="http://schemas.microsoft.com/office/drawing/2014/main" id="{26FD1C54-C2BC-4896-8978-D9069F0E1372}"/>
              </a:ext>
            </a:extLst>
          </p:cNvPr>
          <p:cNvSpPr>
            <a:spLocks noGrp="1"/>
          </p:cNvSpPr>
          <p:nvPr/>
        </p:nvSpPr>
        <p:spPr>
          <a:xfrm>
            <a:off x="609600" y="4829175"/>
            <a:ext cx="2952750" cy="419100"/>
          </a:xfrm>
          <a:prstGeom prst="rect">
            <a:avLst/>
          </a:prstGeom>
          <a:noFill/>
          <a:ln w="0">
            <a:noFill/>
          </a:ln>
        </p:spPr>
        <p:txBody>
          <a:bodyPr wrap="none" lIns="0" tIns="0" rIns="0" bIns="0" anchor="ctr">
            <a:noAutofit/>
          </a:bodyPr>
          <a:lstStyle/>
          <a:p>
            <a:pPr>
              <a:defRPr sz="2100" b="1">
                <a:solidFill>
                  <a:srgbClr val="173F40"/>
                </a:solidFill>
                <a:latin typeface="Malgun Gothic"/>
                <a:ea typeface="Malgun Gothic"/>
                <a:cs typeface="Malgun Gothic"/>
              </a:defRPr>
            </a:pPr>
            <a:r>
              <a:rPr sz="2100" b="1">
                <a:solidFill>
                  <a:srgbClr val="173F40"/>
                </a:solidFill>
                <a:latin typeface="Malgun Gothic"/>
                <a:ea typeface="Malgun Gothic"/>
                <a:cs typeface="Malgun Gothic"/>
              </a:rPr>
              <a:t>현재의 한계</a:t>
            </a:r>
          </a:p>
        </p:txBody>
      </p:sp>
      <p:sp>
        <p:nvSpPr>
          <p:cNvPr id="10" name="S05-body3">
            <a:extLst>
              <a:ext uri="{FF2B5EF4-FFF2-40B4-BE49-F238E27FC236}">
                <a16:creationId xmlns:a16="http://schemas.microsoft.com/office/drawing/2014/main" id="{707D3BC3-06DF-43DA-9123-D3A600D75989}"/>
              </a:ext>
            </a:extLst>
          </p:cNvPr>
          <p:cNvSpPr>
            <a:spLocks noGrp="1"/>
          </p:cNvSpPr>
          <p:nvPr/>
        </p:nvSpPr>
        <p:spPr>
          <a:xfrm>
            <a:off x="3714750" y="4772025"/>
            <a:ext cx="7867650" cy="857250"/>
          </a:xfrm>
          <a:prstGeom prst="rect">
            <a:avLst/>
          </a:prstGeom>
          <a:noFill/>
          <a:ln w="0">
            <a:noFill/>
          </a:ln>
        </p:spPr>
        <p:txBody>
          <a:bodyPr wrap="none" lIns="0" tIns="0" rIns="0" bIns="0" anchor="ctr">
            <a:noAutofit/>
          </a:bodyPr>
          <a:lstStyle/>
          <a:p>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표본수·실제 데이터셋명이 없어</a:t>
            </a:r>
          </a:p>
          <a:p>
            <a:pPr>
              <a:defRPr sz="2100" b="0">
                <a:solidFill>
                  <a:srgbClr val="173F40"/>
                </a:solidFill>
                <a:latin typeface="Malgun Gothic"/>
                <a:ea typeface="Malgun Gothic"/>
                <a:cs typeface="Malgun Gothic"/>
              </a:defRPr>
            </a:pPr>
            <a:r>
              <a:rPr sz="2100" b="0">
                <a:solidFill>
                  <a:srgbClr val="173F40"/>
                </a:solidFill>
                <a:latin typeface="Malgun Gothic"/>
                <a:ea typeface="Malgun Gothic"/>
                <a:cs typeface="Malgun Gothic"/>
              </a:rPr>
              <a:t>일반화 판단 불가</a:t>
            </a:r>
          </a:p>
        </p:txBody>
      </p:sp>
    </p:spTree>
    <p:extLst>
      <p:ext uri="{BB962C8B-B14F-4D97-AF65-F5344CB8AC3E}">
        <p14:creationId xmlns:p14="http://schemas.microsoft.com/office/powerpoint/2010/main" val="210739972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646</Words>
  <Application>Microsoft Office PowerPoint</Application>
  <DocSecurity>0</DocSecurity>
  <PresentationFormat>와이드스크린</PresentationFormat>
  <Paragraphs>72</Paragraphs>
  <Slides>5</Slides>
  <Notes>5</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5</vt:i4>
      </vt:variant>
    </vt:vector>
  </HeadingPairs>
  <TitlesOfParts>
    <vt:vector size="8" baseType="lpstr">
      <vt:lpstr>Malgun Gothic</vt:lpstr>
      <vt:lpstr>Calibri</vt:lpstr>
      <vt:lpstr>ChatGPT</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ns0:coreProperties xmlns:dc="http://purl.org/dc/elements/1.1/" xmlns:ns0="http://schemas.openxmlformats.org/package/2006/metadata/core-properties" xmlns:ns2="http://purl.org/dc/terms/" xmlns:xsi="http://www.w3.org/2001/XMLSchema-instance">
  <dc:title>Presentation</dc:title>
  <dc:creator>Walnut Exporter</dc:creator>
  <ns0:revision>1</ns0:revision>
  <ns2:created xsi:type="dcterms:W3CDTF">2026-10-02T06:25:40Z</ns2:created>
  <ns2:modified xsi:type="dcterms:W3CDTF">2026-10-02T06:27:33Z</ns2:modified>
</ns0:coreProperties>
</file>