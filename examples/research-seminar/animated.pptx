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scatterChart>
        <c:scatterStyle val="lineMarker"/>
        <c:varyColors val="1"/>
        <c:ser>
          <c:idx val="0"/>
          <c:order val="0"/>
          <c:tx>
            <c:v>Models</c:v>
          </c:tx>
          <c:spPr>
            <a:ln w="0">
              <a:noFill/>
            </a:ln>
          </c:spPr>
          <c:marker>
            <c:symbol val="circle"/>
            <c:size val="10"/>
            <c:spPr>
              <a:solidFill>
                <a:srgbClr val="287D78"/>
              </a:solidFill>
              <a:ln>
                <a:noFill/>
              </a:ln>
            </c:spPr>
          </c:marker>
          <c:dLbls>
            <c:dLbl>
              <c:idx val="0"/>
              <c:tx>
                <c:rich>
                  <a:bodyPr/>
                  <a:lstStyle/>
                  <a:p>
                    <a:r>
                      <a:rPr sz="1800">
                        <a:solidFill>
                          <a:srgbClr val="1E302F"/>
                        </a:solidFill>
                        <a:latin typeface="Segoe UI"/>
                        <a:ea typeface="Segoe UI"/>
                        <a:cs typeface="Segoe UI"/>
                      </a:rPr>
                      <a:t>baseline</a:t>
                    </a:r>
                  </a:p>
                </c:rich>
              </c:tx>
              <c:spP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6F3F-4E20-A3FA-EAFBD7E50878}"/>
                </c:ext>
              </c:extLst>
            </c:dLbl>
            <c:dLbl>
              <c:idx val="1"/>
              <c:tx>
                <c:rich>
                  <a:bodyPr/>
                  <a:lstStyle/>
                  <a:p>
                    <a:r>
                      <a:rPr sz="1800">
                        <a:solidFill>
                          <a:srgbClr val="1E302F"/>
                        </a:solidFill>
                        <a:latin typeface="Segoe UI"/>
                        <a:ea typeface="Segoe UI"/>
                        <a:cs typeface="Segoe UI"/>
                      </a:rPr>
                      <a:t>distilled</a:t>
                    </a:r>
                  </a:p>
                </c:rich>
              </c:tx>
              <c:spP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6F3F-4E20-A3FA-EAFBD7E50878}"/>
                </c:ext>
              </c:extLst>
            </c:dLbl>
            <c:dLbl>
              <c:idx val="2"/>
              <c:tx>
                <c:rich>
                  <a:bodyPr/>
                  <a:lstStyle/>
                  <a:p>
                    <a:r>
                      <a:rPr sz="1800">
                        <a:solidFill>
                          <a:srgbClr val="1E302F"/>
                        </a:solidFill>
                        <a:latin typeface="Segoe UI"/>
                        <a:ea typeface="Segoe UI"/>
                        <a:cs typeface="Segoe UI"/>
                      </a:rPr>
                      <a:t>int8</a:t>
                    </a:r>
                  </a:p>
                </c:rich>
              </c:tx>
              <c:spP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6F3F-4E20-A3FA-EAFBD7E50878}"/>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xVal>
            <c:numRef>
              <c:f>'Chart Data'!$A$2:$A$4</c:f>
              <c:numCache>
                <c:formatCode>General</c:formatCode>
                <c:ptCount val="3"/>
                <c:pt idx="0">
                  <c:v>120</c:v>
                </c:pt>
                <c:pt idx="1">
                  <c:v>72</c:v>
                </c:pt>
                <c:pt idx="2">
                  <c:v>54</c:v>
                </c:pt>
              </c:numCache>
            </c:numRef>
          </c:xVal>
          <c:yVal>
            <c:numRef>
              <c:f>'Chart Data'!$B$2:$B$4</c:f>
              <c:numCache>
                <c:formatCode>0.000</c:formatCode>
                <c:ptCount val="3"/>
                <c:pt idx="0">
                  <c:v>0.91</c:v>
                </c:pt>
                <c:pt idx="1">
                  <c:v>0.90200000000000002</c:v>
                </c:pt>
                <c:pt idx="2">
                  <c:v>0.89600000000000002</c:v>
                </c:pt>
              </c:numCache>
            </c:numRef>
          </c:yVal>
          <c:smooth val="1"/>
          <c:extLst>
            <c:ext xmlns:c16="http://schemas.microsoft.com/office/drawing/2014/chart" uri="{C3380CC4-5D6E-409C-BE32-E72D297353CC}">
              <c16:uniqueId val="{00000003-6F3F-4E20-A3FA-EAFBD7E50878}"/>
            </c:ext>
          </c:extLst>
        </c:ser>
        <c:dLbls>
          <c:showLegendKey val="0"/>
          <c:showVal val="0"/>
          <c:showCatName val="0"/>
          <c:showSerName val="0"/>
          <c:showPercent val="0"/>
          <c:showBubbleSize val="0"/>
        </c:dLbls>
        <c:axId val="48650112"/>
        <c:axId val="48672768"/>
      </c:scatterChart>
      <c:valAx>
        <c:axId val="48672768"/>
        <c:scaling>
          <c:orientation val="minMax"/>
          <c:max val="0.91500000000000004"/>
          <c:min val="0.89"/>
        </c:scaling>
        <c:delete val="0"/>
        <c:axPos val="l"/>
        <c:majorGridlines>
          <c:spPr>
            <a:ln w="6668">
              <a:solidFill>
                <a:srgbClr val="CFD8D1"/>
              </a:solidFill>
            </a:ln>
          </c:spPr>
        </c:majorGridlines>
        <c:numFmt formatCode="0.000" sourceLinked="1"/>
        <c:majorTickMark val="none"/>
        <c:minorTickMark val="none"/>
        <c:tickLblPos val="nextTo"/>
        <c:spPr>
          <a:ln w="9525">
            <a:solidFill>
              <a:srgbClr val="CFD8D1"/>
            </a:solidFill>
          </a:ln>
        </c:spPr>
        <c:txPr>
          <a:bodyPr anchorCtr="1"/>
          <a:lstStyle/>
          <a:p>
            <a:pPr>
              <a:defRPr sz="1725">
                <a:solidFill>
                  <a:srgbClr val="1E302F"/>
                </a:solidFill>
                <a:latin typeface="Segoe UI"/>
                <a:ea typeface="Segoe UI"/>
                <a:cs typeface="Segoe UI"/>
              </a:defRPr>
            </a:pPr>
            <a:endParaRPr lang="ko-KR"/>
          </a:p>
        </c:txPr>
        <c:crossAx val="48650112"/>
        <c:crosses val="autoZero"/>
        <c:crossBetween val="midCat"/>
        <c:majorUnit val="5.0000000000000001E-3"/>
      </c:valAx>
      <c:valAx>
        <c:axId val="48650112"/>
        <c:scaling>
          <c:orientation val="minMax"/>
          <c:max val="140"/>
          <c:min val="40"/>
        </c:scaling>
        <c:delete val="0"/>
        <c:axPos val="b"/>
        <c:numFmt formatCode="General" sourceLinked="1"/>
        <c:majorTickMark val="none"/>
        <c:minorTickMark val="none"/>
        <c:tickLblPos val="nextTo"/>
        <c:spPr>
          <a:ln w="9525">
            <a:solidFill>
              <a:srgbClr val="CFD8D1"/>
            </a:solidFill>
          </a:ln>
        </c:spPr>
        <c:txPr>
          <a:bodyPr anchorCtr="1"/>
          <a:lstStyle/>
          <a:p>
            <a:pPr>
              <a:defRPr sz="1725">
                <a:solidFill>
                  <a:srgbClr val="1E302F"/>
                </a:solidFill>
                <a:latin typeface="Segoe UI"/>
                <a:ea typeface="Segoe UI"/>
                <a:cs typeface="Segoe UI"/>
              </a:defRPr>
            </a:pPr>
            <a:endParaRPr lang="ko-KR"/>
          </a:p>
        </c:txPr>
        <c:crossAx val="48672768"/>
        <c:crosses val="autoZero"/>
        <c:crossBetween val="midCat"/>
        <c:majorUnit val="20"/>
      </c:valAx>
      <c:spPr>
        <a:solidFill>
          <a:srgbClr val="F6F4EE"/>
        </a:solidFill>
      </c:spPr>
    </c:plotArea>
    <c:plotVisOnly val="1"/>
    <c:dispBlanksAs val="zero"/>
    <c:showDLblsOverMax val="1"/>
  </c:chart>
  <c:spPr>
    <a:solidFill>
      <a:srgbClr val="F6F4EE"/>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examine model compression for sensor anomaly detection and compare baseline with INT8 latency, F1 and model size. All values are fictional user-supplied examples, not empirical findings. A common device and dataset are assumed but unspecified. No acceptable accuracy-loss threshold is supplied.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teacher provides prediction knowledge for learning a smaller student; INT8 represents student numbers using 8-bit integers. Architecture, loss, quantization scope, and PTQ versus QAT are unspecified. Do not assume preservation of all teacher knowledge or claim a particular implementation. Concept sources: Hinton et al. (2015), https://arxiv.org/abs/1503.02531 ; Jacob et al. (2017), https://arxiv.org/abs/1712.05877 . No empirical results were taken from those papers.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Fictional values: baseline 120 ms / F1 0.910 / 48 MB; distilled 72 ms / 0.902 / 18 MB; int8 54 ms / 0.896 / 12 MB. The same device and data are assumed. Sample count, variance, dataset, split, device specifications, latency statistic, and F1 aggregation are unspecified. These are arithmetic comparisons, not evidence of statistical significance or generalization.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Overall latency reduction (120−54)/120 = 55%; size reduction (48−12)/48 = 75%; F1 absolute difference 0.896−0.910 = −0.014. Distillation latency reduction (120−72)/120 = 40%, F1 difference −0.008. Additional INT8 latency reduction (72−54)/72 = 25%, F1 difference −0.006. Do not add 40% and 25% because their denominators differ. No statistical inference is possible from the fictional summaries.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fictional values illustrate an efficiency–F1 trade-off. They do not select a universally best model. Define the acceptable loss in F1 and the latency budget for the intended environment. Repeat measurements on actual data, estimate variation, and inspect failures by anomaly type. No real dataset or sample count was supplied, so no generalization claim is justified.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0" name="S01-subject-field">
            <a:extLst>
              <a:ext uri="{FF2B5EF4-FFF2-40B4-BE49-F238E27FC236}">
                <a16:creationId xmlns:a16="http://schemas.microsoft.com/office/drawing/2014/main" id="{6737AA12-7A0A-4B3F-B56B-AF331F72F84B}"/>
              </a:ext>
            </a:extLst>
          </p:cNvPr>
          <p:cNvSpPr>
            <a:spLocks noGrp="1"/>
          </p:cNvSpPr>
          <p:nvPr/>
        </p:nvSpPr>
        <p:spPr>
          <a:xfrm>
            <a:off x="0" y="0"/>
            <a:ext cx="5638800" cy="6858000"/>
          </a:xfrm>
          <a:prstGeom prst="rect">
            <a:avLst/>
          </a:prstGeom>
          <a:solidFill>
            <a:srgbClr val="1E302F"/>
          </a:solidFill>
          <a:ln w="0">
            <a:noFill/>
          </a:ln>
        </p:spPr>
      </p:sp>
      <p:sp>
        <p:nvSpPr>
          <p:cNvPr id="2" name="S01-title">
            <a:extLst>
              <a:ext uri="{FF2B5EF4-FFF2-40B4-BE49-F238E27FC236}">
                <a16:creationId xmlns:a16="http://schemas.microsoft.com/office/drawing/2014/main" id="{0C9F25F4-DAAA-4730-875E-904C613FE82F}"/>
              </a:ext>
            </a:extLst>
          </p:cNvPr>
          <p:cNvSpPr>
            <a:spLocks noGrp="1"/>
          </p:cNvSpPr>
          <p:nvPr/>
        </p:nvSpPr>
        <p:spPr>
          <a:xfrm>
            <a:off x="609600" y="1266825"/>
            <a:ext cx="4552950" cy="2209800"/>
          </a:xfrm>
          <a:prstGeom prst="rect">
            <a:avLst/>
          </a:prstGeom>
          <a:noFill/>
          <a:ln w="0">
            <a:noFill/>
          </a:ln>
        </p:spPr>
        <p:txBody>
          <a:bodyPr wrap="none" lIns="0" tIns="0" rIns="0" bIns="0" anchor="ctr">
            <a:noAutofit/>
          </a:bodyPr>
          <a:lstStyle/>
          <a:p>
            <a:pPr>
              <a:defRPr sz="3900" b="0">
                <a:solidFill>
                  <a:srgbClr val="FFFFFF"/>
                </a:solidFill>
                <a:latin typeface="Segoe UI"/>
                <a:ea typeface="Segoe UI"/>
                <a:cs typeface="Segoe UI"/>
              </a:defRPr>
            </a:pPr>
            <a:r>
              <a:rPr sz="3900" b="0">
                <a:solidFill>
                  <a:srgbClr val="FFFFFF"/>
                </a:solidFill>
                <a:latin typeface="Segoe UI"/>
                <a:ea typeface="Segoe UI"/>
                <a:cs typeface="Segoe UI"/>
              </a:rPr>
              <a:t>Sensor anomaly</a:t>
            </a:r>
          </a:p>
          <a:p>
            <a:pPr>
              <a:defRPr sz="3900" b="0">
                <a:solidFill>
                  <a:srgbClr val="FFFFFF"/>
                </a:solidFill>
                <a:latin typeface="Segoe UI"/>
                <a:ea typeface="Segoe UI"/>
                <a:cs typeface="Segoe UI"/>
              </a:defRPr>
            </a:pPr>
            <a:r>
              <a:rPr sz="3900" b="0">
                <a:solidFill>
                  <a:srgbClr val="FFFFFF"/>
                </a:solidFill>
                <a:latin typeface="Segoe UI"/>
                <a:ea typeface="Segoe UI"/>
                <a:cs typeface="Segoe UI"/>
              </a:rPr>
              <a:t>detection with</a:t>
            </a:r>
          </a:p>
          <a:p>
            <a:pPr>
              <a:defRPr sz="3900" b="0">
                <a:solidFill>
                  <a:srgbClr val="FFFFFF"/>
                </a:solidFill>
                <a:latin typeface="Segoe UI"/>
                <a:ea typeface="Segoe UI"/>
                <a:cs typeface="Segoe UI"/>
              </a:defRPr>
            </a:pPr>
            <a:r>
              <a:rPr sz="3900" b="0">
                <a:solidFill>
                  <a:srgbClr val="FFFFFF"/>
                </a:solidFill>
                <a:latin typeface="Segoe UI"/>
                <a:ea typeface="Segoe UI"/>
                <a:cs typeface="Segoe UI"/>
              </a:rPr>
              <a:t>smaller models</a:t>
            </a:r>
          </a:p>
        </p:txBody>
      </p:sp>
      <p:sp>
        <p:nvSpPr>
          <p:cNvPr id="3" name="S01-subtitle">
            <a:extLst>
              <a:ext uri="{FF2B5EF4-FFF2-40B4-BE49-F238E27FC236}">
                <a16:creationId xmlns:a16="http://schemas.microsoft.com/office/drawing/2014/main" id="{6103CC81-40F6-43C7-885B-572D7F7578F1}"/>
              </a:ext>
            </a:extLst>
          </p:cNvPr>
          <p:cNvSpPr>
            <a:spLocks noGrp="1"/>
          </p:cNvSpPr>
          <p:nvPr/>
        </p:nvSpPr>
        <p:spPr>
          <a:xfrm>
            <a:off x="609600" y="3933825"/>
            <a:ext cx="4381500" cy="990600"/>
          </a:xfrm>
          <a:prstGeom prst="rect">
            <a:avLst/>
          </a:prstGeom>
          <a:noFill/>
          <a:ln w="0">
            <a:noFill/>
          </a:ln>
        </p:spPr>
        <p:txBody>
          <a:bodyPr wrap="none" lIns="0" tIns="0" rIns="0" bIns="0" anchor="ctr">
            <a:noAutofit/>
          </a:bodyPr>
          <a:lstStyle/>
          <a:p>
            <a:pPr>
              <a:defRPr sz="2175" b="0">
                <a:solidFill>
                  <a:srgbClr val="B9DDD0"/>
                </a:solidFill>
                <a:latin typeface="Segoe UI"/>
                <a:ea typeface="Segoe UI"/>
                <a:cs typeface="Segoe UI"/>
              </a:defRPr>
            </a:pPr>
            <a:r>
              <a:rPr sz="2175" b="0">
                <a:solidFill>
                  <a:srgbClr val="B9DDD0"/>
                </a:solidFill>
                <a:latin typeface="Segoe UI"/>
                <a:ea typeface="Segoe UI"/>
                <a:cs typeface="Segoe UI"/>
              </a:rPr>
              <a:t>Knowledge distillation</a:t>
            </a:r>
          </a:p>
          <a:p>
            <a:pPr>
              <a:defRPr sz="2175" b="0">
                <a:solidFill>
                  <a:srgbClr val="B9DDD0"/>
                </a:solidFill>
                <a:latin typeface="Segoe UI"/>
                <a:ea typeface="Segoe UI"/>
                <a:cs typeface="Segoe UI"/>
              </a:defRPr>
            </a:pPr>
            <a:r>
              <a:rPr sz="2175" b="0">
                <a:solidFill>
                  <a:srgbClr val="B9DDD0"/>
                </a:solidFill>
                <a:latin typeface="Segoe UI"/>
                <a:ea typeface="Segoe UI"/>
                <a:cs typeface="Segoe UI"/>
              </a:rPr>
              <a:t>and INT8 quantization</a:t>
            </a:r>
          </a:p>
        </p:txBody>
      </p:sp>
      <p:sp>
        <p:nvSpPr>
          <p:cNvPr id="4" name="S01-comparison">
            <a:extLst>
              <a:ext uri="{FF2B5EF4-FFF2-40B4-BE49-F238E27FC236}">
                <a16:creationId xmlns:a16="http://schemas.microsoft.com/office/drawing/2014/main" id="{D0FD71D8-BFD1-4ACF-A99B-6FD94B12D908}"/>
              </a:ext>
            </a:extLst>
          </p:cNvPr>
          <p:cNvSpPr>
            <a:spLocks noGrp="1"/>
          </p:cNvSpPr>
          <p:nvPr/>
        </p:nvSpPr>
        <p:spPr>
          <a:xfrm>
            <a:off x="6210300" y="1009650"/>
            <a:ext cx="5353050" cy="723900"/>
          </a:xfrm>
          <a:prstGeom prst="rect">
            <a:avLst/>
          </a:prstGeom>
          <a:noFill/>
          <a:ln w="0">
            <a:noFill/>
          </a:ln>
        </p:spPr>
        <p:txBody>
          <a:bodyPr wrap="none" lIns="0" tIns="0" rIns="0" bIns="0" anchor="ctr">
            <a:noAutofit/>
          </a:bodyPr>
          <a:lstStyle/>
          <a:p>
            <a:pPr>
              <a:defRPr sz="3000" b="0">
                <a:solidFill>
                  <a:srgbClr val="1E302F"/>
                </a:solidFill>
                <a:latin typeface="Segoe UI"/>
                <a:ea typeface="Segoe UI"/>
                <a:cs typeface="Segoe UI"/>
              </a:defRPr>
            </a:pPr>
            <a:r>
              <a:rPr sz="3000" b="0">
                <a:solidFill>
                  <a:srgbClr val="1E302F"/>
                </a:solidFill>
                <a:latin typeface="Segoe UI"/>
                <a:ea typeface="Segoe UI"/>
                <a:cs typeface="Segoe UI"/>
              </a:rPr>
              <a:t>The compression trade-off</a:t>
            </a:r>
          </a:p>
        </p:txBody>
      </p:sp>
      <p:sp>
        <p:nvSpPr>
          <p:cNvPr id="5" name="S01-baseline">
            <a:extLst>
              <a:ext uri="{FF2B5EF4-FFF2-40B4-BE49-F238E27FC236}">
                <a16:creationId xmlns:a16="http://schemas.microsoft.com/office/drawing/2014/main" id="{8B099AB0-BAEF-4D02-9388-32A0C80324A1}"/>
              </a:ext>
            </a:extLst>
          </p:cNvPr>
          <p:cNvSpPr>
            <a:spLocks noGrp="1"/>
          </p:cNvSpPr>
          <p:nvPr/>
        </p:nvSpPr>
        <p:spPr>
          <a:xfrm>
            <a:off x="8258175" y="2076450"/>
            <a:ext cx="1428750" cy="304800"/>
          </a:xfrm>
          <a:prstGeom prst="rect">
            <a:avLst/>
          </a:prstGeom>
          <a:noFill/>
          <a:ln w="0">
            <a:noFill/>
          </a:ln>
        </p:spPr>
        <p:txBody>
          <a:bodyPr wrap="none" lIns="0" tIns="0" rIns="0" bIns="0" anchor="ctr">
            <a:noAutofit/>
          </a:bodyPr>
          <a:lstStyle/>
          <a:p>
            <a:pPr>
              <a:defRPr sz="1725" b="0">
                <a:solidFill>
                  <a:srgbClr val="586C68"/>
                </a:solidFill>
                <a:latin typeface="Segoe UI"/>
                <a:ea typeface="Segoe UI"/>
                <a:cs typeface="Segoe UI"/>
              </a:defRPr>
            </a:pPr>
            <a:r>
              <a:rPr sz="1725" b="0">
                <a:solidFill>
                  <a:srgbClr val="586C68"/>
                </a:solidFill>
                <a:latin typeface="Segoe UI"/>
                <a:ea typeface="Segoe UI"/>
                <a:cs typeface="Segoe UI"/>
              </a:rPr>
              <a:t>baseline</a:t>
            </a:r>
          </a:p>
        </p:txBody>
      </p:sp>
      <p:sp>
        <p:nvSpPr>
          <p:cNvPr id="6" name="S01-int8">
            <a:extLst>
              <a:ext uri="{FF2B5EF4-FFF2-40B4-BE49-F238E27FC236}">
                <a16:creationId xmlns:a16="http://schemas.microsoft.com/office/drawing/2014/main" id="{CFC95C89-72B9-41C9-B83A-5F837747245D}"/>
              </a:ext>
            </a:extLst>
          </p:cNvPr>
          <p:cNvSpPr>
            <a:spLocks noGrp="1"/>
          </p:cNvSpPr>
          <p:nvPr/>
        </p:nvSpPr>
        <p:spPr>
          <a:xfrm>
            <a:off x="10382250" y="2076450"/>
            <a:ext cx="1190625" cy="304800"/>
          </a:xfrm>
          <a:prstGeom prst="rect">
            <a:avLst/>
          </a:prstGeom>
          <a:noFill/>
          <a:ln w="0">
            <a:noFill/>
          </a:ln>
        </p:spPr>
        <p:txBody>
          <a:bodyPr wrap="none" lIns="0" tIns="0" rIns="0" bIns="0" anchor="ctr">
            <a:noAutofit/>
          </a:bodyPr>
          <a:lstStyle/>
          <a:p>
            <a:pPr>
              <a:defRPr sz="1725" b="0">
                <a:solidFill>
                  <a:srgbClr val="586C68"/>
                </a:solidFill>
                <a:latin typeface="Segoe UI"/>
                <a:ea typeface="Segoe UI"/>
                <a:cs typeface="Segoe UI"/>
              </a:defRPr>
            </a:pPr>
            <a:r>
              <a:rPr sz="1725" b="0">
                <a:solidFill>
                  <a:srgbClr val="586C68"/>
                </a:solidFill>
                <a:latin typeface="Segoe UI"/>
                <a:ea typeface="Segoe UI"/>
                <a:cs typeface="Segoe UI"/>
              </a:rPr>
              <a:t>int8</a:t>
            </a:r>
          </a:p>
        </p:txBody>
      </p:sp>
      <p:sp>
        <p:nvSpPr>
          <p:cNvPr id="7" name="S01-rule-0">
            <a:extLst>
              <a:ext uri="{FF2B5EF4-FFF2-40B4-BE49-F238E27FC236}">
                <a16:creationId xmlns:a16="http://schemas.microsoft.com/office/drawing/2014/main" id="{FBDA2CE0-DCA7-453E-9DDA-C3735D83D305}"/>
              </a:ext>
            </a:extLst>
          </p:cNvPr>
          <p:cNvSpPr>
            <a:spLocks noGrp="1"/>
          </p:cNvSpPr>
          <p:nvPr/>
        </p:nvSpPr>
        <p:spPr>
          <a:xfrm>
            <a:off x="6210300" y="2581275"/>
            <a:ext cx="5372100" cy="0"/>
          </a:xfrm>
          <a:prstGeom prst="line">
            <a:avLst/>
          </a:prstGeom>
          <a:ln w="9525">
            <a:solidFill>
              <a:srgbClr val="CFD8D1"/>
            </a:solidFill>
          </a:ln>
        </p:spPr>
      </p:sp>
      <p:sp>
        <p:nvSpPr>
          <p:cNvPr id="8" name="S01-label-1">
            <a:extLst>
              <a:ext uri="{FF2B5EF4-FFF2-40B4-BE49-F238E27FC236}">
                <a16:creationId xmlns:a16="http://schemas.microsoft.com/office/drawing/2014/main" id="{F74AA925-F749-4AE2-8037-43C53E85D467}"/>
              </a:ext>
            </a:extLst>
          </p:cNvPr>
          <p:cNvSpPr>
            <a:spLocks noGrp="1"/>
          </p:cNvSpPr>
          <p:nvPr/>
        </p:nvSpPr>
        <p:spPr>
          <a:xfrm>
            <a:off x="6210300" y="2762250"/>
            <a:ext cx="2000250" cy="523875"/>
          </a:xfrm>
          <a:prstGeom prst="rect">
            <a:avLst/>
          </a:prstGeom>
          <a:noFill/>
          <a:ln w="0">
            <a:noFill/>
          </a:ln>
        </p:spPr>
        <p:txBody>
          <a:bodyPr wrap="none" lIns="0" tIns="0" rIns="0" bIns="0" anchor="ctr">
            <a:noAutofit/>
          </a:bodyPr>
          <a:lstStyle/>
          <a:p>
            <a:pPr>
              <a:defRPr sz="1725" b="0">
                <a:solidFill>
                  <a:srgbClr val="586C68"/>
                </a:solidFill>
                <a:latin typeface="Segoe UI"/>
                <a:ea typeface="Segoe UI"/>
                <a:cs typeface="Segoe UI"/>
              </a:defRPr>
            </a:pPr>
            <a:r>
              <a:rPr sz="1725" b="0">
                <a:solidFill>
                  <a:srgbClr val="586C68"/>
                </a:solidFill>
                <a:latin typeface="Segoe UI"/>
                <a:ea typeface="Segoe UI"/>
                <a:cs typeface="Segoe UI"/>
              </a:rPr>
              <a:t>Latency (ms)</a:t>
            </a:r>
          </a:p>
        </p:txBody>
      </p:sp>
      <p:sp>
        <p:nvSpPr>
          <p:cNvPr id="9" name="S01-value-base-1">
            <a:extLst>
              <a:ext uri="{FF2B5EF4-FFF2-40B4-BE49-F238E27FC236}">
                <a16:creationId xmlns:a16="http://schemas.microsoft.com/office/drawing/2014/main" id="{71BE3480-8830-40B7-9EC6-707068393FFE}"/>
              </a:ext>
            </a:extLst>
          </p:cNvPr>
          <p:cNvSpPr>
            <a:spLocks noGrp="1"/>
          </p:cNvSpPr>
          <p:nvPr/>
        </p:nvSpPr>
        <p:spPr>
          <a:xfrm>
            <a:off x="8258175" y="2762250"/>
            <a:ext cx="1524000" cy="523875"/>
          </a:xfrm>
          <a:prstGeom prst="rect">
            <a:avLst/>
          </a:prstGeom>
          <a:noFill/>
          <a:ln w="0">
            <a:noFill/>
          </a:ln>
        </p:spPr>
        <p:txBody>
          <a:bodyPr wrap="none" lIns="0" tIns="0" rIns="0" bIns="0" anchor="ctr">
            <a:noAutofit/>
          </a:bodyPr>
          <a:lstStyle/>
          <a:p>
            <a:pPr>
              <a:defRPr sz="2850" b="0">
                <a:solidFill>
                  <a:srgbClr val="1E302F"/>
                </a:solidFill>
                <a:latin typeface="Segoe UI"/>
                <a:ea typeface="Segoe UI"/>
                <a:cs typeface="Segoe UI"/>
              </a:defRPr>
            </a:pPr>
            <a:r>
              <a:rPr sz="2850" b="0">
                <a:solidFill>
                  <a:srgbClr val="1E302F"/>
                </a:solidFill>
                <a:latin typeface="Segoe UI"/>
                <a:ea typeface="Segoe UI"/>
                <a:cs typeface="Segoe UI"/>
              </a:rPr>
              <a:t>120</a:t>
            </a:r>
          </a:p>
        </p:txBody>
      </p:sp>
      <p:sp>
        <p:nvSpPr>
          <p:cNvPr id="10" name="S01-value-int8-1">
            <a:extLst>
              <a:ext uri="{FF2B5EF4-FFF2-40B4-BE49-F238E27FC236}">
                <a16:creationId xmlns:a16="http://schemas.microsoft.com/office/drawing/2014/main" id="{C8258488-1E02-4433-BEE3-01F2976A324B}"/>
              </a:ext>
            </a:extLst>
          </p:cNvPr>
          <p:cNvSpPr>
            <a:spLocks noGrp="1"/>
          </p:cNvSpPr>
          <p:nvPr/>
        </p:nvSpPr>
        <p:spPr>
          <a:xfrm>
            <a:off x="10382250" y="2762250"/>
            <a:ext cx="1428750" cy="523875"/>
          </a:xfrm>
          <a:prstGeom prst="rect">
            <a:avLst/>
          </a:prstGeom>
          <a:noFill/>
          <a:ln w="0">
            <a:noFill/>
          </a:ln>
        </p:spPr>
        <p:txBody>
          <a:bodyPr wrap="none" lIns="0" tIns="0" rIns="0" bIns="0" anchor="ctr">
            <a:noAutofit/>
          </a:bodyPr>
          <a:lstStyle/>
          <a:p>
            <a:pPr>
              <a:defRPr sz="2850" b="0">
                <a:solidFill>
                  <a:srgbClr val="1E302F"/>
                </a:solidFill>
                <a:latin typeface="Segoe UI"/>
                <a:ea typeface="Segoe UI"/>
                <a:cs typeface="Segoe UI"/>
              </a:defRPr>
            </a:pPr>
            <a:r>
              <a:rPr sz="2850" b="0">
                <a:solidFill>
                  <a:srgbClr val="1E302F"/>
                </a:solidFill>
                <a:latin typeface="Segoe UI"/>
                <a:ea typeface="Segoe UI"/>
                <a:cs typeface="Segoe UI"/>
              </a:rPr>
              <a:t>54</a:t>
            </a:r>
          </a:p>
        </p:txBody>
      </p:sp>
      <p:sp>
        <p:nvSpPr>
          <p:cNvPr id="11" name="S01-rule-1">
            <a:extLst>
              <a:ext uri="{FF2B5EF4-FFF2-40B4-BE49-F238E27FC236}">
                <a16:creationId xmlns:a16="http://schemas.microsoft.com/office/drawing/2014/main" id="{D4719AA7-D28B-4245-9FCE-1B4B8ECC3357}"/>
              </a:ext>
            </a:extLst>
          </p:cNvPr>
          <p:cNvSpPr>
            <a:spLocks noGrp="1"/>
          </p:cNvSpPr>
          <p:nvPr/>
        </p:nvSpPr>
        <p:spPr>
          <a:xfrm>
            <a:off x="6210300" y="3648075"/>
            <a:ext cx="5372100" cy="0"/>
          </a:xfrm>
          <a:prstGeom prst="line">
            <a:avLst/>
          </a:prstGeom>
          <a:ln w="9525">
            <a:solidFill>
              <a:srgbClr val="CFD8D1"/>
            </a:solidFill>
          </a:ln>
        </p:spPr>
      </p:sp>
      <p:sp>
        <p:nvSpPr>
          <p:cNvPr id="12" name="S01-label-2">
            <a:extLst>
              <a:ext uri="{FF2B5EF4-FFF2-40B4-BE49-F238E27FC236}">
                <a16:creationId xmlns:a16="http://schemas.microsoft.com/office/drawing/2014/main" id="{698A14C0-4335-41D7-9A72-396DB57F4DDA}"/>
              </a:ext>
            </a:extLst>
          </p:cNvPr>
          <p:cNvSpPr>
            <a:spLocks noGrp="1"/>
          </p:cNvSpPr>
          <p:nvPr/>
        </p:nvSpPr>
        <p:spPr>
          <a:xfrm>
            <a:off x="6210300" y="3829050"/>
            <a:ext cx="2000250" cy="523875"/>
          </a:xfrm>
          <a:prstGeom prst="rect">
            <a:avLst/>
          </a:prstGeom>
          <a:noFill/>
          <a:ln w="0">
            <a:noFill/>
          </a:ln>
        </p:spPr>
        <p:txBody>
          <a:bodyPr wrap="none" lIns="0" tIns="0" rIns="0" bIns="0" anchor="ctr">
            <a:noAutofit/>
          </a:bodyPr>
          <a:lstStyle/>
          <a:p>
            <a:pPr>
              <a:defRPr sz="1725" b="0">
                <a:solidFill>
                  <a:srgbClr val="586C68"/>
                </a:solidFill>
                <a:latin typeface="Segoe UI"/>
                <a:ea typeface="Segoe UI"/>
                <a:cs typeface="Segoe UI"/>
              </a:defRPr>
            </a:pPr>
            <a:r>
              <a:rPr sz="1725" b="0">
                <a:solidFill>
                  <a:srgbClr val="586C68"/>
                </a:solidFill>
                <a:latin typeface="Segoe UI"/>
                <a:ea typeface="Segoe UI"/>
                <a:cs typeface="Segoe UI"/>
              </a:rPr>
              <a:t>F1</a:t>
            </a:r>
          </a:p>
        </p:txBody>
      </p:sp>
      <p:sp>
        <p:nvSpPr>
          <p:cNvPr id="13" name="S01-value-base-2">
            <a:extLst>
              <a:ext uri="{FF2B5EF4-FFF2-40B4-BE49-F238E27FC236}">
                <a16:creationId xmlns:a16="http://schemas.microsoft.com/office/drawing/2014/main" id="{871DF7F4-C161-4301-ADFC-F2BE27DA6535}"/>
              </a:ext>
            </a:extLst>
          </p:cNvPr>
          <p:cNvSpPr>
            <a:spLocks noGrp="1"/>
          </p:cNvSpPr>
          <p:nvPr/>
        </p:nvSpPr>
        <p:spPr>
          <a:xfrm>
            <a:off x="8258175" y="3829050"/>
            <a:ext cx="1524000" cy="523875"/>
          </a:xfrm>
          <a:prstGeom prst="rect">
            <a:avLst/>
          </a:prstGeom>
          <a:noFill/>
          <a:ln w="0">
            <a:noFill/>
          </a:ln>
        </p:spPr>
        <p:txBody>
          <a:bodyPr wrap="none" lIns="0" tIns="0" rIns="0" bIns="0" anchor="ctr">
            <a:noAutofit/>
          </a:bodyPr>
          <a:lstStyle/>
          <a:p>
            <a:pPr>
              <a:defRPr sz="2850" b="0">
                <a:solidFill>
                  <a:srgbClr val="1E302F"/>
                </a:solidFill>
                <a:latin typeface="Segoe UI"/>
                <a:ea typeface="Segoe UI"/>
                <a:cs typeface="Segoe UI"/>
              </a:defRPr>
            </a:pPr>
            <a:r>
              <a:rPr sz="2850" b="0">
                <a:solidFill>
                  <a:srgbClr val="1E302F"/>
                </a:solidFill>
                <a:latin typeface="Segoe UI"/>
                <a:ea typeface="Segoe UI"/>
                <a:cs typeface="Segoe UI"/>
              </a:rPr>
              <a:t>0.910</a:t>
            </a:r>
          </a:p>
        </p:txBody>
      </p:sp>
      <p:sp>
        <p:nvSpPr>
          <p:cNvPr id="14" name="S01-value-int8-2">
            <a:extLst>
              <a:ext uri="{FF2B5EF4-FFF2-40B4-BE49-F238E27FC236}">
                <a16:creationId xmlns:a16="http://schemas.microsoft.com/office/drawing/2014/main" id="{1AF6085E-9466-4602-A8DE-DA0E1AD6E712}"/>
              </a:ext>
            </a:extLst>
          </p:cNvPr>
          <p:cNvSpPr>
            <a:spLocks noGrp="1"/>
          </p:cNvSpPr>
          <p:nvPr/>
        </p:nvSpPr>
        <p:spPr>
          <a:xfrm>
            <a:off x="10382250" y="3829050"/>
            <a:ext cx="1428750" cy="523875"/>
          </a:xfrm>
          <a:prstGeom prst="rect">
            <a:avLst/>
          </a:prstGeom>
          <a:noFill/>
          <a:ln w="0">
            <a:noFill/>
          </a:ln>
        </p:spPr>
        <p:txBody>
          <a:bodyPr wrap="none" lIns="0" tIns="0" rIns="0" bIns="0" anchor="ctr">
            <a:noAutofit/>
          </a:bodyPr>
          <a:lstStyle/>
          <a:p>
            <a:pPr>
              <a:defRPr sz="2850" b="0">
                <a:solidFill>
                  <a:srgbClr val="1E302F"/>
                </a:solidFill>
                <a:latin typeface="Segoe UI"/>
                <a:ea typeface="Segoe UI"/>
                <a:cs typeface="Segoe UI"/>
              </a:defRPr>
            </a:pPr>
            <a:r>
              <a:rPr sz="2850" b="0">
                <a:solidFill>
                  <a:srgbClr val="1E302F"/>
                </a:solidFill>
                <a:latin typeface="Segoe UI"/>
                <a:ea typeface="Segoe UI"/>
                <a:cs typeface="Segoe UI"/>
              </a:rPr>
              <a:t>0.896</a:t>
            </a:r>
          </a:p>
        </p:txBody>
      </p:sp>
      <p:sp>
        <p:nvSpPr>
          <p:cNvPr id="15" name="S01-rule-2">
            <a:extLst>
              <a:ext uri="{FF2B5EF4-FFF2-40B4-BE49-F238E27FC236}">
                <a16:creationId xmlns:a16="http://schemas.microsoft.com/office/drawing/2014/main" id="{923FF4B1-8A7F-4A93-8097-6056F0F34B86}"/>
              </a:ext>
            </a:extLst>
          </p:cNvPr>
          <p:cNvSpPr>
            <a:spLocks noGrp="1"/>
          </p:cNvSpPr>
          <p:nvPr/>
        </p:nvSpPr>
        <p:spPr>
          <a:xfrm>
            <a:off x="6210300" y="4714875"/>
            <a:ext cx="5372100" cy="0"/>
          </a:xfrm>
          <a:prstGeom prst="line">
            <a:avLst/>
          </a:prstGeom>
          <a:ln w="9525">
            <a:solidFill>
              <a:srgbClr val="CFD8D1"/>
            </a:solidFill>
          </a:ln>
        </p:spPr>
      </p:sp>
      <p:sp>
        <p:nvSpPr>
          <p:cNvPr id="16" name="S01-label-3">
            <a:extLst>
              <a:ext uri="{FF2B5EF4-FFF2-40B4-BE49-F238E27FC236}">
                <a16:creationId xmlns:a16="http://schemas.microsoft.com/office/drawing/2014/main" id="{216EFDEA-BA8F-4716-8C62-E90476D666C2}"/>
              </a:ext>
            </a:extLst>
          </p:cNvPr>
          <p:cNvSpPr>
            <a:spLocks noGrp="1"/>
          </p:cNvSpPr>
          <p:nvPr/>
        </p:nvSpPr>
        <p:spPr>
          <a:xfrm>
            <a:off x="6210300" y="4895850"/>
            <a:ext cx="2000250" cy="523875"/>
          </a:xfrm>
          <a:prstGeom prst="rect">
            <a:avLst/>
          </a:prstGeom>
          <a:noFill/>
          <a:ln w="0">
            <a:noFill/>
          </a:ln>
        </p:spPr>
        <p:txBody>
          <a:bodyPr wrap="none" lIns="0" tIns="0" rIns="0" bIns="0" anchor="ctr">
            <a:noAutofit/>
          </a:bodyPr>
          <a:lstStyle/>
          <a:p>
            <a:pPr>
              <a:defRPr sz="1725" b="0">
                <a:solidFill>
                  <a:srgbClr val="586C68"/>
                </a:solidFill>
                <a:latin typeface="Segoe UI"/>
                <a:ea typeface="Segoe UI"/>
                <a:cs typeface="Segoe UI"/>
              </a:defRPr>
            </a:pPr>
            <a:r>
              <a:rPr sz="1725" b="0">
                <a:solidFill>
                  <a:srgbClr val="586C68"/>
                </a:solidFill>
                <a:latin typeface="Segoe UI"/>
                <a:ea typeface="Segoe UI"/>
                <a:cs typeface="Segoe UI"/>
              </a:rPr>
              <a:t>Model size (MB)</a:t>
            </a:r>
          </a:p>
        </p:txBody>
      </p:sp>
      <p:sp>
        <p:nvSpPr>
          <p:cNvPr id="17" name="S01-value-base-3">
            <a:extLst>
              <a:ext uri="{FF2B5EF4-FFF2-40B4-BE49-F238E27FC236}">
                <a16:creationId xmlns:a16="http://schemas.microsoft.com/office/drawing/2014/main" id="{E2B01AB0-E115-4415-A0F1-D3D567D267BF}"/>
              </a:ext>
            </a:extLst>
          </p:cNvPr>
          <p:cNvSpPr>
            <a:spLocks noGrp="1"/>
          </p:cNvSpPr>
          <p:nvPr/>
        </p:nvSpPr>
        <p:spPr>
          <a:xfrm>
            <a:off x="8258175" y="4895850"/>
            <a:ext cx="1524000" cy="523875"/>
          </a:xfrm>
          <a:prstGeom prst="rect">
            <a:avLst/>
          </a:prstGeom>
          <a:noFill/>
          <a:ln w="0">
            <a:noFill/>
          </a:ln>
        </p:spPr>
        <p:txBody>
          <a:bodyPr wrap="none" lIns="0" tIns="0" rIns="0" bIns="0" anchor="ctr">
            <a:noAutofit/>
          </a:bodyPr>
          <a:lstStyle/>
          <a:p>
            <a:pPr>
              <a:defRPr sz="2850" b="0">
                <a:solidFill>
                  <a:srgbClr val="1E302F"/>
                </a:solidFill>
                <a:latin typeface="Segoe UI"/>
                <a:ea typeface="Segoe UI"/>
                <a:cs typeface="Segoe UI"/>
              </a:defRPr>
            </a:pPr>
            <a:r>
              <a:rPr sz="2850" b="0">
                <a:solidFill>
                  <a:srgbClr val="1E302F"/>
                </a:solidFill>
                <a:latin typeface="Segoe UI"/>
                <a:ea typeface="Segoe UI"/>
                <a:cs typeface="Segoe UI"/>
              </a:rPr>
              <a:t>48</a:t>
            </a:r>
          </a:p>
        </p:txBody>
      </p:sp>
      <p:sp>
        <p:nvSpPr>
          <p:cNvPr id="18" name="S01-value-int8-3">
            <a:extLst>
              <a:ext uri="{FF2B5EF4-FFF2-40B4-BE49-F238E27FC236}">
                <a16:creationId xmlns:a16="http://schemas.microsoft.com/office/drawing/2014/main" id="{DABC8681-4239-4D44-819C-41121B9AFB20}"/>
              </a:ext>
            </a:extLst>
          </p:cNvPr>
          <p:cNvSpPr>
            <a:spLocks noGrp="1"/>
          </p:cNvSpPr>
          <p:nvPr/>
        </p:nvSpPr>
        <p:spPr>
          <a:xfrm>
            <a:off x="10382250" y="4895850"/>
            <a:ext cx="1428750" cy="523875"/>
          </a:xfrm>
          <a:prstGeom prst="rect">
            <a:avLst/>
          </a:prstGeom>
          <a:noFill/>
          <a:ln w="0">
            <a:noFill/>
          </a:ln>
        </p:spPr>
        <p:txBody>
          <a:bodyPr wrap="none" lIns="0" tIns="0" rIns="0" bIns="0" anchor="ctr">
            <a:noAutofit/>
          </a:bodyPr>
          <a:lstStyle/>
          <a:p>
            <a:pPr>
              <a:defRPr sz="2850" b="0">
                <a:solidFill>
                  <a:srgbClr val="1E302F"/>
                </a:solidFill>
                <a:latin typeface="Segoe UI"/>
                <a:ea typeface="Segoe UI"/>
                <a:cs typeface="Segoe UI"/>
              </a:defRPr>
            </a:pPr>
            <a:r>
              <a:rPr sz="2850" b="0">
                <a:solidFill>
                  <a:srgbClr val="1E302F"/>
                </a:solidFill>
                <a:latin typeface="Segoe UI"/>
                <a:ea typeface="Segoe UI"/>
                <a:cs typeface="Segoe UI"/>
              </a:rPr>
              <a:t>12</a:t>
            </a:r>
          </a:p>
        </p:txBody>
      </p:sp>
      <p:sp>
        <p:nvSpPr>
          <p:cNvPr id="19" name="S01-disclosure">
            <a:extLst>
              <a:ext uri="{FF2B5EF4-FFF2-40B4-BE49-F238E27FC236}">
                <a16:creationId xmlns:a16="http://schemas.microsoft.com/office/drawing/2014/main" id="{61E693DC-5581-48FC-9C6A-2ADE68F47411}"/>
              </a:ext>
            </a:extLst>
          </p:cNvPr>
          <p:cNvSpPr>
            <a:spLocks noGrp="1"/>
          </p:cNvSpPr>
          <p:nvPr/>
        </p:nvSpPr>
        <p:spPr>
          <a:xfrm>
            <a:off x="609600" y="6372225"/>
            <a:ext cx="4572000" cy="219075"/>
          </a:xfrm>
          <a:prstGeom prst="rect">
            <a:avLst/>
          </a:prstGeom>
          <a:noFill/>
          <a:ln w="0">
            <a:noFill/>
          </a:ln>
        </p:spPr>
        <p:txBody>
          <a:bodyPr wrap="none" lIns="0" tIns="0" rIns="0" bIns="0" anchor="ctr">
            <a:noAutofit/>
          </a:bodyPr>
          <a:lstStyle/>
          <a:p>
            <a:pPr>
              <a:defRPr sz="1275" b="0">
                <a:solidFill>
                  <a:srgbClr val="B9DDD0"/>
                </a:solidFill>
                <a:latin typeface="Segoe UI"/>
                <a:ea typeface="Segoe UI"/>
                <a:cs typeface="Segoe UI"/>
              </a:defRPr>
            </a:pPr>
            <a:r>
              <a:rPr sz="1275" b="0">
                <a:solidFill>
                  <a:srgbClr val="B9DDD0"/>
                </a:solidFill>
                <a:latin typeface="Segoe UI"/>
                <a:ea typeface="Segoe UI"/>
                <a:cs typeface="Segoe UI"/>
              </a:rPr>
              <a:t>Illustrative data</a:t>
            </a:r>
          </a:p>
        </p:txBody>
      </p:sp>
    </p:spTree>
    <p:extLst>
      <p:ext uri="{BB962C8B-B14F-4D97-AF65-F5344CB8AC3E}">
        <p14:creationId xmlns:p14="http://schemas.microsoft.com/office/powerpoint/2010/main" val="313146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2" name="S02-title">
            <a:extLst>
              <a:ext uri="{FF2B5EF4-FFF2-40B4-BE49-F238E27FC236}">
                <a16:creationId xmlns:a16="http://schemas.microsoft.com/office/drawing/2014/main" id="{3DD8C10D-6A5B-4ACA-964E-876524F06AEA}"/>
              </a:ext>
            </a:extLst>
          </p:cNvPr>
          <p:cNvSpPr>
            <a:spLocks noGrp="1"/>
          </p:cNvSpPr>
          <p:nvPr/>
        </p:nvSpPr>
        <p:spPr>
          <a:xfrm>
            <a:off x="685800" y="895350"/>
            <a:ext cx="10820400" cy="666750"/>
          </a:xfrm>
          <a:prstGeom prst="rect">
            <a:avLst/>
          </a:prstGeom>
          <a:noFill/>
          <a:ln w="0">
            <a:noFill/>
          </a:ln>
        </p:spPr>
        <p:txBody>
          <a:bodyPr wrap="none" lIns="0" tIns="0" rIns="0" bIns="0" anchor="ctr">
            <a:noAutofit/>
          </a:bodyPr>
          <a:lstStyle/>
          <a:p>
            <a:pPr>
              <a:defRPr sz="3225" b="0">
                <a:solidFill>
                  <a:srgbClr val="1E302F"/>
                </a:solidFill>
                <a:latin typeface="Segoe UI"/>
                <a:ea typeface="Segoe UI"/>
                <a:cs typeface="Segoe UI"/>
              </a:defRPr>
            </a:pPr>
            <a:r>
              <a:rPr sz="3225" b="0">
                <a:solidFill>
                  <a:srgbClr val="1E302F"/>
                </a:solidFill>
                <a:latin typeface="Segoe UI"/>
                <a:ea typeface="Segoe UI"/>
                <a:cs typeface="Segoe UI"/>
              </a:rPr>
              <a:t>Model states and compression steps</a:t>
            </a:r>
          </a:p>
        </p:txBody>
      </p:sp>
      <p:sp>
        <p:nvSpPr>
          <p:cNvPr id="2" name="S02-disclosure">
            <a:extLst>
              <a:ext uri="{FF2B5EF4-FFF2-40B4-BE49-F238E27FC236}">
                <a16:creationId xmlns:a16="http://schemas.microsoft.com/office/drawing/2014/main" id="{4BE03733-CA5E-4306-8FFB-2AE6DE88CBBC}"/>
              </a:ext>
            </a:extLst>
          </p:cNvPr>
          <p:cNvSpPr>
            <a:spLocks noGrp="1"/>
          </p:cNvSpPr>
          <p:nvPr/>
        </p:nvSpPr>
        <p:spPr>
          <a:xfrm>
            <a:off x="685800" y="6372225"/>
            <a:ext cx="9525000" cy="219075"/>
          </a:xfrm>
          <a:prstGeom prst="rect">
            <a:avLst/>
          </a:prstGeom>
          <a:noFill/>
          <a:ln w="0">
            <a:noFill/>
          </a:ln>
        </p:spPr>
        <p:txBody>
          <a:bodyPr wrap="none" lIns="0" tIns="0" rIns="0" bIns="0" anchor="ctr">
            <a:noAutofit/>
          </a:bodyPr>
          <a:lstStyle/>
          <a:p>
            <a:pPr>
              <a:defRPr sz="1275" b="0">
                <a:solidFill>
                  <a:srgbClr val="586C68"/>
                </a:solidFill>
                <a:latin typeface="Segoe UI"/>
                <a:ea typeface="Segoe UI"/>
                <a:cs typeface="Segoe UI"/>
              </a:defRPr>
            </a:pPr>
            <a:r>
              <a:rPr sz="1275" b="0">
                <a:solidFill>
                  <a:srgbClr val="586C68"/>
                </a:solidFill>
                <a:latin typeface="Segoe UI"/>
                <a:ea typeface="Segoe UI"/>
                <a:cs typeface="Segoe UI"/>
              </a:rPr>
              <a:t>Illustrative data</a:t>
            </a:r>
          </a:p>
        </p:txBody>
      </p:sp>
      <p:sp>
        <p:nvSpPr>
          <p:cNvPr id="3" name="S02-number">
            <a:extLst>
              <a:ext uri="{FF2B5EF4-FFF2-40B4-BE49-F238E27FC236}">
                <a16:creationId xmlns:a16="http://schemas.microsoft.com/office/drawing/2014/main" id="{98DE5F46-113A-4A6A-B73E-766BB4007C4D}"/>
              </a:ext>
            </a:extLst>
          </p:cNvPr>
          <p:cNvSpPr>
            <a:spLocks noGrp="1"/>
          </p:cNvSpPr>
          <p:nvPr/>
        </p:nvSpPr>
        <p:spPr>
          <a:xfrm>
            <a:off x="11144250" y="6372225"/>
            <a:ext cx="361950" cy="219075"/>
          </a:xfrm>
          <a:prstGeom prst="rect">
            <a:avLst/>
          </a:prstGeom>
          <a:noFill/>
          <a:ln w="0">
            <a:noFill/>
          </a:ln>
        </p:spPr>
        <p:txBody>
          <a:bodyPr wrap="none" lIns="0" tIns="0" rIns="0" bIns="0" anchor="ctr">
            <a:noAutofit/>
          </a:bodyPr>
          <a:lstStyle/>
          <a:p>
            <a:pPr>
              <a:defRPr sz="1275" b="0">
                <a:solidFill>
                  <a:srgbClr val="586C68"/>
                </a:solidFill>
                <a:latin typeface="Segoe UI"/>
                <a:ea typeface="Segoe UI"/>
                <a:cs typeface="Segoe UI"/>
              </a:defRPr>
            </a:pPr>
            <a:r>
              <a:rPr sz="1275" b="0">
                <a:solidFill>
                  <a:srgbClr val="586C68"/>
                </a:solidFill>
                <a:latin typeface="Segoe UI"/>
                <a:ea typeface="Segoe UI"/>
                <a:cs typeface="Segoe UI"/>
              </a:rPr>
              <a:t>02</a:t>
            </a:r>
          </a:p>
        </p:txBody>
      </p:sp>
      <p:sp>
        <p:nvSpPr>
          <p:cNvPr id="4" name="S02-method-field">
            <a:extLst>
              <a:ext uri="{FF2B5EF4-FFF2-40B4-BE49-F238E27FC236}">
                <a16:creationId xmlns:a16="http://schemas.microsoft.com/office/drawing/2014/main" id="{C598A134-0903-497E-BE81-94253078B982}"/>
              </a:ext>
            </a:extLst>
          </p:cNvPr>
          <p:cNvSpPr>
            <a:spLocks noGrp="1"/>
          </p:cNvSpPr>
          <p:nvPr/>
        </p:nvSpPr>
        <p:spPr>
          <a:xfrm>
            <a:off x="457200" y="1866900"/>
            <a:ext cx="11277600" cy="3467100"/>
          </a:xfrm>
          <a:prstGeom prst="rect">
            <a:avLst/>
          </a:prstGeom>
          <a:solidFill>
            <a:srgbClr val="E8EDE5"/>
          </a:solidFill>
          <a:ln w="0">
            <a:noFill/>
          </a:ln>
        </p:spPr>
      </p:sp>
      <p:sp>
        <p:nvSpPr>
          <p:cNvPr id="5" name="S02-marker-1">
            <a:extLst>
              <a:ext uri="{FF2B5EF4-FFF2-40B4-BE49-F238E27FC236}">
                <a16:creationId xmlns:a16="http://schemas.microsoft.com/office/drawing/2014/main" id="{F492FFEC-A673-4448-A76C-1A7BC4CA4ECF}"/>
              </a:ext>
            </a:extLst>
          </p:cNvPr>
          <p:cNvSpPr>
            <a:spLocks noGrp="1"/>
          </p:cNvSpPr>
          <p:nvPr/>
        </p:nvSpPr>
        <p:spPr>
          <a:xfrm>
            <a:off x="685800" y="2524125"/>
            <a:ext cx="609600" cy="609600"/>
          </a:xfrm>
          <a:prstGeom prst="ellipse">
            <a:avLst/>
          </a:prstGeom>
          <a:solidFill>
            <a:srgbClr val="287D78"/>
          </a:solidFill>
          <a:ln w="0">
            <a:noFill/>
          </a:ln>
        </p:spPr>
        <p:txBody>
          <a:bodyPr lIns="0" tIns="0" rIns="0" bIns="0" anchor="ctr"/>
          <a:lstStyle/>
          <a:p>
            <a:pPr algn="ctr">
              <a:defRPr sz="1650">
                <a:solidFill>
                  <a:srgbClr val="FFFFFF"/>
                </a:solidFill>
                <a:latin typeface="Segoe UI"/>
                <a:ea typeface="Segoe UI"/>
                <a:cs typeface="Segoe UI"/>
              </a:defRPr>
            </a:pPr>
            <a:r>
              <a:rPr sz="1650">
                <a:solidFill>
                  <a:srgbClr val="FFFFFF"/>
                </a:solidFill>
                <a:latin typeface="Segoe UI"/>
                <a:ea typeface="Segoe UI"/>
                <a:cs typeface="Segoe UI"/>
              </a:rPr>
              <a:t>01</a:t>
            </a:r>
          </a:p>
        </p:txBody>
      </p:sp>
      <p:sp>
        <p:nvSpPr>
          <p:cNvPr id="6" name="S02-marker-2">
            <a:extLst>
              <a:ext uri="{FF2B5EF4-FFF2-40B4-BE49-F238E27FC236}">
                <a16:creationId xmlns:a16="http://schemas.microsoft.com/office/drawing/2014/main" id="{B94A5622-9213-4617-B319-0ECA3689005B}"/>
              </a:ext>
            </a:extLst>
          </p:cNvPr>
          <p:cNvSpPr>
            <a:spLocks noGrp="1"/>
          </p:cNvSpPr>
          <p:nvPr/>
        </p:nvSpPr>
        <p:spPr>
          <a:xfrm>
            <a:off x="4648200" y="2524125"/>
            <a:ext cx="609600" cy="609600"/>
          </a:xfrm>
          <a:prstGeom prst="ellipse">
            <a:avLst/>
          </a:prstGeom>
          <a:solidFill>
            <a:srgbClr val="287D78"/>
          </a:solidFill>
          <a:ln w="0">
            <a:noFill/>
          </a:ln>
        </p:spPr>
        <p:txBody>
          <a:bodyPr lIns="0" tIns="0" rIns="0" bIns="0" anchor="ctr"/>
          <a:lstStyle/>
          <a:p>
            <a:pPr algn="ctr">
              <a:defRPr sz="1650">
                <a:solidFill>
                  <a:srgbClr val="FFFFFF"/>
                </a:solidFill>
                <a:latin typeface="Segoe UI"/>
                <a:ea typeface="Segoe UI"/>
                <a:cs typeface="Segoe UI"/>
              </a:defRPr>
            </a:pPr>
            <a:r>
              <a:rPr sz="1650">
                <a:solidFill>
                  <a:srgbClr val="FFFFFF"/>
                </a:solidFill>
                <a:latin typeface="Segoe UI"/>
                <a:ea typeface="Segoe UI"/>
                <a:cs typeface="Segoe UI"/>
              </a:rPr>
              <a:t>02</a:t>
            </a:r>
          </a:p>
        </p:txBody>
      </p:sp>
      <p:sp>
        <p:nvSpPr>
          <p:cNvPr id="7" name="S02-marker-3">
            <a:extLst>
              <a:ext uri="{FF2B5EF4-FFF2-40B4-BE49-F238E27FC236}">
                <a16:creationId xmlns:a16="http://schemas.microsoft.com/office/drawing/2014/main" id="{84E50D7F-F685-4483-AC1D-FA4238F014E0}"/>
              </a:ext>
            </a:extLst>
          </p:cNvPr>
          <p:cNvSpPr>
            <a:spLocks noGrp="1"/>
          </p:cNvSpPr>
          <p:nvPr/>
        </p:nvSpPr>
        <p:spPr>
          <a:xfrm>
            <a:off x="8610600" y="2524125"/>
            <a:ext cx="609600" cy="609600"/>
          </a:xfrm>
          <a:prstGeom prst="ellipse">
            <a:avLst/>
          </a:prstGeom>
          <a:solidFill>
            <a:srgbClr val="287D78"/>
          </a:solidFill>
          <a:ln w="0">
            <a:noFill/>
          </a:ln>
        </p:spPr>
        <p:txBody>
          <a:bodyPr lIns="0" tIns="0" rIns="0" bIns="0" anchor="ctr"/>
          <a:lstStyle/>
          <a:p>
            <a:pPr algn="ctr">
              <a:defRPr sz="1650">
                <a:solidFill>
                  <a:srgbClr val="FFFFFF"/>
                </a:solidFill>
                <a:latin typeface="Segoe UI"/>
                <a:ea typeface="Segoe UI"/>
                <a:cs typeface="Segoe UI"/>
              </a:defRPr>
            </a:pPr>
            <a:r>
              <a:rPr sz="1650">
                <a:solidFill>
                  <a:srgbClr val="FFFFFF"/>
                </a:solidFill>
                <a:latin typeface="Segoe UI"/>
                <a:ea typeface="Segoe UI"/>
                <a:cs typeface="Segoe UI"/>
              </a:rPr>
              <a:t>03</a:t>
            </a:r>
          </a:p>
        </p:txBody>
      </p:sp>
      <p:cxnSp>
        <p:nvCxnSpPr>
          <p:cNvPr id="29" name="S02-link-2"/>
          <p:cNvCxnSpPr>
            <a:stCxn id="5" idx="6"/>
            <a:endCxn id="6" idx="2"/>
          </p:cNvCxnSpPr>
          <p:nvPr/>
        </p:nvCxnSpPr>
        <p:spPr>
          <a:xfrm>
            <a:off x="1295400" y="2828925"/>
            <a:ext cx="3352800" cy="0"/>
          </a:xfrm>
          <a:prstGeom prst="straightConnector1">
            <a:avLst/>
          </a:prstGeom>
          <a:ln w="17145">
            <a:solidFill>
              <a:srgbClr val="9EADA5"/>
            </a:solidFill>
            <a:tailEnd type="triangle" w="sm" len="sm"/>
          </a:ln>
        </p:spPr>
      </p:cxnSp>
      <p:cxnSp>
        <p:nvCxnSpPr>
          <p:cNvPr id="30" name="S02-link-3"/>
          <p:cNvCxnSpPr>
            <a:stCxn id="6" idx="6"/>
            <a:endCxn id="7" idx="2"/>
          </p:cNvCxnSpPr>
          <p:nvPr/>
        </p:nvCxnSpPr>
        <p:spPr>
          <a:xfrm>
            <a:off x="5257800" y="2828925"/>
            <a:ext cx="3352800" cy="0"/>
          </a:xfrm>
          <a:prstGeom prst="straightConnector1">
            <a:avLst/>
          </a:prstGeom>
          <a:ln w="17145">
            <a:solidFill>
              <a:srgbClr val="9EADA5"/>
            </a:solidFill>
            <a:tailEnd type="triangle" w="sm" len="sm"/>
          </a:ln>
        </p:spPr>
      </p:cxnSp>
      <p:sp>
        <p:nvSpPr>
          <p:cNvPr id="10" name="S02-flow-2">
            <a:extLst>
              <a:ext uri="{FF2B5EF4-FFF2-40B4-BE49-F238E27FC236}">
                <a16:creationId xmlns:a16="http://schemas.microsoft.com/office/drawing/2014/main" id="{12458779-99FE-4426-BD29-124B119DD2C0}"/>
              </a:ext>
            </a:extLst>
          </p:cNvPr>
          <p:cNvSpPr>
            <a:spLocks noGrp="1"/>
          </p:cNvSpPr>
          <p:nvPr/>
        </p:nvSpPr>
        <p:spPr>
          <a:xfrm>
            <a:off x="1524000" y="2057400"/>
            <a:ext cx="3048000" cy="381000"/>
          </a:xfrm>
          <a:prstGeom prst="rect">
            <a:avLst/>
          </a:prstGeom>
          <a:noFill/>
          <a:ln w="0">
            <a:noFill/>
          </a:ln>
        </p:spPr>
        <p:txBody>
          <a:bodyPr wrap="none" lIns="0" tIns="0" rIns="0" bIns="0" anchor="ctr">
            <a:noAutofit/>
          </a:bodyPr>
          <a:lstStyle/>
          <a:p>
            <a:pPr>
              <a:defRPr sz="1575" b="0">
                <a:solidFill>
                  <a:srgbClr val="586C68"/>
                </a:solidFill>
                <a:latin typeface="Segoe UI"/>
                <a:ea typeface="Segoe UI"/>
                <a:cs typeface="Segoe UI"/>
              </a:defRPr>
            </a:pPr>
            <a:r>
              <a:rPr sz="1575" b="0">
                <a:solidFill>
                  <a:srgbClr val="586C68"/>
                </a:solidFill>
                <a:latin typeface="Segoe UI"/>
                <a:ea typeface="Segoe UI"/>
                <a:cs typeface="Segoe UI"/>
              </a:rPr>
              <a:t>Knowledge distillation</a:t>
            </a:r>
          </a:p>
        </p:txBody>
      </p:sp>
      <p:sp>
        <p:nvSpPr>
          <p:cNvPr id="11" name="S02-flow-3">
            <a:extLst>
              <a:ext uri="{FF2B5EF4-FFF2-40B4-BE49-F238E27FC236}">
                <a16:creationId xmlns:a16="http://schemas.microsoft.com/office/drawing/2014/main" id="{8B4E7345-704C-4861-8DE4-747978B30CE0}"/>
              </a:ext>
            </a:extLst>
          </p:cNvPr>
          <p:cNvSpPr>
            <a:spLocks noGrp="1"/>
          </p:cNvSpPr>
          <p:nvPr/>
        </p:nvSpPr>
        <p:spPr>
          <a:xfrm>
            <a:off x="5486400" y="2057400"/>
            <a:ext cx="3048000" cy="381000"/>
          </a:xfrm>
          <a:prstGeom prst="rect">
            <a:avLst/>
          </a:prstGeom>
          <a:noFill/>
          <a:ln w="0">
            <a:noFill/>
          </a:ln>
        </p:spPr>
        <p:txBody>
          <a:bodyPr wrap="none" lIns="0" tIns="0" rIns="0" bIns="0" anchor="ctr">
            <a:noAutofit/>
          </a:bodyPr>
          <a:lstStyle/>
          <a:p>
            <a:pPr>
              <a:defRPr sz="1575" b="0">
                <a:solidFill>
                  <a:srgbClr val="586C68"/>
                </a:solidFill>
                <a:latin typeface="Segoe UI"/>
                <a:ea typeface="Segoe UI"/>
                <a:cs typeface="Segoe UI"/>
              </a:defRPr>
            </a:pPr>
            <a:r>
              <a:rPr sz="1575" b="0">
                <a:solidFill>
                  <a:srgbClr val="586C68"/>
                </a:solidFill>
                <a:latin typeface="Segoe UI"/>
                <a:ea typeface="Segoe UI"/>
                <a:cs typeface="Segoe UI"/>
              </a:rPr>
              <a:t>INT8 quantization</a:t>
            </a:r>
          </a:p>
        </p:txBody>
      </p:sp>
      <p:sp>
        <p:nvSpPr>
          <p:cNvPr id="12" name="S02-stage-1">
            <a:extLst>
              <a:ext uri="{FF2B5EF4-FFF2-40B4-BE49-F238E27FC236}">
                <a16:creationId xmlns:a16="http://schemas.microsoft.com/office/drawing/2014/main" id="{D5E0E983-CBC4-415C-B85E-976FDDAC5187}"/>
              </a:ext>
            </a:extLst>
          </p:cNvPr>
          <p:cNvSpPr>
            <a:spLocks noGrp="1"/>
          </p:cNvSpPr>
          <p:nvPr/>
        </p:nvSpPr>
        <p:spPr>
          <a:xfrm>
            <a:off x="685800" y="3343275"/>
            <a:ext cx="3181350" cy="457200"/>
          </a:xfrm>
          <a:prstGeom prst="rect">
            <a:avLst/>
          </a:prstGeom>
          <a:noFill/>
          <a:ln w="0">
            <a:noFill/>
          </a:ln>
        </p:spPr>
        <p:txBody>
          <a:bodyPr wrap="none" lIns="0" tIns="0" rIns="0" bIns="0" anchor="ctr">
            <a:noAutofit/>
          </a:bodyPr>
          <a:lstStyle/>
          <a:p>
            <a:pPr>
              <a:defRPr sz="2250" b="0">
                <a:solidFill>
                  <a:srgbClr val="1E302F"/>
                </a:solidFill>
                <a:latin typeface="Segoe UI"/>
                <a:ea typeface="Segoe UI"/>
                <a:cs typeface="Segoe UI"/>
              </a:defRPr>
            </a:pPr>
            <a:r>
              <a:rPr sz="2250" b="0">
                <a:solidFill>
                  <a:srgbClr val="1E302F"/>
                </a:solidFill>
                <a:latin typeface="Segoe UI"/>
                <a:ea typeface="Segoe UI"/>
                <a:cs typeface="Segoe UI"/>
              </a:rPr>
              <a:t>Teacher model</a:t>
            </a:r>
          </a:p>
        </p:txBody>
      </p:sp>
      <p:sp>
        <p:nvSpPr>
          <p:cNvPr id="13" name="S02-name-1">
            <a:extLst>
              <a:ext uri="{FF2B5EF4-FFF2-40B4-BE49-F238E27FC236}">
                <a16:creationId xmlns:a16="http://schemas.microsoft.com/office/drawing/2014/main" id="{6A96B8EC-AC73-4009-B569-7C8C8F461D94}"/>
              </a:ext>
            </a:extLst>
          </p:cNvPr>
          <p:cNvSpPr>
            <a:spLocks noGrp="1"/>
          </p:cNvSpPr>
          <p:nvPr/>
        </p:nvSpPr>
        <p:spPr>
          <a:xfrm>
            <a:off x="685800" y="3876675"/>
            <a:ext cx="3095625" cy="304800"/>
          </a:xfrm>
          <a:prstGeom prst="rect">
            <a:avLst/>
          </a:prstGeom>
          <a:noFill/>
          <a:ln w="0">
            <a:noFill/>
          </a:ln>
        </p:spPr>
        <p:txBody>
          <a:bodyPr wrap="none" lIns="0" tIns="0" rIns="0" bIns="0" anchor="ctr">
            <a:noAutofit/>
          </a:bodyPr>
          <a:lstStyle/>
          <a:p>
            <a:pPr>
              <a:defRPr sz="1575" b="0">
                <a:solidFill>
                  <a:srgbClr val="246E69"/>
                </a:solidFill>
                <a:latin typeface="Segoe UI"/>
                <a:ea typeface="Segoe UI"/>
                <a:cs typeface="Segoe UI"/>
              </a:defRPr>
            </a:pPr>
            <a:r>
              <a:rPr sz="1575" b="0">
                <a:solidFill>
                  <a:srgbClr val="246E69"/>
                </a:solidFill>
                <a:latin typeface="Segoe UI"/>
                <a:ea typeface="Segoe UI"/>
                <a:cs typeface="Segoe UI"/>
              </a:rPr>
              <a:t>baseline</a:t>
            </a:r>
          </a:p>
        </p:txBody>
      </p:sp>
      <p:sp>
        <p:nvSpPr>
          <p:cNvPr id="14" name="S02-detail-1">
            <a:extLst>
              <a:ext uri="{FF2B5EF4-FFF2-40B4-BE49-F238E27FC236}">
                <a16:creationId xmlns:a16="http://schemas.microsoft.com/office/drawing/2014/main" id="{681D071D-F7D4-4C04-8E43-EA6E38DD69AB}"/>
              </a:ext>
            </a:extLst>
          </p:cNvPr>
          <p:cNvSpPr>
            <a:spLocks noGrp="1"/>
          </p:cNvSpPr>
          <p:nvPr/>
        </p:nvSpPr>
        <p:spPr>
          <a:xfrm>
            <a:off x="685800" y="4438650"/>
            <a:ext cx="3181350" cy="704850"/>
          </a:xfrm>
          <a:prstGeom prst="rect">
            <a:avLst/>
          </a:prstGeom>
          <a:noFill/>
          <a:ln w="0">
            <a:noFill/>
          </a:ln>
        </p:spPr>
        <p:txBody>
          <a:bodyPr wrap="none" lIns="0" tIns="0" rIns="0" bIns="0" anchor="ctr">
            <a:noAutofit/>
          </a:bodyPr>
          <a:lstStyle/>
          <a:p>
            <a:pPr>
              <a:defRPr sz="1800" b="0">
                <a:solidFill>
                  <a:srgbClr val="586C68"/>
                </a:solidFill>
                <a:latin typeface="Segoe UI"/>
                <a:ea typeface="Segoe UI"/>
                <a:cs typeface="Segoe UI"/>
              </a:defRPr>
            </a:pPr>
            <a:r>
              <a:rPr sz="1800" b="0">
                <a:solidFill>
                  <a:srgbClr val="586C68"/>
                </a:solidFill>
                <a:latin typeface="Segoe UI"/>
                <a:ea typeface="Segoe UI"/>
                <a:cs typeface="Segoe UI"/>
              </a:rPr>
              <a:t>The reference model</a:t>
            </a:r>
          </a:p>
          <a:p>
            <a:pPr>
              <a:defRPr sz="1800" b="0">
                <a:solidFill>
                  <a:srgbClr val="586C68"/>
                </a:solidFill>
                <a:latin typeface="Segoe UI"/>
                <a:ea typeface="Segoe UI"/>
                <a:cs typeface="Segoe UI"/>
              </a:defRPr>
            </a:pPr>
            <a:r>
              <a:rPr sz="1800" b="0">
                <a:solidFill>
                  <a:srgbClr val="586C68"/>
                </a:solidFill>
                <a:latin typeface="Segoe UI"/>
                <a:ea typeface="Segoe UI"/>
                <a:cs typeface="Segoe UI"/>
              </a:rPr>
              <a:t>serves as the teacher.</a:t>
            </a:r>
          </a:p>
        </p:txBody>
      </p:sp>
      <p:sp>
        <p:nvSpPr>
          <p:cNvPr id="15" name="S02-stage-2">
            <a:extLst>
              <a:ext uri="{FF2B5EF4-FFF2-40B4-BE49-F238E27FC236}">
                <a16:creationId xmlns:a16="http://schemas.microsoft.com/office/drawing/2014/main" id="{A8DC9666-EF9F-4E92-BCF7-16FFF72ABD37}"/>
              </a:ext>
            </a:extLst>
          </p:cNvPr>
          <p:cNvSpPr>
            <a:spLocks noGrp="1"/>
          </p:cNvSpPr>
          <p:nvPr/>
        </p:nvSpPr>
        <p:spPr>
          <a:xfrm>
            <a:off x="4648200" y="3343275"/>
            <a:ext cx="3181350" cy="457200"/>
          </a:xfrm>
          <a:prstGeom prst="rect">
            <a:avLst/>
          </a:prstGeom>
          <a:noFill/>
          <a:ln w="0">
            <a:noFill/>
          </a:ln>
        </p:spPr>
        <p:txBody>
          <a:bodyPr wrap="none" lIns="0" tIns="0" rIns="0" bIns="0" anchor="ctr">
            <a:noAutofit/>
          </a:bodyPr>
          <a:lstStyle/>
          <a:p>
            <a:pPr>
              <a:defRPr sz="2250" b="0">
                <a:solidFill>
                  <a:srgbClr val="1E302F"/>
                </a:solidFill>
                <a:latin typeface="Segoe UI"/>
                <a:ea typeface="Segoe UI"/>
                <a:cs typeface="Segoe UI"/>
              </a:defRPr>
            </a:pPr>
            <a:r>
              <a:rPr sz="2250" b="0">
                <a:solidFill>
                  <a:srgbClr val="1E302F"/>
                </a:solidFill>
                <a:latin typeface="Segoe UI"/>
                <a:ea typeface="Segoe UI"/>
                <a:cs typeface="Segoe UI"/>
              </a:rPr>
              <a:t>Student model</a:t>
            </a:r>
          </a:p>
        </p:txBody>
      </p:sp>
      <p:sp>
        <p:nvSpPr>
          <p:cNvPr id="16" name="S02-name-2">
            <a:extLst>
              <a:ext uri="{FF2B5EF4-FFF2-40B4-BE49-F238E27FC236}">
                <a16:creationId xmlns:a16="http://schemas.microsoft.com/office/drawing/2014/main" id="{EA89E638-CC04-4898-B7F7-1402242026FE}"/>
              </a:ext>
            </a:extLst>
          </p:cNvPr>
          <p:cNvSpPr>
            <a:spLocks noGrp="1"/>
          </p:cNvSpPr>
          <p:nvPr/>
        </p:nvSpPr>
        <p:spPr>
          <a:xfrm>
            <a:off x="4648200" y="3876675"/>
            <a:ext cx="3095625" cy="304800"/>
          </a:xfrm>
          <a:prstGeom prst="rect">
            <a:avLst/>
          </a:prstGeom>
          <a:noFill/>
          <a:ln w="0">
            <a:noFill/>
          </a:ln>
        </p:spPr>
        <p:txBody>
          <a:bodyPr wrap="none" lIns="0" tIns="0" rIns="0" bIns="0" anchor="ctr">
            <a:noAutofit/>
          </a:bodyPr>
          <a:lstStyle/>
          <a:p>
            <a:pPr>
              <a:defRPr sz="1575" b="0">
                <a:solidFill>
                  <a:srgbClr val="246E69"/>
                </a:solidFill>
                <a:latin typeface="Segoe UI"/>
                <a:ea typeface="Segoe UI"/>
                <a:cs typeface="Segoe UI"/>
              </a:defRPr>
            </a:pPr>
            <a:r>
              <a:rPr sz="1575" b="0">
                <a:solidFill>
                  <a:srgbClr val="246E69"/>
                </a:solidFill>
                <a:latin typeface="Segoe UI"/>
                <a:ea typeface="Segoe UI"/>
                <a:cs typeface="Segoe UI"/>
              </a:rPr>
              <a:t>distilled</a:t>
            </a:r>
          </a:p>
        </p:txBody>
      </p:sp>
      <p:sp>
        <p:nvSpPr>
          <p:cNvPr id="17" name="S02-detail-2">
            <a:extLst>
              <a:ext uri="{FF2B5EF4-FFF2-40B4-BE49-F238E27FC236}">
                <a16:creationId xmlns:a16="http://schemas.microsoft.com/office/drawing/2014/main" id="{809E60DE-62D3-4BB8-BEA7-4CF053BE6809}"/>
              </a:ext>
            </a:extLst>
          </p:cNvPr>
          <p:cNvSpPr>
            <a:spLocks noGrp="1"/>
          </p:cNvSpPr>
          <p:nvPr/>
        </p:nvSpPr>
        <p:spPr>
          <a:xfrm>
            <a:off x="4648200" y="4438650"/>
            <a:ext cx="3181350" cy="704850"/>
          </a:xfrm>
          <a:prstGeom prst="rect">
            <a:avLst/>
          </a:prstGeom>
          <a:noFill/>
          <a:ln w="0">
            <a:noFill/>
          </a:ln>
        </p:spPr>
        <p:txBody>
          <a:bodyPr wrap="none" lIns="0" tIns="0" rIns="0" bIns="0" anchor="ctr">
            <a:noAutofit/>
          </a:bodyPr>
          <a:lstStyle/>
          <a:p>
            <a:pPr>
              <a:defRPr sz="1800" b="0">
                <a:solidFill>
                  <a:srgbClr val="586C68"/>
                </a:solidFill>
                <a:latin typeface="Segoe UI"/>
                <a:ea typeface="Segoe UI"/>
                <a:cs typeface="Segoe UI"/>
              </a:defRPr>
            </a:pPr>
            <a:r>
              <a:rPr sz="1800" b="0">
                <a:solidFill>
                  <a:srgbClr val="586C68"/>
                </a:solidFill>
                <a:latin typeface="Segoe UI"/>
                <a:ea typeface="Segoe UI"/>
                <a:cs typeface="Segoe UI"/>
              </a:rPr>
              <a:t>A smaller student learns</a:t>
            </a:r>
          </a:p>
          <a:p>
            <a:pPr>
              <a:defRPr sz="1800" b="0">
                <a:solidFill>
                  <a:srgbClr val="586C68"/>
                </a:solidFill>
                <a:latin typeface="Segoe UI"/>
                <a:ea typeface="Segoe UI"/>
                <a:cs typeface="Segoe UI"/>
              </a:defRPr>
            </a:pPr>
            <a:r>
              <a:rPr sz="1800" b="0">
                <a:solidFill>
                  <a:srgbClr val="586C68"/>
                </a:solidFill>
                <a:latin typeface="Segoe UI"/>
                <a:ea typeface="Segoe UI"/>
                <a:cs typeface="Segoe UI"/>
              </a:rPr>
              <a:t>from teacher predictions.</a:t>
            </a:r>
          </a:p>
        </p:txBody>
      </p:sp>
      <p:sp>
        <p:nvSpPr>
          <p:cNvPr id="18" name="S02-stage-3">
            <a:extLst>
              <a:ext uri="{FF2B5EF4-FFF2-40B4-BE49-F238E27FC236}">
                <a16:creationId xmlns:a16="http://schemas.microsoft.com/office/drawing/2014/main" id="{E0471A0B-1A8A-4FC2-8A0A-F7045C700463}"/>
              </a:ext>
            </a:extLst>
          </p:cNvPr>
          <p:cNvSpPr>
            <a:spLocks noGrp="1"/>
          </p:cNvSpPr>
          <p:nvPr/>
        </p:nvSpPr>
        <p:spPr>
          <a:xfrm>
            <a:off x="8610600" y="3343275"/>
            <a:ext cx="3181350" cy="457200"/>
          </a:xfrm>
          <a:prstGeom prst="rect">
            <a:avLst/>
          </a:prstGeom>
          <a:noFill/>
          <a:ln w="0">
            <a:noFill/>
          </a:ln>
        </p:spPr>
        <p:txBody>
          <a:bodyPr wrap="none" lIns="0" tIns="0" rIns="0" bIns="0" anchor="ctr">
            <a:noAutofit/>
          </a:bodyPr>
          <a:lstStyle/>
          <a:p>
            <a:pPr>
              <a:defRPr sz="2250" b="0">
                <a:solidFill>
                  <a:srgbClr val="1E302F"/>
                </a:solidFill>
                <a:latin typeface="Segoe UI"/>
                <a:ea typeface="Segoe UI"/>
                <a:cs typeface="Segoe UI"/>
              </a:defRPr>
            </a:pPr>
            <a:r>
              <a:rPr sz="2250" b="0">
                <a:solidFill>
                  <a:srgbClr val="1E302F"/>
                </a:solidFill>
                <a:latin typeface="Segoe UI"/>
                <a:ea typeface="Segoe UI"/>
                <a:cs typeface="Segoe UI"/>
              </a:rPr>
              <a:t>INT8 student</a:t>
            </a:r>
          </a:p>
        </p:txBody>
      </p:sp>
      <p:sp>
        <p:nvSpPr>
          <p:cNvPr id="19" name="S02-name-3">
            <a:extLst>
              <a:ext uri="{FF2B5EF4-FFF2-40B4-BE49-F238E27FC236}">
                <a16:creationId xmlns:a16="http://schemas.microsoft.com/office/drawing/2014/main" id="{BB42FAD0-8B31-4C79-9D1A-39D8101F07AA}"/>
              </a:ext>
            </a:extLst>
          </p:cNvPr>
          <p:cNvSpPr>
            <a:spLocks noGrp="1"/>
          </p:cNvSpPr>
          <p:nvPr/>
        </p:nvSpPr>
        <p:spPr>
          <a:xfrm>
            <a:off x="8610600" y="3876675"/>
            <a:ext cx="3095625" cy="304800"/>
          </a:xfrm>
          <a:prstGeom prst="rect">
            <a:avLst/>
          </a:prstGeom>
          <a:noFill/>
          <a:ln w="0">
            <a:noFill/>
          </a:ln>
        </p:spPr>
        <p:txBody>
          <a:bodyPr wrap="none" lIns="0" tIns="0" rIns="0" bIns="0" anchor="ctr">
            <a:noAutofit/>
          </a:bodyPr>
          <a:lstStyle/>
          <a:p>
            <a:pPr>
              <a:defRPr sz="1575" b="0">
                <a:solidFill>
                  <a:srgbClr val="246E69"/>
                </a:solidFill>
                <a:latin typeface="Segoe UI"/>
                <a:ea typeface="Segoe UI"/>
                <a:cs typeface="Segoe UI"/>
              </a:defRPr>
            </a:pPr>
            <a:r>
              <a:rPr sz="1575" b="0">
                <a:solidFill>
                  <a:srgbClr val="246E69"/>
                </a:solidFill>
                <a:latin typeface="Segoe UI"/>
                <a:ea typeface="Segoe UI"/>
                <a:cs typeface="Segoe UI"/>
              </a:rPr>
              <a:t>int8</a:t>
            </a:r>
          </a:p>
        </p:txBody>
      </p:sp>
      <p:sp>
        <p:nvSpPr>
          <p:cNvPr id="20" name="S02-detail-3">
            <a:extLst>
              <a:ext uri="{FF2B5EF4-FFF2-40B4-BE49-F238E27FC236}">
                <a16:creationId xmlns:a16="http://schemas.microsoft.com/office/drawing/2014/main" id="{6113C402-54DF-4065-A864-EA53B95919E7}"/>
              </a:ext>
            </a:extLst>
          </p:cNvPr>
          <p:cNvSpPr>
            <a:spLocks noGrp="1"/>
          </p:cNvSpPr>
          <p:nvPr/>
        </p:nvSpPr>
        <p:spPr>
          <a:xfrm>
            <a:off x="8610600" y="4438650"/>
            <a:ext cx="3181350" cy="704850"/>
          </a:xfrm>
          <a:prstGeom prst="rect">
            <a:avLst/>
          </a:prstGeom>
          <a:noFill/>
          <a:ln w="0">
            <a:noFill/>
          </a:ln>
        </p:spPr>
        <p:txBody>
          <a:bodyPr wrap="none" lIns="0" tIns="0" rIns="0" bIns="0" anchor="ctr">
            <a:noAutofit/>
          </a:bodyPr>
          <a:lstStyle/>
          <a:p>
            <a:pPr>
              <a:defRPr sz="1800" b="0">
                <a:solidFill>
                  <a:srgbClr val="586C68"/>
                </a:solidFill>
                <a:latin typeface="Segoe UI"/>
                <a:ea typeface="Segoe UI"/>
                <a:cs typeface="Segoe UI"/>
              </a:defRPr>
            </a:pPr>
            <a:r>
              <a:rPr sz="1800" b="0">
                <a:solidFill>
                  <a:srgbClr val="586C68"/>
                </a:solidFill>
                <a:latin typeface="Segoe UI"/>
                <a:ea typeface="Segoe UI"/>
                <a:cs typeface="Segoe UI"/>
              </a:rPr>
              <a:t>Use 8-bit integers for</a:t>
            </a:r>
          </a:p>
          <a:p>
            <a:pPr>
              <a:defRPr sz="1800" b="0">
                <a:solidFill>
                  <a:srgbClr val="586C68"/>
                </a:solidFill>
                <a:latin typeface="Segoe UI"/>
                <a:ea typeface="Segoe UI"/>
                <a:cs typeface="Segoe UI"/>
              </a:defRPr>
            </a:pPr>
            <a:r>
              <a:rPr sz="1800" b="0">
                <a:solidFill>
                  <a:srgbClr val="586C68"/>
                </a:solidFill>
                <a:latin typeface="Segoe UI"/>
                <a:ea typeface="Segoe UI"/>
                <a:cs typeface="Segoe UI"/>
              </a:rPr>
              <a:t>selected model quantities.</a:t>
            </a:r>
          </a:p>
        </p:txBody>
      </p:sp>
      <p:sp>
        <p:nvSpPr>
          <p:cNvPr id="21" name="S02-caveat">
            <a:extLst>
              <a:ext uri="{FF2B5EF4-FFF2-40B4-BE49-F238E27FC236}">
                <a16:creationId xmlns:a16="http://schemas.microsoft.com/office/drawing/2014/main" id="{4DA499D8-7F71-4A53-8ACE-3FF710E76AAE}"/>
              </a:ext>
            </a:extLst>
          </p:cNvPr>
          <p:cNvSpPr>
            <a:spLocks noGrp="1"/>
          </p:cNvSpPr>
          <p:nvPr/>
        </p:nvSpPr>
        <p:spPr>
          <a:xfrm>
            <a:off x="685800" y="5657850"/>
            <a:ext cx="10820400" cy="361950"/>
          </a:xfrm>
          <a:prstGeom prst="rect">
            <a:avLst/>
          </a:prstGeom>
          <a:noFill/>
          <a:ln w="0">
            <a:noFill/>
          </a:ln>
        </p:spPr>
        <p:txBody>
          <a:bodyPr wrap="none" lIns="0" tIns="0" rIns="0" bIns="0" anchor="ctr">
            <a:noAutofit/>
          </a:bodyPr>
          <a:lstStyle/>
          <a:p>
            <a:pPr>
              <a:defRPr sz="1575" b="0">
                <a:solidFill>
                  <a:srgbClr val="586C68"/>
                </a:solidFill>
                <a:latin typeface="Segoe UI"/>
                <a:ea typeface="Segoe UI"/>
                <a:cs typeface="Segoe UI"/>
              </a:defRPr>
            </a:pPr>
            <a:r>
              <a:rPr sz="1575" b="0">
                <a:solidFill>
                  <a:srgbClr val="586C68"/>
                </a:solidFill>
                <a:latin typeface="Segoe UI"/>
                <a:ea typeface="Segoe UI"/>
                <a:cs typeface="Segoe UI"/>
              </a:rPr>
              <a:t>Conceptual overview; implementation details vary.</a:t>
            </a:r>
          </a:p>
        </p:txBody>
      </p:sp>
    </p:spTree>
    <p:extLst>
      <p:ext uri="{BB962C8B-B14F-4D97-AF65-F5344CB8AC3E}">
        <p14:creationId xmlns:p14="http://schemas.microsoft.com/office/powerpoint/2010/main" val="625778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350"/>
                                        <p:tgtEl>
                                          <p:spTgt spid="2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35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35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350"/>
                                        <p:tgtEl>
                                          <p:spTgt spid="1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35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350"/>
                                        <p:tgtEl>
                                          <p:spTgt spid="7"/>
                                        </p:tgtEl>
                                      </p:cBhvr>
                                    </p:animEffect>
                                  </p:childTnLst>
                                </p:cTn>
                              </p:par>
                              <p:par>
                                <p:cTn id="28" presetID="10" presetClass="entr" presetSubtype="0" fill="hold" nodeType="with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350"/>
                                        <p:tgtEl>
                                          <p:spTgt spid="3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5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350"/>
                                        <p:tgtEl>
                                          <p:spTgt spid="1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35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3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p:bldP spid="11" grpId="0"/>
      <p:bldP spid="15" grpId="0"/>
      <p:bldP spid="16" grpId="0"/>
      <p:bldP spid="17" grpId="0"/>
      <p:bldP spid="18" grpId="0"/>
      <p:bldP spid="19" grpId="0"/>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7" name="S03-title">
            <a:extLst>
              <a:ext uri="{FF2B5EF4-FFF2-40B4-BE49-F238E27FC236}">
                <a16:creationId xmlns:a16="http://schemas.microsoft.com/office/drawing/2014/main" id="{CFBCA220-0E6C-4C93-9C1B-7779A7157872}"/>
              </a:ext>
            </a:extLst>
          </p:cNvPr>
          <p:cNvSpPr>
            <a:spLocks noGrp="1"/>
          </p:cNvSpPr>
          <p:nvPr/>
        </p:nvSpPr>
        <p:spPr>
          <a:xfrm>
            <a:off x="685800" y="895350"/>
            <a:ext cx="10820400" cy="666750"/>
          </a:xfrm>
          <a:prstGeom prst="rect">
            <a:avLst/>
          </a:prstGeom>
          <a:noFill/>
          <a:ln w="0">
            <a:noFill/>
          </a:ln>
        </p:spPr>
        <p:txBody>
          <a:bodyPr wrap="none" lIns="0" tIns="0" rIns="0" bIns="0" anchor="ctr">
            <a:noAutofit/>
          </a:bodyPr>
          <a:lstStyle/>
          <a:p>
            <a:pPr>
              <a:defRPr sz="3225" b="0">
                <a:solidFill>
                  <a:srgbClr val="1E302F"/>
                </a:solidFill>
                <a:latin typeface="Segoe UI"/>
                <a:ea typeface="Segoe UI"/>
                <a:cs typeface="Segoe UI"/>
              </a:defRPr>
            </a:pPr>
            <a:r>
              <a:rPr sz="3225" b="0">
                <a:solidFill>
                  <a:srgbClr val="1E302F"/>
                </a:solidFill>
                <a:latin typeface="Segoe UI"/>
                <a:ea typeface="Segoe UI"/>
                <a:cs typeface="Segoe UI"/>
              </a:rPr>
              <a:t>Latency, F1 and model size</a:t>
            </a:r>
          </a:p>
        </p:txBody>
      </p:sp>
      <p:sp>
        <p:nvSpPr>
          <p:cNvPr id="2" name="S03-disclosure">
            <a:extLst>
              <a:ext uri="{FF2B5EF4-FFF2-40B4-BE49-F238E27FC236}">
                <a16:creationId xmlns:a16="http://schemas.microsoft.com/office/drawing/2014/main" id="{D85B70CD-81C6-4447-9008-248C23ECB855}"/>
              </a:ext>
            </a:extLst>
          </p:cNvPr>
          <p:cNvSpPr>
            <a:spLocks noGrp="1"/>
          </p:cNvSpPr>
          <p:nvPr/>
        </p:nvSpPr>
        <p:spPr>
          <a:xfrm>
            <a:off x="685800" y="6372225"/>
            <a:ext cx="9525000" cy="219075"/>
          </a:xfrm>
          <a:prstGeom prst="rect">
            <a:avLst/>
          </a:prstGeom>
          <a:noFill/>
          <a:ln w="0">
            <a:noFill/>
          </a:ln>
        </p:spPr>
        <p:txBody>
          <a:bodyPr wrap="none" lIns="0" tIns="0" rIns="0" bIns="0" anchor="ctr">
            <a:noAutofit/>
          </a:bodyPr>
          <a:lstStyle/>
          <a:p>
            <a:pPr>
              <a:defRPr sz="1275" b="0">
                <a:solidFill>
                  <a:srgbClr val="586C68"/>
                </a:solidFill>
                <a:latin typeface="Segoe UI"/>
                <a:ea typeface="Segoe UI"/>
                <a:cs typeface="Segoe UI"/>
              </a:defRPr>
            </a:pPr>
            <a:r>
              <a:rPr sz="1275" b="0">
                <a:solidFill>
                  <a:srgbClr val="586C68"/>
                </a:solidFill>
                <a:latin typeface="Segoe UI"/>
                <a:ea typeface="Segoe UI"/>
                <a:cs typeface="Segoe UI"/>
              </a:rPr>
              <a:t>Illustrative data</a:t>
            </a:r>
          </a:p>
        </p:txBody>
      </p:sp>
      <p:sp>
        <p:nvSpPr>
          <p:cNvPr id="3" name="S03-number">
            <a:extLst>
              <a:ext uri="{FF2B5EF4-FFF2-40B4-BE49-F238E27FC236}">
                <a16:creationId xmlns:a16="http://schemas.microsoft.com/office/drawing/2014/main" id="{388F65F0-FA2D-4B75-8512-2E79BD999864}"/>
              </a:ext>
            </a:extLst>
          </p:cNvPr>
          <p:cNvSpPr>
            <a:spLocks noGrp="1"/>
          </p:cNvSpPr>
          <p:nvPr/>
        </p:nvSpPr>
        <p:spPr>
          <a:xfrm>
            <a:off x="11144250" y="6372225"/>
            <a:ext cx="361950" cy="219075"/>
          </a:xfrm>
          <a:prstGeom prst="rect">
            <a:avLst/>
          </a:prstGeom>
          <a:noFill/>
          <a:ln w="0">
            <a:noFill/>
          </a:ln>
        </p:spPr>
        <p:txBody>
          <a:bodyPr wrap="none" lIns="0" tIns="0" rIns="0" bIns="0" anchor="ctr">
            <a:noAutofit/>
          </a:bodyPr>
          <a:lstStyle/>
          <a:p>
            <a:pPr>
              <a:defRPr sz="1275" b="0">
                <a:solidFill>
                  <a:srgbClr val="586C68"/>
                </a:solidFill>
                <a:latin typeface="Segoe UI"/>
                <a:ea typeface="Segoe UI"/>
                <a:cs typeface="Segoe UI"/>
              </a:defRPr>
            </a:pPr>
            <a:r>
              <a:rPr sz="1275" b="0">
                <a:solidFill>
                  <a:srgbClr val="586C68"/>
                </a:solidFill>
                <a:latin typeface="Segoe UI"/>
                <a:ea typeface="Segoe UI"/>
                <a:cs typeface="Segoe UI"/>
              </a:rPr>
              <a:t>03</a:t>
            </a:r>
          </a:p>
        </p:txBody>
      </p:sp>
      <p:sp>
        <p:nvSpPr>
          <p:cNvPr id="4" name="S03-direction">
            <a:extLst>
              <a:ext uri="{FF2B5EF4-FFF2-40B4-BE49-F238E27FC236}">
                <a16:creationId xmlns:a16="http://schemas.microsoft.com/office/drawing/2014/main" id="{6226551B-CCC9-4228-8EE2-96ED49F67B75}"/>
              </a:ext>
            </a:extLst>
          </p:cNvPr>
          <p:cNvSpPr>
            <a:spLocks noGrp="1"/>
          </p:cNvSpPr>
          <p:nvPr/>
        </p:nvSpPr>
        <p:spPr>
          <a:xfrm>
            <a:off x="685800" y="1628775"/>
            <a:ext cx="10820400" cy="381000"/>
          </a:xfrm>
          <a:prstGeom prst="rect">
            <a:avLst/>
          </a:prstGeom>
          <a:noFill/>
          <a:ln w="0">
            <a:noFill/>
          </a:ln>
        </p:spPr>
        <p:txBody>
          <a:bodyPr wrap="none" lIns="0" tIns="0" rIns="0" bIns="0" anchor="ctr">
            <a:noAutofit/>
          </a:bodyPr>
          <a:lstStyle/>
          <a:p>
            <a:pPr>
              <a:defRPr sz="1800" b="0">
                <a:solidFill>
                  <a:srgbClr val="586C68"/>
                </a:solidFill>
                <a:latin typeface="Segoe UI"/>
                <a:ea typeface="Segoe UI"/>
                <a:cs typeface="Segoe UI"/>
              </a:defRPr>
            </a:pPr>
            <a:r>
              <a:rPr sz="1800" b="0">
                <a:solidFill>
                  <a:srgbClr val="586C68"/>
                </a:solidFill>
                <a:latin typeface="Segoe UI"/>
                <a:ea typeface="Segoe UI"/>
                <a:cs typeface="Segoe UI"/>
              </a:rPr>
              <a:t>Lower latency and size are better; higher F1 is better.</a:t>
            </a:r>
          </a:p>
        </p:txBody>
      </p:sp>
      <p:graphicFrame>
        <p:nvGraphicFramePr>
          <p:cNvPr id="11" name="표 10"/>
          <p:cNvGraphicFramePr/>
          <p:nvPr/>
        </p:nvGraphicFramePr>
        <p:xfrm>
          <a:off x="609600" y="2343150"/>
          <a:ext cx="10972800" cy="2933700"/>
        </p:xfrm>
        <a:graphic>
          <a:graphicData uri="http://schemas.openxmlformats.org/drawingml/2006/table">
            <a:tbl>
              <a:tblPr/>
              <a:tblGrid>
                <a:gridCol w="34290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209800">
                  <a:extLst>
                    <a:ext uri="{9D8B030D-6E8A-4147-A177-3AD203B41FA5}">
                      <a16:colId xmlns:a16="http://schemas.microsoft.com/office/drawing/2014/main" val="20002"/>
                    </a:ext>
                  </a:extLst>
                </a:gridCol>
                <a:gridCol w="2667000">
                  <a:extLst>
                    <a:ext uri="{9D8B030D-6E8A-4147-A177-3AD203B41FA5}">
                      <a16:colId xmlns:a16="http://schemas.microsoft.com/office/drawing/2014/main" val="20003"/>
                    </a:ext>
                  </a:extLst>
                </a:gridCol>
              </a:tblGrid>
              <a:tr h="733425">
                <a:tc>
                  <a:txBody>
                    <a:bodyPr/>
                    <a:lstStyle/>
                    <a:p>
                      <a:pPr algn="l"/>
                      <a:r>
                        <a:rPr sz="1800" b="0">
                          <a:solidFill>
                            <a:srgbClr val="FFFFFF"/>
                          </a:solidFill>
                          <a:latin typeface="Segoe UI"/>
                          <a:ea typeface="Segoe UI"/>
                          <a:cs typeface="Segoe UI"/>
                        </a:rPr>
                        <a:t>Model</a:t>
                      </a:r>
                    </a:p>
                  </a:txBody>
                  <a:tcPr marL="95250" marR="95250" marT="95250" marB="95250" anchor="ctr">
                    <a:lnL w="12700">
                      <a:noFill/>
                    </a:lnL>
                    <a:lnR w="12700">
                      <a:noFill/>
                    </a:lnR>
                    <a:lnT w="12700">
                      <a:noFill/>
                    </a:lnT>
                    <a:lnB w="12700">
                      <a:noFill/>
                    </a:lnB>
                    <a:lnTlToBr w="12700">
                      <a:noFill/>
                    </a:lnTlToBr>
                    <a:lnBlToTr w="12700">
                      <a:noFill/>
                    </a:lnBlToTr>
                    <a:solidFill>
                      <a:srgbClr val="1E302F"/>
                    </a:solidFill>
                  </a:tcPr>
                </a:tc>
                <a:tc>
                  <a:txBody>
                    <a:bodyPr/>
                    <a:lstStyle/>
                    <a:p>
                      <a:pPr algn="ctr"/>
                      <a:r>
                        <a:rPr sz="1800" b="0">
                          <a:solidFill>
                            <a:srgbClr val="FFFFFF"/>
                          </a:solidFill>
                          <a:latin typeface="Segoe UI"/>
                          <a:ea typeface="Segoe UI"/>
                          <a:cs typeface="Segoe UI"/>
                        </a:rPr>
                        <a:t>Latency (ms)</a:t>
                      </a:r>
                    </a:p>
                  </a:txBody>
                  <a:tcPr marL="95250" marR="95250" marT="95250" marB="95250" anchor="ctr">
                    <a:lnL w="12700">
                      <a:noFill/>
                    </a:lnL>
                    <a:lnR w="12700">
                      <a:noFill/>
                    </a:lnR>
                    <a:lnT w="12700">
                      <a:noFill/>
                    </a:lnT>
                    <a:lnB w="12700">
                      <a:noFill/>
                    </a:lnB>
                    <a:lnTlToBr w="12700">
                      <a:noFill/>
                    </a:lnTlToBr>
                    <a:lnBlToTr w="12700">
                      <a:noFill/>
                    </a:lnBlToTr>
                    <a:solidFill>
                      <a:srgbClr val="1E302F"/>
                    </a:solidFill>
                  </a:tcPr>
                </a:tc>
                <a:tc>
                  <a:txBody>
                    <a:bodyPr/>
                    <a:lstStyle/>
                    <a:p>
                      <a:pPr algn="ctr"/>
                      <a:r>
                        <a:rPr sz="1800" b="0">
                          <a:solidFill>
                            <a:srgbClr val="FFFFFF"/>
                          </a:solidFill>
                          <a:latin typeface="Segoe UI"/>
                          <a:ea typeface="Segoe UI"/>
                          <a:cs typeface="Segoe UI"/>
                        </a:rPr>
                        <a:t>F1</a:t>
                      </a:r>
                    </a:p>
                  </a:txBody>
                  <a:tcPr marL="95250" marR="95250" marT="95250" marB="95250" anchor="ctr">
                    <a:lnL w="12700">
                      <a:noFill/>
                    </a:lnL>
                    <a:lnR w="12700">
                      <a:noFill/>
                    </a:lnR>
                    <a:lnT w="12700">
                      <a:noFill/>
                    </a:lnT>
                    <a:lnB w="12700">
                      <a:noFill/>
                    </a:lnB>
                    <a:lnTlToBr w="12700">
                      <a:noFill/>
                    </a:lnTlToBr>
                    <a:lnBlToTr w="12700">
                      <a:noFill/>
                    </a:lnBlToTr>
                    <a:solidFill>
                      <a:srgbClr val="1E302F"/>
                    </a:solidFill>
                  </a:tcPr>
                </a:tc>
                <a:tc>
                  <a:txBody>
                    <a:bodyPr/>
                    <a:lstStyle/>
                    <a:p>
                      <a:pPr algn="ctr"/>
                      <a:r>
                        <a:rPr sz="1800" b="0">
                          <a:solidFill>
                            <a:srgbClr val="FFFFFF"/>
                          </a:solidFill>
                          <a:latin typeface="Segoe UI"/>
                          <a:ea typeface="Segoe UI"/>
                          <a:cs typeface="Segoe UI"/>
                        </a:rPr>
                        <a:t>Size (MB)</a:t>
                      </a:r>
                    </a:p>
                  </a:txBody>
                  <a:tcPr marL="95250" marR="95250" marT="95250" marB="95250" anchor="ctr">
                    <a:lnL w="12700">
                      <a:noFill/>
                    </a:lnL>
                    <a:lnR w="12700">
                      <a:noFill/>
                    </a:lnR>
                    <a:lnT w="12700">
                      <a:noFill/>
                    </a:lnT>
                    <a:lnB w="12700">
                      <a:noFill/>
                    </a:lnB>
                    <a:lnTlToBr w="12700">
                      <a:noFill/>
                    </a:lnTlToBr>
                    <a:lnBlToTr w="12700">
                      <a:noFill/>
                    </a:lnBlToTr>
                    <a:solidFill>
                      <a:srgbClr val="1E302F"/>
                    </a:solidFill>
                  </a:tcPr>
                </a:tc>
                <a:extLst>
                  <a:ext uri="{0D108BD9-81ED-4DB2-BD59-A6C34878D82A}">
                    <a16:rowId xmlns:a16="http://schemas.microsoft.com/office/drawing/2014/main" val="10000"/>
                  </a:ext>
                </a:extLst>
              </a:tr>
              <a:tr h="733425">
                <a:tc>
                  <a:txBody>
                    <a:bodyPr/>
                    <a:lstStyle/>
                    <a:p>
                      <a:pPr algn="l"/>
                      <a:r>
                        <a:rPr sz="2400" b="0">
                          <a:solidFill>
                            <a:srgbClr val="1E302F"/>
                          </a:solidFill>
                          <a:latin typeface="Segoe UI"/>
                          <a:ea typeface="Segoe UI"/>
                          <a:cs typeface="Segoe UI"/>
                        </a:rPr>
                        <a:t>baseline</a:t>
                      </a:r>
                    </a:p>
                  </a:txBody>
                  <a:tcPr marL="95250" marR="95250" marT="95250" marB="95250" anchor="ctr">
                    <a:lnL w="12700">
                      <a:noFill/>
                    </a:lnL>
                    <a:lnR w="12700">
                      <a:noFill/>
                    </a:lnR>
                    <a:lnT w="12700">
                      <a:noFill/>
                    </a:lnT>
                    <a:lnB w="12700">
                      <a:noFill/>
                    </a:lnB>
                    <a:lnTlToBr w="12700">
                      <a:noFill/>
                    </a:lnTlToBr>
                    <a:lnBlToTr w="12700">
                      <a:noFill/>
                    </a:lnBlToTr>
                    <a:solidFill>
                      <a:srgbClr val="E8EDE5"/>
                    </a:solidFill>
                  </a:tcPr>
                </a:tc>
                <a:tc>
                  <a:txBody>
                    <a:bodyPr/>
                    <a:lstStyle/>
                    <a:p>
                      <a:pPr algn="ctr"/>
                      <a:r>
                        <a:rPr sz="2400" b="0">
                          <a:solidFill>
                            <a:srgbClr val="1E302F"/>
                          </a:solidFill>
                          <a:latin typeface="Segoe UI"/>
                          <a:ea typeface="Segoe UI"/>
                          <a:cs typeface="Segoe UI"/>
                        </a:rPr>
                        <a:t>120</a:t>
                      </a:r>
                    </a:p>
                  </a:txBody>
                  <a:tcPr marL="95250" marR="95250" marT="95250" marB="95250" anchor="ctr">
                    <a:lnL w="12700">
                      <a:noFill/>
                    </a:lnL>
                    <a:lnR w="12700">
                      <a:noFill/>
                    </a:lnR>
                    <a:lnT w="12700">
                      <a:noFill/>
                    </a:lnT>
                    <a:lnB w="12700">
                      <a:noFill/>
                    </a:lnB>
                    <a:lnTlToBr w="12700">
                      <a:noFill/>
                    </a:lnTlToBr>
                    <a:lnBlToTr w="12700">
                      <a:noFill/>
                    </a:lnBlToTr>
                    <a:solidFill>
                      <a:srgbClr val="E8EDE5"/>
                    </a:solidFill>
                  </a:tcPr>
                </a:tc>
                <a:tc>
                  <a:txBody>
                    <a:bodyPr/>
                    <a:lstStyle/>
                    <a:p>
                      <a:pPr algn="ctr"/>
                      <a:r>
                        <a:rPr sz="2400" b="0">
                          <a:solidFill>
                            <a:srgbClr val="1E302F"/>
                          </a:solidFill>
                          <a:latin typeface="Segoe UI"/>
                          <a:ea typeface="Segoe UI"/>
                          <a:cs typeface="Segoe UI"/>
                        </a:rPr>
                        <a:t>0.910</a:t>
                      </a:r>
                    </a:p>
                  </a:txBody>
                  <a:tcPr marL="95250" marR="95250" marT="95250" marB="95250" anchor="ctr">
                    <a:lnL w="12700">
                      <a:noFill/>
                    </a:lnL>
                    <a:lnR w="12700">
                      <a:noFill/>
                    </a:lnR>
                    <a:lnT w="12700">
                      <a:noFill/>
                    </a:lnT>
                    <a:lnB w="12700">
                      <a:noFill/>
                    </a:lnB>
                    <a:lnTlToBr w="12700">
                      <a:noFill/>
                    </a:lnTlToBr>
                    <a:lnBlToTr w="12700">
                      <a:noFill/>
                    </a:lnBlToTr>
                    <a:solidFill>
                      <a:srgbClr val="E8EDE5"/>
                    </a:solidFill>
                  </a:tcPr>
                </a:tc>
                <a:tc>
                  <a:txBody>
                    <a:bodyPr/>
                    <a:lstStyle/>
                    <a:p>
                      <a:pPr algn="ctr"/>
                      <a:r>
                        <a:rPr sz="2400" b="0">
                          <a:solidFill>
                            <a:srgbClr val="1E302F"/>
                          </a:solidFill>
                          <a:latin typeface="Segoe UI"/>
                          <a:ea typeface="Segoe UI"/>
                          <a:cs typeface="Segoe UI"/>
                        </a:rPr>
                        <a:t>48</a:t>
                      </a:r>
                    </a:p>
                  </a:txBody>
                  <a:tcPr marL="95250" marR="95250" marT="95250" marB="95250" anchor="ctr">
                    <a:lnL w="12700">
                      <a:noFill/>
                    </a:lnL>
                    <a:lnR w="12700">
                      <a:noFill/>
                    </a:lnR>
                    <a:lnT w="12700">
                      <a:noFill/>
                    </a:lnT>
                    <a:lnB w="12700">
                      <a:noFill/>
                    </a:lnB>
                    <a:lnTlToBr w="12700">
                      <a:noFill/>
                    </a:lnTlToBr>
                    <a:lnBlToTr w="12700">
                      <a:noFill/>
                    </a:lnBlToTr>
                    <a:solidFill>
                      <a:srgbClr val="E8EDE5"/>
                    </a:solidFill>
                  </a:tcPr>
                </a:tc>
                <a:extLst>
                  <a:ext uri="{0D108BD9-81ED-4DB2-BD59-A6C34878D82A}">
                    <a16:rowId xmlns:a16="http://schemas.microsoft.com/office/drawing/2014/main" val="10001"/>
                  </a:ext>
                </a:extLst>
              </a:tr>
              <a:tr h="733425">
                <a:tc>
                  <a:txBody>
                    <a:bodyPr/>
                    <a:lstStyle/>
                    <a:p>
                      <a:pPr algn="l"/>
                      <a:r>
                        <a:rPr sz="2400" b="0">
                          <a:solidFill>
                            <a:srgbClr val="1E302F"/>
                          </a:solidFill>
                          <a:latin typeface="Segoe UI"/>
                          <a:ea typeface="Segoe UI"/>
                          <a:cs typeface="Segoe UI"/>
                        </a:rPr>
                        <a:t>distilled</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tc>
                  <a:txBody>
                    <a:bodyPr/>
                    <a:lstStyle/>
                    <a:p>
                      <a:pPr algn="ctr"/>
                      <a:r>
                        <a:rPr sz="2400" b="0">
                          <a:solidFill>
                            <a:srgbClr val="1E302F"/>
                          </a:solidFill>
                          <a:latin typeface="Segoe UI"/>
                          <a:ea typeface="Segoe UI"/>
                          <a:cs typeface="Segoe UI"/>
                        </a:rPr>
                        <a:t>72</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tc>
                  <a:txBody>
                    <a:bodyPr/>
                    <a:lstStyle/>
                    <a:p>
                      <a:pPr algn="ctr"/>
                      <a:r>
                        <a:rPr sz="2400" b="0">
                          <a:solidFill>
                            <a:srgbClr val="1E302F"/>
                          </a:solidFill>
                          <a:latin typeface="Segoe UI"/>
                          <a:ea typeface="Segoe UI"/>
                          <a:cs typeface="Segoe UI"/>
                        </a:rPr>
                        <a:t>0.902</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tc>
                  <a:txBody>
                    <a:bodyPr/>
                    <a:lstStyle/>
                    <a:p>
                      <a:pPr algn="ctr"/>
                      <a:r>
                        <a:rPr sz="2400" b="0">
                          <a:solidFill>
                            <a:srgbClr val="1E302F"/>
                          </a:solidFill>
                          <a:latin typeface="Segoe UI"/>
                          <a:ea typeface="Segoe UI"/>
                          <a:cs typeface="Segoe UI"/>
                        </a:rPr>
                        <a:t>18</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extLst>
                  <a:ext uri="{0D108BD9-81ED-4DB2-BD59-A6C34878D82A}">
                    <a16:rowId xmlns:a16="http://schemas.microsoft.com/office/drawing/2014/main" val="10002"/>
                  </a:ext>
                </a:extLst>
              </a:tr>
              <a:tr h="733425">
                <a:tc>
                  <a:txBody>
                    <a:bodyPr/>
                    <a:lstStyle/>
                    <a:p>
                      <a:pPr algn="l"/>
                      <a:r>
                        <a:rPr sz="2400" b="0">
                          <a:solidFill>
                            <a:srgbClr val="1E302F"/>
                          </a:solidFill>
                          <a:latin typeface="Segoe UI"/>
                          <a:ea typeface="Segoe UI"/>
                          <a:cs typeface="Segoe UI"/>
                        </a:rPr>
                        <a:t>int8</a:t>
                      </a:r>
                    </a:p>
                  </a:txBody>
                  <a:tcPr marL="95250" marR="95250" marT="95250" marB="95250" anchor="ctr">
                    <a:lnL w="12700">
                      <a:noFill/>
                    </a:lnL>
                    <a:lnR w="12700">
                      <a:noFill/>
                    </a:lnR>
                    <a:lnT w="12700">
                      <a:noFill/>
                    </a:lnT>
                    <a:lnB w="12700">
                      <a:noFill/>
                    </a:lnB>
                    <a:lnTlToBr w="12700">
                      <a:noFill/>
                    </a:lnTlToBr>
                    <a:lnBlToTr w="12700">
                      <a:noFill/>
                    </a:lnBlToTr>
                    <a:solidFill>
                      <a:srgbClr val="E8EDE5"/>
                    </a:solidFill>
                  </a:tcPr>
                </a:tc>
                <a:tc>
                  <a:txBody>
                    <a:bodyPr/>
                    <a:lstStyle/>
                    <a:p>
                      <a:pPr algn="ctr"/>
                      <a:r>
                        <a:rPr sz="2400" b="0">
                          <a:solidFill>
                            <a:srgbClr val="1E302F"/>
                          </a:solidFill>
                          <a:latin typeface="Segoe UI"/>
                          <a:ea typeface="Segoe UI"/>
                          <a:cs typeface="Segoe UI"/>
                        </a:rPr>
                        <a:t>54</a:t>
                      </a:r>
                    </a:p>
                  </a:txBody>
                  <a:tcPr marL="95250" marR="95250" marT="95250" marB="95250" anchor="ctr">
                    <a:lnL w="12700">
                      <a:noFill/>
                    </a:lnL>
                    <a:lnR w="12700">
                      <a:noFill/>
                    </a:lnR>
                    <a:lnT w="12700">
                      <a:noFill/>
                    </a:lnT>
                    <a:lnB w="12700">
                      <a:noFill/>
                    </a:lnB>
                    <a:lnTlToBr w="12700">
                      <a:noFill/>
                    </a:lnTlToBr>
                    <a:lnBlToTr w="12700">
                      <a:noFill/>
                    </a:lnBlToTr>
                    <a:solidFill>
                      <a:srgbClr val="E8EDE5"/>
                    </a:solidFill>
                  </a:tcPr>
                </a:tc>
                <a:tc>
                  <a:txBody>
                    <a:bodyPr/>
                    <a:lstStyle/>
                    <a:p>
                      <a:pPr algn="ctr"/>
                      <a:r>
                        <a:rPr sz="2400" b="0">
                          <a:solidFill>
                            <a:srgbClr val="1E302F"/>
                          </a:solidFill>
                          <a:latin typeface="Segoe UI"/>
                          <a:ea typeface="Segoe UI"/>
                          <a:cs typeface="Segoe UI"/>
                        </a:rPr>
                        <a:t>0.896</a:t>
                      </a:r>
                    </a:p>
                  </a:txBody>
                  <a:tcPr marL="95250" marR="95250" marT="95250" marB="95250" anchor="ctr">
                    <a:lnL w="12700">
                      <a:noFill/>
                    </a:lnL>
                    <a:lnR w="12700">
                      <a:noFill/>
                    </a:lnR>
                    <a:lnT w="12700">
                      <a:noFill/>
                    </a:lnT>
                    <a:lnB w="12700">
                      <a:noFill/>
                    </a:lnB>
                    <a:lnTlToBr w="12700">
                      <a:noFill/>
                    </a:lnTlToBr>
                    <a:lnBlToTr w="12700">
                      <a:noFill/>
                    </a:lnBlToTr>
                    <a:solidFill>
                      <a:srgbClr val="E8EDE5"/>
                    </a:solidFill>
                  </a:tcPr>
                </a:tc>
                <a:tc>
                  <a:txBody>
                    <a:bodyPr/>
                    <a:lstStyle/>
                    <a:p>
                      <a:pPr algn="ctr"/>
                      <a:r>
                        <a:rPr sz="2400" b="0">
                          <a:solidFill>
                            <a:srgbClr val="1E302F"/>
                          </a:solidFill>
                          <a:latin typeface="Segoe UI"/>
                          <a:ea typeface="Segoe UI"/>
                          <a:cs typeface="Segoe UI"/>
                        </a:rPr>
                        <a:t>12</a:t>
                      </a:r>
                    </a:p>
                  </a:txBody>
                  <a:tcPr marL="95250" marR="95250" marT="95250" marB="95250" anchor="ctr">
                    <a:lnL w="12700">
                      <a:noFill/>
                    </a:lnL>
                    <a:lnR w="12700">
                      <a:noFill/>
                    </a:lnR>
                    <a:lnT w="12700">
                      <a:noFill/>
                    </a:lnT>
                    <a:lnB w="12700">
                      <a:noFill/>
                    </a:lnB>
                    <a:lnTlToBr w="12700">
                      <a:noFill/>
                    </a:lnTlToBr>
                    <a:lnBlToTr w="12700">
                      <a:noFill/>
                    </a:lnBlToTr>
                    <a:solidFill>
                      <a:srgbClr val="E8EDE5"/>
                    </a:solidFill>
                  </a:tcPr>
                </a:tc>
                <a:extLst>
                  <a:ext uri="{0D108BD9-81ED-4DB2-BD59-A6C34878D82A}">
                    <a16:rowId xmlns:a16="http://schemas.microsoft.com/office/drawing/2014/main" val="10003"/>
                  </a:ext>
                </a:extLst>
              </a:tr>
            </a:tbl>
          </a:graphicData>
        </a:graphic>
      </p:graphicFrame>
      <p:sp>
        <p:nvSpPr>
          <p:cNvPr id="6" name="S03-limit">
            <a:extLst>
              <a:ext uri="{FF2B5EF4-FFF2-40B4-BE49-F238E27FC236}">
                <a16:creationId xmlns:a16="http://schemas.microsoft.com/office/drawing/2014/main" id="{54765F4F-A0A9-4517-B1B8-EC35DADE98E3}"/>
              </a:ext>
            </a:extLst>
          </p:cNvPr>
          <p:cNvSpPr>
            <a:spLocks noGrp="1"/>
          </p:cNvSpPr>
          <p:nvPr/>
        </p:nvSpPr>
        <p:spPr>
          <a:xfrm>
            <a:off x="685800" y="5619750"/>
            <a:ext cx="10820400" cy="400050"/>
          </a:xfrm>
          <a:prstGeom prst="rect">
            <a:avLst/>
          </a:prstGeom>
          <a:noFill/>
          <a:ln w="0">
            <a:noFill/>
          </a:ln>
        </p:spPr>
        <p:txBody>
          <a:bodyPr wrap="none" lIns="0" tIns="0" rIns="0" bIns="0" anchor="ctr">
            <a:noAutofit/>
          </a:bodyPr>
          <a:lstStyle/>
          <a:p>
            <a:pPr>
              <a:defRPr sz="1575" b="0">
                <a:solidFill>
                  <a:srgbClr val="586C68"/>
                </a:solidFill>
                <a:latin typeface="Segoe UI"/>
                <a:ea typeface="Segoe UI"/>
                <a:cs typeface="Segoe UI"/>
              </a:defRPr>
            </a:pPr>
            <a:r>
              <a:rPr sz="1575" b="0">
                <a:solidFill>
                  <a:srgbClr val="586C68"/>
                </a:solidFill>
                <a:latin typeface="Segoe UI"/>
                <a:ea typeface="Segoe UI"/>
                <a:cs typeface="Segoe UI"/>
              </a:rPr>
              <a:t>Illustrative comparison on assumed matching device and data; variability is not evaluated.</a:t>
            </a:r>
          </a:p>
        </p:txBody>
      </p:sp>
    </p:spTree>
    <p:extLst>
      <p:ext uri="{BB962C8B-B14F-4D97-AF65-F5344CB8AC3E}">
        <p14:creationId xmlns:p14="http://schemas.microsoft.com/office/powerpoint/2010/main" val="966320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7" name="S04-title">
            <a:extLst>
              <a:ext uri="{FF2B5EF4-FFF2-40B4-BE49-F238E27FC236}">
                <a16:creationId xmlns:a16="http://schemas.microsoft.com/office/drawing/2014/main" id="{724713AD-E8AF-42B6-87A4-A152929A65B7}"/>
              </a:ext>
            </a:extLst>
          </p:cNvPr>
          <p:cNvSpPr>
            <a:spLocks noGrp="1"/>
          </p:cNvSpPr>
          <p:nvPr/>
        </p:nvSpPr>
        <p:spPr>
          <a:xfrm>
            <a:off x="685800" y="895350"/>
            <a:ext cx="10820400" cy="666750"/>
          </a:xfrm>
          <a:prstGeom prst="rect">
            <a:avLst/>
          </a:prstGeom>
          <a:noFill/>
          <a:ln w="0">
            <a:noFill/>
          </a:ln>
        </p:spPr>
        <p:txBody>
          <a:bodyPr wrap="none" lIns="0" tIns="0" rIns="0" bIns="0" anchor="ctr">
            <a:noAutofit/>
          </a:bodyPr>
          <a:lstStyle/>
          <a:p>
            <a:pPr>
              <a:defRPr sz="3225" b="0">
                <a:solidFill>
                  <a:srgbClr val="1E302F"/>
                </a:solidFill>
                <a:latin typeface="Segoe UI"/>
                <a:ea typeface="Segoe UI"/>
                <a:cs typeface="Segoe UI"/>
              </a:defRPr>
            </a:pPr>
            <a:r>
              <a:rPr sz="3225" b="0">
                <a:solidFill>
                  <a:srgbClr val="1E302F"/>
                </a:solidFill>
                <a:latin typeface="Segoe UI"/>
                <a:ea typeface="Segoe UI"/>
                <a:cs typeface="Segoe UI"/>
              </a:rPr>
              <a:t>Lower latency, lower F1</a:t>
            </a:r>
          </a:p>
        </p:txBody>
      </p:sp>
      <p:sp>
        <p:nvSpPr>
          <p:cNvPr id="2" name="S04-disclosure">
            <a:extLst>
              <a:ext uri="{FF2B5EF4-FFF2-40B4-BE49-F238E27FC236}">
                <a16:creationId xmlns:a16="http://schemas.microsoft.com/office/drawing/2014/main" id="{29602194-F4A2-4C9B-9097-6D5CD46C7C8C}"/>
              </a:ext>
            </a:extLst>
          </p:cNvPr>
          <p:cNvSpPr>
            <a:spLocks noGrp="1"/>
          </p:cNvSpPr>
          <p:nvPr/>
        </p:nvSpPr>
        <p:spPr>
          <a:xfrm>
            <a:off x="685800" y="6372225"/>
            <a:ext cx="9525000" cy="219075"/>
          </a:xfrm>
          <a:prstGeom prst="rect">
            <a:avLst/>
          </a:prstGeom>
          <a:noFill/>
          <a:ln w="0">
            <a:noFill/>
          </a:ln>
        </p:spPr>
        <p:txBody>
          <a:bodyPr wrap="none" lIns="0" tIns="0" rIns="0" bIns="0" anchor="ctr">
            <a:noAutofit/>
          </a:bodyPr>
          <a:lstStyle/>
          <a:p>
            <a:pPr>
              <a:defRPr sz="1275" b="0">
                <a:solidFill>
                  <a:srgbClr val="586C68"/>
                </a:solidFill>
                <a:latin typeface="Segoe UI"/>
                <a:ea typeface="Segoe UI"/>
                <a:cs typeface="Segoe UI"/>
              </a:defRPr>
            </a:pPr>
            <a:r>
              <a:rPr sz="1275" b="0">
                <a:solidFill>
                  <a:srgbClr val="586C68"/>
                </a:solidFill>
                <a:latin typeface="Segoe UI"/>
                <a:ea typeface="Segoe UI"/>
                <a:cs typeface="Segoe UI"/>
              </a:rPr>
              <a:t>Illustrative data</a:t>
            </a:r>
          </a:p>
        </p:txBody>
      </p:sp>
      <p:sp>
        <p:nvSpPr>
          <p:cNvPr id="3" name="S04-number">
            <a:extLst>
              <a:ext uri="{FF2B5EF4-FFF2-40B4-BE49-F238E27FC236}">
                <a16:creationId xmlns:a16="http://schemas.microsoft.com/office/drawing/2014/main" id="{54446B09-89A2-4DC2-99B4-C89A9F025FBF}"/>
              </a:ext>
            </a:extLst>
          </p:cNvPr>
          <p:cNvSpPr>
            <a:spLocks noGrp="1"/>
          </p:cNvSpPr>
          <p:nvPr/>
        </p:nvSpPr>
        <p:spPr>
          <a:xfrm>
            <a:off x="11144250" y="6372225"/>
            <a:ext cx="361950" cy="219075"/>
          </a:xfrm>
          <a:prstGeom prst="rect">
            <a:avLst/>
          </a:prstGeom>
          <a:noFill/>
          <a:ln w="0">
            <a:noFill/>
          </a:ln>
        </p:spPr>
        <p:txBody>
          <a:bodyPr wrap="none" lIns="0" tIns="0" rIns="0" bIns="0" anchor="ctr">
            <a:noAutofit/>
          </a:bodyPr>
          <a:lstStyle/>
          <a:p>
            <a:pPr>
              <a:defRPr sz="1275" b="0">
                <a:solidFill>
                  <a:srgbClr val="586C68"/>
                </a:solidFill>
                <a:latin typeface="Segoe UI"/>
                <a:ea typeface="Segoe UI"/>
                <a:cs typeface="Segoe UI"/>
              </a:defRPr>
            </a:pPr>
            <a:r>
              <a:rPr sz="1275" b="0">
                <a:solidFill>
                  <a:srgbClr val="586C68"/>
                </a:solidFill>
                <a:latin typeface="Segoe UI"/>
                <a:ea typeface="Segoe UI"/>
                <a:cs typeface="Segoe UI"/>
              </a:rPr>
              <a:t>04</a:t>
            </a:r>
          </a:p>
        </p:txBody>
      </p:sp>
      <p:sp>
        <p:nvSpPr>
          <p:cNvPr id="4" name="S04-interpretation-field">
            <a:extLst>
              <a:ext uri="{FF2B5EF4-FFF2-40B4-BE49-F238E27FC236}">
                <a16:creationId xmlns:a16="http://schemas.microsoft.com/office/drawing/2014/main" id="{CBE6E3D1-0467-4903-955B-ED89D99EF9C9}"/>
              </a:ext>
            </a:extLst>
          </p:cNvPr>
          <p:cNvSpPr>
            <a:spLocks noGrp="1"/>
          </p:cNvSpPr>
          <p:nvPr/>
        </p:nvSpPr>
        <p:spPr>
          <a:xfrm>
            <a:off x="8143875" y="1666875"/>
            <a:ext cx="3590925" cy="4191000"/>
          </a:xfrm>
          <a:prstGeom prst="rect">
            <a:avLst/>
          </a:prstGeom>
          <a:solidFill>
            <a:srgbClr val="1E302F"/>
          </a:solidFill>
          <a:ln w="0">
            <a:noFill/>
          </a:ln>
        </p:spPr>
      </p:sp>
      <p:sp>
        <p:nvSpPr>
          <p:cNvPr id="5" name="S04-chart-unit">
            <a:extLst>
              <a:ext uri="{FF2B5EF4-FFF2-40B4-BE49-F238E27FC236}">
                <a16:creationId xmlns:a16="http://schemas.microsoft.com/office/drawing/2014/main" id="{C9F2FFE2-1CE9-48EA-810B-5DBDA236213B}"/>
              </a:ext>
            </a:extLst>
          </p:cNvPr>
          <p:cNvSpPr>
            <a:spLocks noGrp="1"/>
          </p:cNvSpPr>
          <p:nvPr/>
        </p:nvSpPr>
        <p:spPr>
          <a:xfrm>
            <a:off x="685800" y="1647825"/>
            <a:ext cx="6762750" cy="361950"/>
          </a:xfrm>
          <a:prstGeom prst="rect">
            <a:avLst/>
          </a:prstGeom>
          <a:noFill/>
          <a:ln w="0">
            <a:noFill/>
          </a:ln>
        </p:spPr>
        <p:txBody>
          <a:bodyPr wrap="none" lIns="0" tIns="0" rIns="0" bIns="0" anchor="ctr">
            <a:noAutofit/>
          </a:bodyPr>
          <a:lstStyle/>
          <a:p>
            <a:pPr>
              <a:defRPr sz="1800" b="0">
                <a:solidFill>
                  <a:srgbClr val="586C68"/>
                </a:solidFill>
                <a:latin typeface="Segoe UI"/>
                <a:ea typeface="Segoe UI"/>
                <a:cs typeface="Segoe UI"/>
              </a:defRPr>
            </a:pPr>
            <a:r>
              <a:rPr sz="1800" b="0">
                <a:solidFill>
                  <a:srgbClr val="586C68"/>
                </a:solidFill>
                <a:latin typeface="Segoe UI"/>
                <a:ea typeface="Segoe UI"/>
                <a:cs typeface="Segoe UI"/>
              </a:rPr>
              <a:t>F1 · higher is better</a:t>
            </a:r>
          </a:p>
        </p:txBody>
      </p:sp>
      <p:graphicFrame>
        <p:nvGraphicFramePr>
          <p:cNvPr id="22" name="Chart"/>
          <p:cNvGraphicFramePr/>
          <p:nvPr/>
        </p:nvGraphicFramePr>
        <p:xfrm>
          <a:off x="619125" y="2114550"/>
          <a:ext cx="7000875" cy="2857500"/>
        </p:xfrm>
        <a:graphic>
          <a:graphicData uri="http://schemas.openxmlformats.org/drawingml/2006/chart">
            <c:chart xmlns:c="http://schemas.openxmlformats.org/drawingml/2006/chart" xmlns:r="http://schemas.openxmlformats.org/officeDocument/2006/relationships" r:id="rId3"/>
          </a:graphicData>
        </a:graphic>
      </p:graphicFrame>
      <p:sp>
        <p:nvSpPr>
          <p:cNvPr id="7" name="S04-x-unit">
            <a:extLst>
              <a:ext uri="{FF2B5EF4-FFF2-40B4-BE49-F238E27FC236}">
                <a16:creationId xmlns:a16="http://schemas.microsoft.com/office/drawing/2014/main" id="{615521AD-72B3-46A0-A99E-4554648CF5BA}"/>
              </a:ext>
            </a:extLst>
          </p:cNvPr>
          <p:cNvSpPr>
            <a:spLocks noGrp="1"/>
          </p:cNvSpPr>
          <p:nvPr/>
        </p:nvSpPr>
        <p:spPr>
          <a:xfrm>
            <a:off x="1428750" y="4943475"/>
            <a:ext cx="6191250" cy="333375"/>
          </a:xfrm>
          <a:prstGeom prst="rect">
            <a:avLst/>
          </a:prstGeom>
          <a:noFill/>
          <a:ln w="0">
            <a:noFill/>
          </a:ln>
        </p:spPr>
        <p:txBody>
          <a:bodyPr wrap="none" lIns="0" tIns="0" rIns="0" bIns="0" anchor="ctr">
            <a:noAutofit/>
          </a:bodyPr>
          <a:lstStyle/>
          <a:p>
            <a:pPr>
              <a:defRPr sz="1725" b="0">
                <a:solidFill>
                  <a:srgbClr val="586C68"/>
                </a:solidFill>
                <a:latin typeface="Segoe UI"/>
                <a:ea typeface="Segoe UI"/>
                <a:cs typeface="Segoe UI"/>
              </a:defRPr>
            </a:pPr>
            <a:r>
              <a:rPr sz="1725" b="0">
                <a:solidFill>
                  <a:srgbClr val="586C68"/>
                </a:solidFill>
                <a:latin typeface="Segoe UI"/>
                <a:ea typeface="Segoe UI"/>
                <a:cs typeface="Segoe UI"/>
              </a:rPr>
              <a:t>Latency (ms) · lower is better</a:t>
            </a:r>
          </a:p>
        </p:txBody>
      </p:sp>
      <p:sp>
        <p:nvSpPr>
          <p:cNvPr id="8" name="S04-basis">
            <a:extLst>
              <a:ext uri="{FF2B5EF4-FFF2-40B4-BE49-F238E27FC236}">
                <a16:creationId xmlns:a16="http://schemas.microsoft.com/office/drawing/2014/main" id="{B251EC37-233C-4C3D-B44D-96BE1E3E87D8}"/>
              </a:ext>
            </a:extLst>
          </p:cNvPr>
          <p:cNvSpPr>
            <a:spLocks noGrp="1"/>
          </p:cNvSpPr>
          <p:nvPr/>
        </p:nvSpPr>
        <p:spPr>
          <a:xfrm>
            <a:off x="8439150" y="1866900"/>
            <a:ext cx="2857500" cy="333375"/>
          </a:xfrm>
          <a:prstGeom prst="rect">
            <a:avLst/>
          </a:prstGeom>
          <a:noFill/>
          <a:ln w="0">
            <a:noFill/>
          </a:ln>
        </p:spPr>
        <p:txBody>
          <a:bodyPr wrap="none" lIns="0" tIns="0" rIns="0" bIns="0" anchor="ctr">
            <a:noAutofit/>
          </a:bodyPr>
          <a:lstStyle/>
          <a:p>
            <a:pPr>
              <a:defRPr sz="1800" b="0">
                <a:solidFill>
                  <a:srgbClr val="B9DDD0"/>
                </a:solidFill>
                <a:latin typeface="Segoe UI"/>
                <a:ea typeface="Segoe UI"/>
                <a:cs typeface="Segoe UI"/>
              </a:defRPr>
            </a:pPr>
            <a:r>
              <a:rPr sz="1800" b="0">
                <a:solidFill>
                  <a:srgbClr val="B9DDD0"/>
                </a:solidFill>
                <a:latin typeface="Segoe UI"/>
                <a:ea typeface="Segoe UI"/>
                <a:cs typeface="Segoe UI"/>
              </a:rPr>
              <a:t>Baseline to INT8</a:t>
            </a:r>
          </a:p>
        </p:txBody>
      </p:sp>
      <p:sp>
        <p:nvSpPr>
          <p:cNvPr id="9" name="S04-latency">
            <a:extLst>
              <a:ext uri="{FF2B5EF4-FFF2-40B4-BE49-F238E27FC236}">
                <a16:creationId xmlns:a16="http://schemas.microsoft.com/office/drawing/2014/main" id="{7609D483-5383-41CA-8E27-7CE72A83643A}"/>
              </a:ext>
            </a:extLst>
          </p:cNvPr>
          <p:cNvSpPr>
            <a:spLocks noGrp="1"/>
          </p:cNvSpPr>
          <p:nvPr/>
        </p:nvSpPr>
        <p:spPr>
          <a:xfrm>
            <a:off x="8439150" y="2466975"/>
            <a:ext cx="2857500" cy="628650"/>
          </a:xfrm>
          <a:prstGeom prst="rect">
            <a:avLst/>
          </a:prstGeom>
          <a:noFill/>
          <a:ln w="0">
            <a:noFill/>
          </a:ln>
        </p:spPr>
        <p:txBody>
          <a:bodyPr wrap="none" lIns="0" tIns="0" rIns="0" bIns="0" anchor="ctr">
            <a:noAutofit/>
          </a:bodyPr>
          <a:lstStyle/>
          <a:p>
            <a:pPr>
              <a:defRPr sz="3450" b="0">
                <a:solidFill>
                  <a:srgbClr val="FFFFFF"/>
                </a:solidFill>
                <a:latin typeface="Segoe UI"/>
                <a:ea typeface="Segoe UI"/>
                <a:cs typeface="Segoe UI"/>
              </a:defRPr>
            </a:pPr>
            <a:r>
              <a:rPr sz="3450" b="0">
                <a:solidFill>
                  <a:srgbClr val="FFFFFF"/>
                </a:solidFill>
                <a:latin typeface="Segoe UI"/>
                <a:ea typeface="Segoe UI"/>
                <a:cs typeface="Segoe UI"/>
              </a:rPr>
              <a:t>−55%</a:t>
            </a:r>
          </a:p>
        </p:txBody>
      </p:sp>
      <p:sp>
        <p:nvSpPr>
          <p:cNvPr id="10" name="S04-latency-label">
            <a:extLst>
              <a:ext uri="{FF2B5EF4-FFF2-40B4-BE49-F238E27FC236}">
                <a16:creationId xmlns:a16="http://schemas.microsoft.com/office/drawing/2014/main" id="{073B1A53-07A2-4901-A88A-D3E0BBEDC10E}"/>
              </a:ext>
            </a:extLst>
          </p:cNvPr>
          <p:cNvSpPr>
            <a:spLocks noGrp="1"/>
          </p:cNvSpPr>
          <p:nvPr/>
        </p:nvSpPr>
        <p:spPr>
          <a:xfrm>
            <a:off x="8439150" y="3095625"/>
            <a:ext cx="2857500" cy="361950"/>
          </a:xfrm>
          <a:prstGeom prst="rect">
            <a:avLst/>
          </a:prstGeom>
          <a:noFill/>
          <a:ln w="0">
            <a:noFill/>
          </a:ln>
        </p:spPr>
        <p:txBody>
          <a:bodyPr wrap="none" lIns="0" tIns="0" rIns="0" bIns="0" anchor="ctr">
            <a:noAutofit/>
          </a:bodyPr>
          <a:lstStyle/>
          <a:p>
            <a:pPr>
              <a:defRPr sz="1650" b="0">
                <a:solidFill>
                  <a:srgbClr val="D7E6DF"/>
                </a:solidFill>
                <a:latin typeface="Segoe UI"/>
                <a:ea typeface="Segoe UI"/>
                <a:cs typeface="Segoe UI"/>
              </a:defRPr>
            </a:pPr>
            <a:r>
              <a:rPr sz="1650" b="0">
                <a:solidFill>
                  <a:srgbClr val="D7E6DF"/>
                </a:solidFill>
                <a:latin typeface="Segoe UI"/>
                <a:ea typeface="Segoe UI"/>
                <a:cs typeface="Segoe UI"/>
              </a:rPr>
              <a:t>Latency · 120 → 54 ms</a:t>
            </a:r>
          </a:p>
        </p:txBody>
      </p:sp>
      <p:sp>
        <p:nvSpPr>
          <p:cNvPr id="11" name="S04-f1">
            <a:extLst>
              <a:ext uri="{FF2B5EF4-FFF2-40B4-BE49-F238E27FC236}">
                <a16:creationId xmlns:a16="http://schemas.microsoft.com/office/drawing/2014/main" id="{C84066E6-68CB-482B-BC75-5A6950B5CADD}"/>
              </a:ext>
            </a:extLst>
          </p:cNvPr>
          <p:cNvSpPr>
            <a:spLocks noGrp="1"/>
          </p:cNvSpPr>
          <p:nvPr/>
        </p:nvSpPr>
        <p:spPr>
          <a:xfrm>
            <a:off x="8439150" y="3819525"/>
            <a:ext cx="2857500" cy="628650"/>
          </a:xfrm>
          <a:prstGeom prst="rect">
            <a:avLst/>
          </a:prstGeom>
          <a:noFill/>
          <a:ln w="0">
            <a:noFill/>
          </a:ln>
        </p:spPr>
        <p:txBody>
          <a:bodyPr wrap="none" lIns="0" tIns="0" rIns="0" bIns="0" anchor="ctr">
            <a:noAutofit/>
          </a:bodyPr>
          <a:lstStyle/>
          <a:p>
            <a:pPr>
              <a:defRPr sz="3450" b="0">
                <a:solidFill>
                  <a:srgbClr val="FFFFFF"/>
                </a:solidFill>
                <a:latin typeface="Segoe UI"/>
                <a:ea typeface="Segoe UI"/>
                <a:cs typeface="Segoe UI"/>
              </a:defRPr>
            </a:pPr>
            <a:r>
              <a:rPr sz="3450" b="0">
                <a:solidFill>
                  <a:srgbClr val="FFFFFF"/>
                </a:solidFill>
                <a:latin typeface="Segoe UI"/>
                <a:ea typeface="Segoe UI"/>
                <a:cs typeface="Segoe UI"/>
              </a:rPr>
              <a:t>−0.014</a:t>
            </a:r>
          </a:p>
        </p:txBody>
      </p:sp>
      <p:sp>
        <p:nvSpPr>
          <p:cNvPr id="12" name="S04-f1-label">
            <a:extLst>
              <a:ext uri="{FF2B5EF4-FFF2-40B4-BE49-F238E27FC236}">
                <a16:creationId xmlns:a16="http://schemas.microsoft.com/office/drawing/2014/main" id="{D5F58F03-2F17-4A82-B9D3-A486F40F5AEA}"/>
              </a:ext>
            </a:extLst>
          </p:cNvPr>
          <p:cNvSpPr>
            <a:spLocks noGrp="1"/>
          </p:cNvSpPr>
          <p:nvPr/>
        </p:nvSpPr>
        <p:spPr>
          <a:xfrm>
            <a:off x="8439150" y="4448175"/>
            <a:ext cx="2857500" cy="361950"/>
          </a:xfrm>
          <a:prstGeom prst="rect">
            <a:avLst/>
          </a:prstGeom>
          <a:noFill/>
          <a:ln w="0">
            <a:noFill/>
          </a:ln>
        </p:spPr>
        <p:txBody>
          <a:bodyPr wrap="none" lIns="0" tIns="0" rIns="0" bIns="0" anchor="ctr">
            <a:noAutofit/>
          </a:bodyPr>
          <a:lstStyle/>
          <a:p>
            <a:pPr>
              <a:defRPr sz="1650" b="0">
                <a:solidFill>
                  <a:srgbClr val="D7E6DF"/>
                </a:solidFill>
                <a:latin typeface="Segoe UI"/>
                <a:ea typeface="Segoe UI"/>
                <a:cs typeface="Segoe UI"/>
              </a:defRPr>
            </a:pPr>
            <a:r>
              <a:rPr sz="1650" b="0">
                <a:solidFill>
                  <a:srgbClr val="D7E6DF"/>
                </a:solidFill>
                <a:latin typeface="Segoe UI"/>
                <a:ea typeface="Segoe UI"/>
                <a:cs typeface="Segoe UI"/>
              </a:rPr>
              <a:t>F1 · absolute difference</a:t>
            </a:r>
          </a:p>
        </p:txBody>
      </p:sp>
      <p:sp>
        <p:nvSpPr>
          <p:cNvPr id="13" name="S04-size-values">
            <a:extLst>
              <a:ext uri="{FF2B5EF4-FFF2-40B4-BE49-F238E27FC236}">
                <a16:creationId xmlns:a16="http://schemas.microsoft.com/office/drawing/2014/main" id="{81A9AF14-2B79-46B0-AF7C-FBF83BCE2BB5}"/>
              </a:ext>
            </a:extLst>
          </p:cNvPr>
          <p:cNvSpPr>
            <a:spLocks noGrp="1"/>
          </p:cNvSpPr>
          <p:nvPr/>
        </p:nvSpPr>
        <p:spPr>
          <a:xfrm>
            <a:off x="8439150" y="5210175"/>
            <a:ext cx="2857500" cy="400050"/>
          </a:xfrm>
          <a:prstGeom prst="rect">
            <a:avLst/>
          </a:prstGeom>
          <a:noFill/>
          <a:ln w="0">
            <a:noFill/>
          </a:ln>
        </p:spPr>
        <p:txBody>
          <a:bodyPr wrap="none" lIns="0" tIns="0" rIns="0" bIns="0" anchor="ctr">
            <a:noAutofit/>
          </a:bodyPr>
          <a:lstStyle/>
          <a:p>
            <a:pPr>
              <a:defRPr sz="1575" b="0">
                <a:solidFill>
                  <a:srgbClr val="D7E6DF"/>
                </a:solidFill>
                <a:latin typeface="Segoe UI"/>
                <a:ea typeface="Segoe UI"/>
                <a:cs typeface="Segoe UI"/>
              </a:defRPr>
            </a:pPr>
            <a:r>
              <a:rPr sz="1575" b="0">
                <a:solidFill>
                  <a:srgbClr val="D7E6DF"/>
                </a:solidFill>
                <a:latin typeface="Segoe UI"/>
                <a:ea typeface="Segoe UI"/>
                <a:cs typeface="Segoe UI"/>
              </a:rPr>
              <a:t>Size: 48 → 12 MB (−75%)</a:t>
            </a:r>
          </a:p>
        </p:txBody>
      </p:sp>
      <p:sp>
        <p:nvSpPr>
          <p:cNvPr id="14" name="S04-decomposition-rule">
            <a:extLst>
              <a:ext uri="{FF2B5EF4-FFF2-40B4-BE49-F238E27FC236}">
                <a16:creationId xmlns:a16="http://schemas.microsoft.com/office/drawing/2014/main" id="{03B2B565-099F-4CDC-86C9-E62A713C9284}"/>
              </a:ext>
            </a:extLst>
          </p:cNvPr>
          <p:cNvSpPr>
            <a:spLocks noGrp="1"/>
          </p:cNvSpPr>
          <p:nvPr/>
        </p:nvSpPr>
        <p:spPr>
          <a:xfrm>
            <a:off x="685800" y="5400675"/>
            <a:ext cx="6858000" cy="0"/>
          </a:xfrm>
          <a:prstGeom prst="line">
            <a:avLst/>
          </a:prstGeom>
          <a:ln w="9525">
            <a:solidFill>
              <a:srgbClr val="CFD8D1"/>
            </a:solidFill>
          </a:ln>
        </p:spPr>
      </p:sp>
      <p:sp>
        <p:nvSpPr>
          <p:cNvPr id="15" name="S04-stage1">
            <a:extLst>
              <a:ext uri="{FF2B5EF4-FFF2-40B4-BE49-F238E27FC236}">
                <a16:creationId xmlns:a16="http://schemas.microsoft.com/office/drawing/2014/main" id="{A8188A58-9481-423D-B95B-B1271AE30E9C}"/>
              </a:ext>
            </a:extLst>
          </p:cNvPr>
          <p:cNvSpPr>
            <a:spLocks noGrp="1"/>
          </p:cNvSpPr>
          <p:nvPr/>
        </p:nvSpPr>
        <p:spPr>
          <a:xfrm>
            <a:off x="685800" y="5505450"/>
            <a:ext cx="6858000" cy="304800"/>
          </a:xfrm>
          <a:prstGeom prst="rect">
            <a:avLst/>
          </a:prstGeom>
          <a:noFill/>
          <a:ln w="0">
            <a:noFill/>
          </a:ln>
        </p:spPr>
        <p:txBody>
          <a:bodyPr wrap="none" lIns="0" tIns="0" rIns="0" bIns="0" anchor="ctr">
            <a:noAutofit/>
          </a:bodyPr>
          <a:lstStyle/>
          <a:p>
            <a:pPr>
              <a:defRPr sz="1650" b="0">
                <a:solidFill>
                  <a:srgbClr val="586C68"/>
                </a:solidFill>
                <a:latin typeface="Segoe UI"/>
                <a:ea typeface="Segoe UI"/>
                <a:cs typeface="Segoe UI"/>
              </a:defRPr>
            </a:pPr>
            <a:r>
              <a:rPr sz="1650" b="0">
                <a:solidFill>
                  <a:srgbClr val="586C68"/>
                </a:solidFill>
                <a:latin typeface="Segoe UI"/>
                <a:ea typeface="Segoe UI"/>
                <a:cs typeface="Segoe UI"/>
              </a:rPr>
              <a:t>Distillation: latency −40%; F1 −0.008</a:t>
            </a:r>
          </a:p>
        </p:txBody>
      </p:sp>
      <p:sp>
        <p:nvSpPr>
          <p:cNvPr id="16" name="S04-stage2">
            <a:extLst>
              <a:ext uri="{FF2B5EF4-FFF2-40B4-BE49-F238E27FC236}">
                <a16:creationId xmlns:a16="http://schemas.microsoft.com/office/drawing/2014/main" id="{00FADBB8-1250-424A-82B7-5FD45AE87AE6}"/>
              </a:ext>
            </a:extLst>
          </p:cNvPr>
          <p:cNvSpPr>
            <a:spLocks noGrp="1"/>
          </p:cNvSpPr>
          <p:nvPr/>
        </p:nvSpPr>
        <p:spPr>
          <a:xfrm>
            <a:off x="685800" y="5857875"/>
            <a:ext cx="6858000" cy="304800"/>
          </a:xfrm>
          <a:prstGeom prst="rect">
            <a:avLst/>
          </a:prstGeom>
          <a:noFill/>
          <a:ln w="0">
            <a:noFill/>
          </a:ln>
        </p:spPr>
        <p:txBody>
          <a:bodyPr wrap="none" lIns="0" tIns="0" rIns="0" bIns="0" anchor="ctr">
            <a:noAutofit/>
          </a:bodyPr>
          <a:lstStyle/>
          <a:p>
            <a:pPr>
              <a:defRPr sz="1650" b="0">
                <a:solidFill>
                  <a:srgbClr val="586C68"/>
                </a:solidFill>
                <a:latin typeface="Segoe UI"/>
                <a:ea typeface="Segoe UI"/>
                <a:cs typeface="Segoe UI"/>
              </a:defRPr>
            </a:pPr>
            <a:r>
              <a:rPr sz="1650" b="0">
                <a:solidFill>
                  <a:srgbClr val="586C68"/>
                </a:solidFill>
                <a:latin typeface="Segoe UI"/>
                <a:ea typeface="Segoe UI"/>
                <a:cs typeface="Segoe UI"/>
              </a:rPr>
              <a:t>Additional INT8 step: latency −25%; F1 −0.006</a:t>
            </a:r>
          </a:p>
        </p:txBody>
      </p:sp>
    </p:spTree>
    <p:extLst>
      <p:ext uri="{BB962C8B-B14F-4D97-AF65-F5344CB8AC3E}">
        <p14:creationId xmlns:p14="http://schemas.microsoft.com/office/powerpoint/2010/main" val="1823795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4" name="S05-finding-field">
            <a:extLst>
              <a:ext uri="{FF2B5EF4-FFF2-40B4-BE49-F238E27FC236}">
                <a16:creationId xmlns:a16="http://schemas.microsoft.com/office/drawing/2014/main" id="{AD5ACFED-B677-48EB-8A8A-A67561A4322A}"/>
              </a:ext>
            </a:extLst>
          </p:cNvPr>
          <p:cNvSpPr>
            <a:spLocks noGrp="1"/>
          </p:cNvSpPr>
          <p:nvPr/>
        </p:nvSpPr>
        <p:spPr>
          <a:xfrm>
            <a:off x="0" y="0"/>
            <a:ext cx="5905500" cy="6858000"/>
          </a:xfrm>
          <a:prstGeom prst="rect">
            <a:avLst/>
          </a:prstGeom>
          <a:solidFill>
            <a:srgbClr val="1E302F"/>
          </a:solidFill>
          <a:ln w="0">
            <a:noFill/>
          </a:ln>
        </p:spPr>
      </p:sp>
      <p:sp>
        <p:nvSpPr>
          <p:cNvPr id="2" name="S05-main">
            <a:extLst>
              <a:ext uri="{FF2B5EF4-FFF2-40B4-BE49-F238E27FC236}">
                <a16:creationId xmlns:a16="http://schemas.microsoft.com/office/drawing/2014/main" id="{94E023DB-175F-490F-8CE9-1D426FBBBAA4}"/>
              </a:ext>
            </a:extLst>
          </p:cNvPr>
          <p:cNvSpPr>
            <a:spLocks noGrp="1"/>
          </p:cNvSpPr>
          <p:nvPr/>
        </p:nvSpPr>
        <p:spPr>
          <a:xfrm>
            <a:off x="609600" y="1428750"/>
            <a:ext cx="4781550" cy="1619250"/>
          </a:xfrm>
          <a:prstGeom prst="rect">
            <a:avLst/>
          </a:prstGeom>
          <a:noFill/>
          <a:ln w="0">
            <a:noFill/>
          </a:ln>
        </p:spPr>
        <p:txBody>
          <a:bodyPr wrap="none" lIns="0" tIns="0" rIns="0" bIns="0" anchor="ctr">
            <a:noAutofit/>
          </a:bodyPr>
          <a:lstStyle/>
          <a:p>
            <a:pPr>
              <a:defRPr sz="3675" b="0">
                <a:solidFill>
                  <a:srgbClr val="FFFFFF"/>
                </a:solidFill>
                <a:latin typeface="Segoe UI"/>
                <a:ea typeface="Segoe UI"/>
                <a:cs typeface="Segoe UI"/>
              </a:defRPr>
            </a:pPr>
            <a:r>
              <a:rPr sz="3675" b="0">
                <a:solidFill>
                  <a:srgbClr val="FFFFFF"/>
                </a:solidFill>
                <a:latin typeface="Segoe UI"/>
                <a:ea typeface="Segoe UI"/>
                <a:cs typeface="Segoe UI"/>
              </a:rPr>
              <a:t>Efficiency gains</a:t>
            </a:r>
          </a:p>
          <a:p>
            <a:pPr>
              <a:defRPr sz="3675" b="0">
                <a:solidFill>
                  <a:srgbClr val="FFFFFF"/>
                </a:solidFill>
                <a:latin typeface="Segoe UI"/>
                <a:ea typeface="Segoe UI"/>
                <a:cs typeface="Segoe UI"/>
              </a:defRPr>
            </a:pPr>
            <a:r>
              <a:rPr sz="3675" b="0">
                <a:solidFill>
                  <a:srgbClr val="FFFFFF"/>
                </a:solidFill>
                <a:latin typeface="Segoe UI"/>
                <a:ea typeface="Segoe UI"/>
                <a:cs typeface="Segoe UI"/>
              </a:rPr>
              <a:t>come with lower F1</a:t>
            </a:r>
          </a:p>
        </p:txBody>
      </p:sp>
      <p:sp>
        <p:nvSpPr>
          <p:cNvPr id="3" name="S05-interpretation">
            <a:extLst>
              <a:ext uri="{FF2B5EF4-FFF2-40B4-BE49-F238E27FC236}">
                <a16:creationId xmlns:a16="http://schemas.microsoft.com/office/drawing/2014/main" id="{E81C57F6-9189-4E48-AC92-77D9FA8940F9}"/>
              </a:ext>
            </a:extLst>
          </p:cNvPr>
          <p:cNvSpPr>
            <a:spLocks noGrp="1"/>
          </p:cNvSpPr>
          <p:nvPr/>
        </p:nvSpPr>
        <p:spPr>
          <a:xfrm>
            <a:off x="609600" y="3695700"/>
            <a:ext cx="4762500" cy="1104900"/>
          </a:xfrm>
          <a:prstGeom prst="rect">
            <a:avLst/>
          </a:prstGeom>
          <a:noFill/>
          <a:ln w="0">
            <a:noFill/>
          </a:ln>
        </p:spPr>
        <p:txBody>
          <a:bodyPr wrap="none" lIns="0" tIns="0" rIns="0" bIns="0" anchor="ctr">
            <a:noAutofit/>
          </a:bodyPr>
          <a:lstStyle/>
          <a:p>
            <a:pPr>
              <a:defRPr sz="2025" b="0">
                <a:solidFill>
                  <a:srgbClr val="B9DDD0"/>
                </a:solidFill>
                <a:latin typeface="Segoe UI"/>
                <a:ea typeface="Segoe UI"/>
                <a:cs typeface="Segoe UI"/>
              </a:defRPr>
            </a:pPr>
            <a:r>
              <a:rPr sz="2025" b="0">
                <a:solidFill>
                  <a:srgbClr val="B9DDD0"/>
                </a:solidFill>
                <a:latin typeface="Segoe UI"/>
                <a:ea typeface="Segoe UI"/>
                <a:cs typeface="Segoe UI"/>
              </a:rPr>
              <a:t>A deployment decision needs</a:t>
            </a:r>
          </a:p>
          <a:p>
            <a:pPr>
              <a:defRPr sz="2025" b="0">
                <a:solidFill>
                  <a:srgbClr val="B9DDD0"/>
                </a:solidFill>
                <a:latin typeface="Segoe UI"/>
                <a:ea typeface="Segoe UI"/>
                <a:cs typeface="Segoe UI"/>
              </a:defRPr>
            </a:pPr>
            <a:r>
              <a:rPr sz="2025" b="0">
                <a:solidFill>
                  <a:srgbClr val="B9DDD0"/>
                </a:solidFill>
                <a:latin typeface="Segoe UI"/>
                <a:ea typeface="Segoe UI"/>
                <a:cs typeface="Segoe UI"/>
              </a:rPr>
              <a:t>acceptable latency and F1 limits.</a:t>
            </a:r>
          </a:p>
        </p:txBody>
      </p:sp>
      <p:sp>
        <p:nvSpPr>
          <p:cNvPr id="4" name="S05-label1">
            <a:extLst>
              <a:ext uri="{FF2B5EF4-FFF2-40B4-BE49-F238E27FC236}">
                <a16:creationId xmlns:a16="http://schemas.microsoft.com/office/drawing/2014/main" id="{54490094-9E75-4368-90B3-87E9956C891C}"/>
              </a:ext>
            </a:extLst>
          </p:cNvPr>
          <p:cNvSpPr>
            <a:spLocks noGrp="1"/>
          </p:cNvSpPr>
          <p:nvPr/>
        </p:nvSpPr>
        <p:spPr>
          <a:xfrm>
            <a:off x="6515100" y="1152525"/>
            <a:ext cx="4991100" cy="466725"/>
          </a:xfrm>
          <a:prstGeom prst="rect">
            <a:avLst/>
          </a:prstGeom>
          <a:noFill/>
          <a:ln w="0">
            <a:noFill/>
          </a:ln>
        </p:spPr>
        <p:txBody>
          <a:bodyPr wrap="none" lIns="0" tIns="0" rIns="0" bIns="0" anchor="ctr">
            <a:noAutofit/>
          </a:bodyPr>
          <a:lstStyle/>
          <a:p>
            <a:pPr>
              <a:defRPr sz="2400" b="0">
                <a:solidFill>
                  <a:srgbClr val="1E302F"/>
                </a:solidFill>
                <a:latin typeface="Segoe UI"/>
                <a:ea typeface="Segoe UI"/>
                <a:cs typeface="Segoe UI"/>
              </a:defRPr>
            </a:pPr>
            <a:r>
              <a:rPr sz="2400" b="0">
                <a:solidFill>
                  <a:srgbClr val="1E302F"/>
                </a:solidFill>
                <a:latin typeface="Segoe UI"/>
                <a:ea typeface="Segoe UI"/>
                <a:cs typeface="Segoe UI"/>
              </a:rPr>
              <a:t>Deployment limits</a:t>
            </a:r>
          </a:p>
        </p:txBody>
      </p:sp>
      <p:sp>
        <p:nvSpPr>
          <p:cNvPr id="5" name="S05-body1">
            <a:extLst>
              <a:ext uri="{FF2B5EF4-FFF2-40B4-BE49-F238E27FC236}">
                <a16:creationId xmlns:a16="http://schemas.microsoft.com/office/drawing/2014/main" id="{C23904A4-5799-4146-BCF8-269E1119A7A9}"/>
              </a:ext>
            </a:extLst>
          </p:cNvPr>
          <p:cNvSpPr>
            <a:spLocks noGrp="1"/>
          </p:cNvSpPr>
          <p:nvPr/>
        </p:nvSpPr>
        <p:spPr>
          <a:xfrm>
            <a:off x="6515100" y="1704975"/>
            <a:ext cx="4991100" cy="457200"/>
          </a:xfrm>
          <a:prstGeom prst="rect">
            <a:avLst/>
          </a:prstGeom>
          <a:noFill/>
          <a:ln w="0">
            <a:noFill/>
          </a:ln>
        </p:spPr>
        <p:txBody>
          <a:bodyPr wrap="none" lIns="0" tIns="0" rIns="0" bIns="0" anchor="ctr">
            <a:noAutofit/>
          </a:bodyPr>
          <a:lstStyle/>
          <a:p>
            <a:pPr>
              <a:defRPr sz="1800" b="0">
                <a:solidFill>
                  <a:srgbClr val="586C68"/>
                </a:solidFill>
                <a:latin typeface="Segoe UI"/>
                <a:ea typeface="Segoe UI"/>
                <a:cs typeface="Segoe UI"/>
              </a:defRPr>
            </a:pPr>
            <a:r>
              <a:rPr sz="1800" b="0">
                <a:solidFill>
                  <a:srgbClr val="586C68"/>
                </a:solidFill>
                <a:latin typeface="Segoe UI"/>
                <a:ea typeface="Segoe UI"/>
                <a:cs typeface="Segoe UI"/>
              </a:rPr>
              <a:t>Acceptable F1 loss and latency budget.</a:t>
            </a:r>
          </a:p>
        </p:txBody>
      </p:sp>
      <p:sp>
        <p:nvSpPr>
          <p:cNvPr id="6" name="S05-rule-1">
            <a:extLst>
              <a:ext uri="{FF2B5EF4-FFF2-40B4-BE49-F238E27FC236}">
                <a16:creationId xmlns:a16="http://schemas.microsoft.com/office/drawing/2014/main" id="{EA0B1105-FDCE-4D6A-B8AB-F85035FC39FE}"/>
              </a:ext>
            </a:extLst>
          </p:cNvPr>
          <p:cNvSpPr>
            <a:spLocks noGrp="1"/>
          </p:cNvSpPr>
          <p:nvPr/>
        </p:nvSpPr>
        <p:spPr>
          <a:xfrm>
            <a:off x="6515100" y="2276475"/>
            <a:ext cx="4991100" cy="0"/>
          </a:xfrm>
          <a:prstGeom prst="line">
            <a:avLst/>
          </a:prstGeom>
          <a:ln w="9525">
            <a:solidFill>
              <a:srgbClr val="CFD8D1"/>
            </a:solidFill>
          </a:ln>
        </p:spPr>
      </p:sp>
      <p:sp>
        <p:nvSpPr>
          <p:cNvPr id="7" name="S05-label2">
            <a:extLst>
              <a:ext uri="{FF2B5EF4-FFF2-40B4-BE49-F238E27FC236}">
                <a16:creationId xmlns:a16="http://schemas.microsoft.com/office/drawing/2014/main" id="{8BA8756E-4A99-41B8-A962-B5B85C9AF37E}"/>
              </a:ext>
            </a:extLst>
          </p:cNvPr>
          <p:cNvSpPr>
            <a:spLocks noGrp="1"/>
          </p:cNvSpPr>
          <p:nvPr/>
        </p:nvSpPr>
        <p:spPr>
          <a:xfrm>
            <a:off x="6515100" y="2438400"/>
            <a:ext cx="4991100" cy="466725"/>
          </a:xfrm>
          <a:prstGeom prst="rect">
            <a:avLst/>
          </a:prstGeom>
          <a:noFill/>
          <a:ln w="0">
            <a:noFill/>
          </a:ln>
        </p:spPr>
        <p:txBody>
          <a:bodyPr wrap="none" lIns="0" tIns="0" rIns="0" bIns="0" anchor="ctr">
            <a:noAutofit/>
          </a:bodyPr>
          <a:lstStyle/>
          <a:p>
            <a:pPr>
              <a:defRPr sz="2400" b="0">
                <a:solidFill>
                  <a:srgbClr val="1E302F"/>
                </a:solidFill>
                <a:latin typeface="Segoe UI"/>
                <a:ea typeface="Segoe UI"/>
                <a:cs typeface="Segoe UI"/>
              </a:defRPr>
            </a:pPr>
            <a:r>
              <a:rPr sz="2400" b="0">
                <a:solidFill>
                  <a:srgbClr val="1E302F"/>
                </a:solidFill>
                <a:latin typeface="Segoe UI"/>
                <a:ea typeface="Segoe UI"/>
                <a:cs typeface="Segoe UI"/>
              </a:rPr>
              <a:t>Repeatability</a:t>
            </a:r>
          </a:p>
        </p:txBody>
      </p:sp>
      <p:sp>
        <p:nvSpPr>
          <p:cNvPr id="8" name="S05-body2">
            <a:extLst>
              <a:ext uri="{FF2B5EF4-FFF2-40B4-BE49-F238E27FC236}">
                <a16:creationId xmlns:a16="http://schemas.microsoft.com/office/drawing/2014/main" id="{2CB7C1D0-AFF6-44EA-AFCA-2B443E82C335}"/>
              </a:ext>
            </a:extLst>
          </p:cNvPr>
          <p:cNvSpPr>
            <a:spLocks noGrp="1"/>
          </p:cNvSpPr>
          <p:nvPr/>
        </p:nvSpPr>
        <p:spPr>
          <a:xfrm>
            <a:off x="6515100" y="2990850"/>
            <a:ext cx="4991100" cy="457200"/>
          </a:xfrm>
          <a:prstGeom prst="rect">
            <a:avLst/>
          </a:prstGeom>
          <a:noFill/>
          <a:ln w="0">
            <a:noFill/>
          </a:ln>
        </p:spPr>
        <p:txBody>
          <a:bodyPr wrap="none" lIns="0" tIns="0" rIns="0" bIns="0" anchor="ctr">
            <a:noAutofit/>
          </a:bodyPr>
          <a:lstStyle/>
          <a:p>
            <a:pPr>
              <a:defRPr sz="1800" b="0">
                <a:solidFill>
                  <a:srgbClr val="586C68"/>
                </a:solidFill>
                <a:latin typeface="Segoe UI"/>
                <a:ea typeface="Segoe UI"/>
                <a:cs typeface="Segoe UI"/>
              </a:defRPr>
            </a:pPr>
            <a:r>
              <a:rPr sz="1800" b="0">
                <a:solidFill>
                  <a:srgbClr val="586C68"/>
                </a:solidFill>
                <a:latin typeface="Segoe UI"/>
                <a:ea typeface="Segoe UI"/>
                <a:cs typeface="Segoe UI"/>
              </a:rPr>
              <a:t>Repeat measurements on real data.</a:t>
            </a:r>
          </a:p>
        </p:txBody>
      </p:sp>
      <p:sp>
        <p:nvSpPr>
          <p:cNvPr id="9" name="S05-rule-2">
            <a:extLst>
              <a:ext uri="{FF2B5EF4-FFF2-40B4-BE49-F238E27FC236}">
                <a16:creationId xmlns:a16="http://schemas.microsoft.com/office/drawing/2014/main" id="{44D90FDB-CA1A-48AD-8D73-903F33B8067D}"/>
              </a:ext>
            </a:extLst>
          </p:cNvPr>
          <p:cNvSpPr>
            <a:spLocks noGrp="1"/>
          </p:cNvSpPr>
          <p:nvPr/>
        </p:nvSpPr>
        <p:spPr>
          <a:xfrm>
            <a:off x="6515100" y="3562350"/>
            <a:ext cx="4991100" cy="0"/>
          </a:xfrm>
          <a:prstGeom prst="line">
            <a:avLst/>
          </a:prstGeom>
          <a:ln w="9525">
            <a:solidFill>
              <a:srgbClr val="CFD8D1"/>
            </a:solidFill>
          </a:ln>
        </p:spPr>
      </p:sp>
      <p:sp>
        <p:nvSpPr>
          <p:cNvPr id="10" name="S05-label3">
            <a:extLst>
              <a:ext uri="{FF2B5EF4-FFF2-40B4-BE49-F238E27FC236}">
                <a16:creationId xmlns:a16="http://schemas.microsoft.com/office/drawing/2014/main" id="{FE8F58FE-FD2C-4DBD-9621-370F07EF827E}"/>
              </a:ext>
            </a:extLst>
          </p:cNvPr>
          <p:cNvSpPr>
            <a:spLocks noGrp="1"/>
          </p:cNvSpPr>
          <p:nvPr/>
        </p:nvSpPr>
        <p:spPr>
          <a:xfrm>
            <a:off x="6515100" y="3724275"/>
            <a:ext cx="4991100" cy="466725"/>
          </a:xfrm>
          <a:prstGeom prst="rect">
            <a:avLst/>
          </a:prstGeom>
          <a:noFill/>
          <a:ln w="0">
            <a:noFill/>
          </a:ln>
        </p:spPr>
        <p:txBody>
          <a:bodyPr wrap="none" lIns="0" tIns="0" rIns="0" bIns="0" anchor="ctr">
            <a:noAutofit/>
          </a:bodyPr>
          <a:lstStyle/>
          <a:p>
            <a:pPr>
              <a:defRPr sz="2400" b="0">
                <a:solidFill>
                  <a:srgbClr val="1E302F"/>
                </a:solidFill>
                <a:latin typeface="Segoe UI"/>
                <a:ea typeface="Segoe UI"/>
                <a:cs typeface="Segoe UI"/>
              </a:defRPr>
            </a:pPr>
            <a:r>
              <a:rPr sz="2400" b="0">
                <a:solidFill>
                  <a:srgbClr val="1E302F"/>
                </a:solidFill>
                <a:latin typeface="Segoe UI"/>
                <a:ea typeface="Segoe UI"/>
                <a:cs typeface="Segoe UI"/>
              </a:rPr>
              <a:t>Failure modes</a:t>
            </a:r>
          </a:p>
        </p:txBody>
      </p:sp>
      <p:sp>
        <p:nvSpPr>
          <p:cNvPr id="11" name="S05-body3">
            <a:extLst>
              <a:ext uri="{FF2B5EF4-FFF2-40B4-BE49-F238E27FC236}">
                <a16:creationId xmlns:a16="http://schemas.microsoft.com/office/drawing/2014/main" id="{04278B5F-85DF-49D9-80ED-33355A580F46}"/>
              </a:ext>
            </a:extLst>
          </p:cNvPr>
          <p:cNvSpPr>
            <a:spLocks noGrp="1"/>
          </p:cNvSpPr>
          <p:nvPr/>
        </p:nvSpPr>
        <p:spPr>
          <a:xfrm>
            <a:off x="6515100" y="4276725"/>
            <a:ext cx="4991100" cy="457200"/>
          </a:xfrm>
          <a:prstGeom prst="rect">
            <a:avLst/>
          </a:prstGeom>
          <a:noFill/>
          <a:ln w="0">
            <a:noFill/>
          </a:ln>
        </p:spPr>
        <p:txBody>
          <a:bodyPr wrap="none" lIns="0" tIns="0" rIns="0" bIns="0" anchor="ctr">
            <a:noAutofit/>
          </a:bodyPr>
          <a:lstStyle/>
          <a:p>
            <a:pPr>
              <a:defRPr sz="1800" b="0">
                <a:solidFill>
                  <a:srgbClr val="586C68"/>
                </a:solidFill>
                <a:latin typeface="Segoe UI"/>
                <a:ea typeface="Segoe UI"/>
                <a:cs typeface="Segoe UI"/>
              </a:defRPr>
            </a:pPr>
            <a:r>
              <a:rPr sz="1800" b="0">
                <a:solidFill>
                  <a:srgbClr val="586C68"/>
                </a:solidFill>
                <a:latin typeface="Segoe UI"/>
                <a:ea typeface="Segoe UI"/>
                <a:cs typeface="Segoe UI"/>
              </a:rPr>
              <a:t>Inspect errors by anomaly type.</a:t>
            </a:r>
          </a:p>
        </p:txBody>
      </p:sp>
      <p:sp>
        <p:nvSpPr>
          <p:cNvPr id="12" name="S05-limit">
            <a:extLst>
              <a:ext uri="{FF2B5EF4-FFF2-40B4-BE49-F238E27FC236}">
                <a16:creationId xmlns:a16="http://schemas.microsoft.com/office/drawing/2014/main" id="{D08E42EB-BDCD-4D44-BD92-85BB19C11265}"/>
              </a:ext>
            </a:extLst>
          </p:cNvPr>
          <p:cNvSpPr>
            <a:spLocks noGrp="1"/>
          </p:cNvSpPr>
          <p:nvPr/>
        </p:nvSpPr>
        <p:spPr>
          <a:xfrm>
            <a:off x="6515100" y="5448300"/>
            <a:ext cx="4991100" cy="723900"/>
          </a:xfrm>
          <a:prstGeom prst="rect">
            <a:avLst/>
          </a:prstGeom>
          <a:noFill/>
          <a:ln w="0">
            <a:noFill/>
          </a:ln>
        </p:spPr>
        <p:txBody>
          <a:bodyPr wrap="none" lIns="0" tIns="0" rIns="0" bIns="0" anchor="ctr">
            <a:noAutofit/>
          </a:bodyPr>
          <a:lstStyle/>
          <a:p>
            <a:pPr>
              <a:defRPr sz="1650" b="0">
                <a:solidFill>
                  <a:srgbClr val="586C68"/>
                </a:solidFill>
                <a:latin typeface="Segoe UI"/>
                <a:ea typeface="Segoe UI"/>
                <a:cs typeface="Segoe UI"/>
              </a:defRPr>
            </a:pPr>
            <a:r>
              <a:rPr sz="1650" b="0">
                <a:solidFill>
                  <a:srgbClr val="586C68"/>
                </a:solidFill>
                <a:latin typeface="Segoe UI"/>
                <a:ea typeface="Segoe UI"/>
                <a:cs typeface="Segoe UI"/>
              </a:rPr>
              <a:t>No real dataset or sample count;</a:t>
            </a:r>
          </a:p>
          <a:p>
            <a:pPr>
              <a:defRPr sz="1650" b="0">
                <a:solidFill>
                  <a:srgbClr val="586C68"/>
                </a:solidFill>
                <a:latin typeface="Segoe UI"/>
                <a:ea typeface="Segoe UI"/>
                <a:cs typeface="Segoe UI"/>
              </a:defRPr>
            </a:pPr>
            <a:r>
              <a:rPr sz="1650" b="0">
                <a:solidFill>
                  <a:srgbClr val="586C68"/>
                </a:solidFill>
                <a:latin typeface="Segoe UI"/>
                <a:ea typeface="Segoe UI"/>
                <a:cs typeface="Segoe UI"/>
              </a:rPr>
              <a:t>generalization remains untested.</a:t>
            </a:r>
          </a:p>
        </p:txBody>
      </p:sp>
      <p:sp>
        <p:nvSpPr>
          <p:cNvPr id="13" name="S05-disclosure">
            <a:extLst>
              <a:ext uri="{FF2B5EF4-FFF2-40B4-BE49-F238E27FC236}">
                <a16:creationId xmlns:a16="http://schemas.microsoft.com/office/drawing/2014/main" id="{7F6F8F34-20B1-4AFA-8F10-48FEF49A87FD}"/>
              </a:ext>
            </a:extLst>
          </p:cNvPr>
          <p:cNvSpPr>
            <a:spLocks noGrp="1"/>
          </p:cNvSpPr>
          <p:nvPr/>
        </p:nvSpPr>
        <p:spPr>
          <a:xfrm>
            <a:off x="609600" y="6372225"/>
            <a:ext cx="4572000" cy="219075"/>
          </a:xfrm>
          <a:prstGeom prst="rect">
            <a:avLst/>
          </a:prstGeom>
          <a:noFill/>
          <a:ln w="0">
            <a:noFill/>
          </a:ln>
        </p:spPr>
        <p:txBody>
          <a:bodyPr wrap="none" lIns="0" tIns="0" rIns="0" bIns="0" anchor="ctr">
            <a:noAutofit/>
          </a:bodyPr>
          <a:lstStyle/>
          <a:p>
            <a:pPr>
              <a:defRPr sz="1275" b="0">
                <a:solidFill>
                  <a:srgbClr val="B9DDD0"/>
                </a:solidFill>
                <a:latin typeface="Segoe UI"/>
                <a:ea typeface="Segoe UI"/>
                <a:cs typeface="Segoe UI"/>
              </a:defRPr>
            </a:pPr>
            <a:r>
              <a:rPr sz="1275" b="0">
                <a:solidFill>
                  <a:srgbClr val="B9DDD0"/>
                </a:solidFill>
                <a:latin typeface="Segoe UI"/>
                <a:ea typeface="Segoe UI"/>
                <a:cs typeface="Segoe UI"/>
              </a:rPr>
              <a:t>Illustrative data</a:t>
            </a:r>
          </a:p>
        </p:txBody>
      </p:sp>
    </p:spTree>
    <p:extLst>
      <p:ext uri="{BB962C8B-B14F-4D97-AF65-F5344CB8AC3E}">
        <p14:creationId xmlns:p14="http://schemas.microsoft.com/office/powerpoint/2010/main" val="50459586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642</Words>
  <Application>Microsoft Office PowerPoint</Application>
  <DocSecurity>0</DocSecurity>
  <PresentationFormat>와이드스크린</PresentationFormat>
  <Paragraphs>94</Paragraphs>
  <Slides>5</Slides>
  <Notes>5</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5</vt:i4>
      </vt:variant>
    </vt:vector>
  </HeadingPairs>
  <TitlesOfParts>
    <vt:vector size="8" baseType="lpstr">
      <vt:lpstr>Calibri</vt:lpstr>
      <vt:lpstr>Segoe UI</vt:lpstr>
      <vt:lpstr>ChatGPT</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ns0:coreProperties xmlns:dc="http://purl.org/dc/elements/1.1/" xmlns:ns0="http://schemas.openxmlformats.org/package/2006/metadata/core-properties" xmlns:ns2="http://purl.org/dc/terms/" xmlns:xsi="http://www.w3.org/2001/XMLSchema-instance">
  <dc:title>Presentation</dc:title>
  <dc:creator>Walnut Exporter</dc:creator>
  <ns0:revision>1</ns0:revision>
  <ns2:created xsi:type="dcterms:W3CDTF">2026-10-02T08:00:43Z</ns2:created>
  <ns2:modified xsi:type="dcterms:W3CDTF">2026-10-02T08:09:59Z</ns2:modified>
</ns0:coreProperties>
</file>