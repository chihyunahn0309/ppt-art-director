
<file path=[Content_Types].xml><?xml version="1.0" encoding="utf-8"?>
<Types xmlns="http://schemas.openxmlformats.org/package/2006/content-types">
  <Default Extension="rels" ContentType="application/vnd.openxmlformats-package.relationships+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charts/chart1.xml" ContentType="application/vnd.openxmlformats-officedocument.drawingml.chart+xml"/>
  <Override PartName="/ppt/notesSlides/notesSlide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7"/>
  </p:notesMasterIdLst>
  <p:sldIdLst>
    <p:sldId id="256" r:id="rId2"/>
    <p:sldId id="257" r:id="rId3"/>
    <p:sldId id="258" r:id="rId4"/>
    <p:sldId id="259" r:id="rId5"/>
    <p:sldId id="260" r:id="rId6"/>
  </p:sldIdLst>
  <p:sldSz cx="12192000" cy="6858000"/>
  <p:notesSz cx="6858000" cy="9144000"/>
  <p:defaultTex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gridSpacing cx="72008" cy="72008"/>
</p:viewPr>
</file>

<file path=ppt/_rels/presentation.xml.rels><?xml version="1.0" encoding="UTF-8" standalone="yes"?>
<Relationships xmlns="http://schemas.openxmlformats.org/package/2006/relationships"><Relationship Id="rId8" Type="http://schemas.openxmlformats.org/officeDocument/2006/relationships/presProps" Target="presProps.xml"/><Relationship Id="rId3" Type="http://schemas.openxmlformats.org/officeDocument/2006/relationships/slide" Target="slides/slide2.xml"/><Relationship Id="rId7" Type="http://schemas.openxmlformats.org/officeDocument/2006/relationships/notesMaster" Target="notesMasters/notesMaster1.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tableStyles" Target="tableStyles.xml"/><Relationship Id="rId5" Type="http://schemas.openxmlformats.org/officeDocument/2006/relationships/slide" Target="slides/slide4.xml"/><Relationship Id="rId10"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viewProps" Target="viewProps.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ko-KR"/>
  <c:roundedCorners val="1"/>
  <c:style val="2"/>
  <c:chart>
    <c:autoTitleDeleted val="1"/>
    <c:plotArea>
      <c:layout/>
      <c:scatterChart>
        <c:scatterStyle val="lineMarker"/>
        <c:varyColors val="1"/>
        <c:ser>
          <c:idx val="0"/>
          <c:order val="0"/>
          <c:tx>
            <c:v>Models</c:v>
          </c:tx>
          <c:spPr>
            <a:ln w="0">
              <a:noFill/>
            </a:ln>
          </c:spPr>
          <c:marker>
            <c:symbol val="circle"/>
            <c:size val="10"/>
            <c:spPr>
              <a:solidFill>
                <a:srgbClr val="287D78"/>
              </a:solidFill>
              <a:ln>
                <a:noFill/>
              </a:ln>
            </c:spPr>
          </c:marker>
          <c:dLbls>
            <c:dLbl>
              <c:idx val="0"/>
              <c:tx>
                <c:rich>
                  <a:bodyPr/>
                  <a:lstStyle/>
                  <a:p>
                    <a:r>
                      <a:rPr sz="1800">
                        <a:solidFill>
                          <a:srgbClr val="1E302F"/>
                        </a:solidFill>
                        <a:latin typeface="Segoe UI"/>
                        <a:ea typeface="Segoe UI"/>
                        <a:cs typeface="Segoe UI"/>
                      </a:rPr>
                      <a:t>baseline</a:t>
                    </a:r>
                  </a:p>
                </c:rich>
              </c:tx>
              <c:spPr/>
              <c:showLegendKey val="0"/>
              <c:showVal val="0"/>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0-3A6B-4776-8658-E4A6E0065C65}"/>
                </c:ext>
              </c:extLst>
            </c:dLbl>
            <c:dLbl>
              <c:idx val="1"/>
              <c:tx>
                <c:rich>
                  <a:bodyPr/>
                  <a:lstStyle/>
                  <a:p>
                    <a:r>
                      <a:rPr sz="1800">
                        <a:solidFill>
                          <a:srgbClr val="1E302F"/>
                        </a:solidFill>
                        <a:latin typeface="Segoe UI"/>
                        <a:ea typeface="Segoe UI"/>
                        <a:cs typeface="Segoe UI"/>
                      </a:rPr>
                      <a:t>distilled</a:t>
                    </a:r>
                  </a:p>
                </c:rich>
              </c:tx>
              <c:spPr/>
              <c:showLegendKey val="0"/>
              <c:showVal val="0"/>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1-3A6B-4776-8658-E4A6E0065C65}"/>
                </c:ext>
              </c:extLst>
            </c:dLbl>
            <c:dLbl>
              <c:idx val="2"/>
              <c:tx>
                <c:rich>
                  <a:bodyPr/>
                  <a:lstStyle/>
                  <a:p>
                    <a:r>
                      <a:rPr sz="1800">
                        <a:solidFill>
                          <a:srgbClr val="1E302F"/>
                        </a:solidFill>
                        <a:latin typeface="Segoe UI"/>
                        <a:ea typeface="Segoe UI"/>
                        <a:cs typeface="Segoe UI"/>
                      </a:rPr>
                      <a:t>int8</a:t>
                    </a:r>
                  </a:p>
                </c:rich>
              </c:tx>
              <c:spPr/>
              <c:showLegendKey val="0"/>
              <c:showVal val="0"/>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2-3A6B-4776-8658-E4A6E0065C65}"/>
                </c:ext>
              </c:extLst>
            </c:dLbl>
            <c:spPr>
              <a:noFill/>
              <a:ln>
                <a:noFill/>
              </a:ln>
              <a:effectLst/>
            </c:spPr>
            <c:showLegendKey val="1"/>
            <c:showVal val="1"/>
            <c:showCatName val="1"/>
            <c:showSerName val="1"/>
            <c:showPercent val="1"/>
            <c:showBubbleSize val="1"/>
            <c:showLeaderLines val="0"/>
            <c:extLst>
              <c:ext xmlns:c15="http://schemas.microsoft.com/office/drawing/2012/chart" uri="{CE6537A1-D6FC-4f65-9D91-7224C49458BB}">
                <c15:showLeaderLines val="0"/>
              </c:ext>
            </c:extLst>
          </c:dLbls>
          <c:xVal>
            <c:numRef>
              <c:f>'Chart Data'!$A$2:$A$4</c:f>
              <c:numCache>
                <c:formatCode>General</c:formatCode>
                <c:ptCount val="3"/>
                <c:pt idx="0">
                  <c:v>120</c:v>
                </c:pt>
                <c:pt idx="1">
                  <c:v>72</c:v>
                </c:pt>
                <c:pt idx="2">
                  <c:v>54</c:v>
                </c:pt>
              </c:numCache>
            </c:numRef>
          </c:xVal>
          <c:yVal>
            <c:numRef>
              <c:f>'Chart Data'!$B$2:$B$4</c:f>
              <c:numCache>
                <c:formatCode>0.000</c:formatCode>
                <c:ptCount val="3"/>
                <c:pt idx="0">
                  <c:v>0.91</c:v>
                </c:pt>
                <c:pt idx="1">
                  <c:v>0.90200000000000002</c:v>
                </c:pt>
                <c:pt idx="2">
                  <c:v>0.89600000000000002</c:v>
                </c:pt>
              </c:numCache>
            </c:numRef>
          </c:yVal>
          <c:smooth val="1"/>
          <c:extLst>
            <c:ext xmlns:c16="http://schemas.microsoft.com/office/drawing/2014/chart" uri="{C3380CC4-5D6E-409C-BE32-E72D297353CC}">
              <c16:uniqueId val="{00000003-3A6B-4776-8658-E4A6E0065C65}"/>
            </c:ext>
          </c:extLst>
        </c:ser>
        <c:dLbls>
          <c:showLegendKey val="0"/>
          <c:showVal val="0"/>
          <c:showCatName val="0"/>
          <c:showSerName val="0"/>
          <c:showPercent val="0"/>
          <c:showBubbleSize val="0"/>
        </c:dLbls>
        <c:axId val="48650112"/>
        <c:axId val="48672768"/>
      </c:scatterChart>
      <c:valAx>
        <c:axId val="48672768"/>
        <c:scaling>
          <c:orientation val="minMax"/>
          <c:max val="0.91500000000000004"/>
          <c:min val="0.89"/>
        </c:scaling>
        <c:delete val="0"/>
        <c:axPos val="l"/>
        <c:majorGridlines>
          <c:spPr>
            <a:ln w="6668">
              <a:solidFill>
                <a:srgbClr val="CFD8D1"/>
              </a:solidFill>
            </a:ln>
          </c:spPr>
        </c:majorGridlines>
        <c:numFmt formatCode="0.000" sourceLinked="1"/>
        <c:majorTickMark val="none"/>
        <c:minorTickMark val="none"/>
        <c:tickLblPos val="nextTo"/>
        <c:spPr>
          <a:ln w="9525">
            <a:solidFill>
              <a:srgbClr val="CFD8D1"/>
            </a:solidFill>
          </a:ln>
        </c:spPr>
        <c:txPr>
          <a:bodyPr anchorCtr="1"/>
          <a:lstStyle/>
          <a:p>
            <a:pPr>
              <a:defRPr sz="1725">
                <a:solidFill>
                  <a:srgbClr val="1E302F"/>
                </a:solidFill>
                <a:latin typeface="Segoe UI"/>
                <a:ea typeface="Segoe UI"/>
                <a:cs typeface="Segoe UI"/>
              </a:defRPr>
            </a:pPr>
            <a:endParaRPr lang="ko-KR"/>
          </a:p>
        </c:txPr>
        <c:crossAx val="48650112"/>
        <c:crosses val="autoZero"/>
        <c:crossBetween val="midCat"/>
        <c:majorUnit val="5.0000000000000001E-3"/>
      </c:valAx>
      <c:valAx>
        <c:axId val="48650112"/>
        <c:scaling>
          <c:orientation val="minMax"/>
          <c:max val="140"/>
          <c:min val="40"/>
        </c:scaling>
        <c:delete val="0"/>
        <c:axPos val="b"/>
        <c:numFmt formatCode="General" sourceLinked="1"/>
        <c:majorTickMark val="none"/>
        <c:minorTickMark val="none"/>
        <c:tickLblPos val="nextTo"/>
        <c:spPr>
          <a:ln w="9525">
            <a:solidFill>
              <a:srgbClr val="CFD8D1"/>
            </a:solidFill>
          </a:ln>
        </c:spPr>
        <c:txPr>
          <a:bodyPr anchorCtr="1"/>
          <a:lstStyle/>
          <a:p>
            <a:pPr>
              <a:defRPr sz="1725">
                <a:solidFill>
                  <a:srgbClr val="1E302F"/>
                </a:solidFill>
                <a:latin typeface="Segoe UI"/>
                <a:ea typeface="Segoe UI"/>
                <a:cs typeface="Segoe UI"/>
              </a:defRPr>
            </a:pPr>
            <a:endParaRPr lang="ko-KR"/>
          </a:p>
        </c:txPr>
        <c:crossAx val="48672768"/>
        <c:crosses val="autoZero"/>
        <c:crossBetween val="midCat"/>
        <c:majorUnit val="20"/>
      </c:valAx>
      <c:spPr>
        <a:solidFill>
          <a:srgbClr val="F6F4EE"/>
        </a:solidFill>
      </c:spPr>
    </c:plotArea>
    <c:plotVisOnly val="1"/>
    <c:dispBlanksAs val="zero"/>
    <c:showDLblsOverMax val="1"/>
  </c:chart>
  <c:spPr>
    <a:solidFill>
      <a:srgbClr val="F6F4EE"/>
    </a:solidFill>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p:cNvSpPr>
            <a:spLocks noGrp="1"/>
          </p:cNvSpPr>
          <p:nvPr>
            <p:ph type="hdr" sz="quarter"/>
          </p:nvPr>
        </p:nvSpPr>
        <p:spPr>
          <a:prstGeom prst="rect">
            <a:avLst/>
          </a:prstGeom>
        </p:spPr>
        <p:txBody>
          <a:bodyPr/>
          <a:lstStyle/>
          <a:p>
            <a:endParaRPr/>
          </a:p>
        </p:txBody>
      </p:sp>
      <p:sp>
        <p:nvSpPr>
          <p:cNvPr id="3" name="Date Placeholder"/>
          <p:cNvSpPr>
            <a:spLocks noGrp="1"/>
          </p:cNvSpPr>
          <p:nvPr>
            <p:ph type="dt" sz="quarter" idx="1"/>
          </p:nvPr>
        </p:nvSpPr>
        <p:spPr>
          <a:prstGeom prst="rect">
            <a:avLst/>
          </a:prstGeom>
        </p:spPr>
        <p:txBody>
          <a:bodyPr/>
          <a:lstStyle/>
          <a:p>
            <a:endParaRPr/>
          </a:p>
        </p:txBody>
      </p:sp>
      <p:sp>
        <p:nvSpPr>
          <p:cNvPr id="4" name="Slide Image Placeholder"/>
          <p:cNvSpPr>
            <a:spLocks noGrp="1" noRot="1" noChangeAspect="1"/>
          </p:cNvSpPr>
          <p:nvPr>
            <p:ph type="sldImg" idx="2"/>
          </p:nvPr>
        </p:nvSpPr>
        <p:spPr>
          <a:prstGeom prst="rect">
            <a:avLst/>
          </a:prstGeom>
        </p:spPr>
        <p:txBody>
          <a:bodyPr/>
          <a:lstStyle/>
          <a:p>
            <a:endParaRPr/>
          </a:p>
        </p:txBody>
      </p:sp>
      <p:sp>
        <p:nvSpPr>
          <p:cNvPr id="5" name="Notes Placeholder"/>
          <p:cNvSpPr>
            <a:spLocks noGrp="1"/>
          </p:cNvSpPr>
          <p:nvPr>
            <p:ph type="body" sz="quarter" idx="3"/>
          </p:nvPr>
        </p:nvSpPr>
        <p:spPr>
          <a:prstGeom prst="rect">
            <a:avLst/>
          </a:prstGeom>
        </p:spPr>
        <p:txBody>
          <a:bodyPr/>
          <a:lstStyle/>
          <a:p>
            <a:endParaRPr/>
          </a:p>
        </p:txBody>
      </p:sp>
      <p:sp>
        <p:nvSpPr>
          <p:cNvPr id="6" name="Footer Placeholder"/>
          <p:cNvSpPr>
            <a:spLocks noGrp="1"/>
          </p:cNvSpPr>
          <p:nvPr>
            <p:ph type="ftr" sz="quarter" idx="4"/>
          </p:nvPr>
        </p:nvSpPr>
        <p:spPr>
          <a:prstGeom prst="rect">
            <a:avLst/>
          </a:prstGeom>
        </p:spPr>
        <p:txBody>
          <a:bodyPr/>
          <a:lstStyle/>
          <a:p>
            <a:endParaRPr/>
          </a:p>
        </p:txBody>
      </p:sp>
      <p:sp>
        <p:nvSpPr>
          <p:cNvPr id="7" name="Slide Number Placeholder"/>
          <p:cNvSpPr>
            <a:spLocks noGrp="1"/>
          </p:cNvSpPr>
          <p:nvPr>
            <p:ph type="sldNum" sz="quarter" idx="5"/>
          </p:nvPr>
        </p:nvSpPr>
        <p:spPr>
          <a:prstGeom prst="rect">
            <a:avLst/>
          </a:prstGeom>
        </p:spPr>
        <p:txBody>
          <a:bodyPr/>
          <a:lstStyle/>
          <a:p>
            <a:endParaRPr/>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lvl1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30 seconds. This seminar examines model compression for sensor anomaly detection. The overview compares baseline with INT8 using equally prominent latency, F1 and size values. All values are fictional user-supplied examples, not empirical findings. A common device and dataset are assumed but unspecified. No acceptable accuracy-loss threshold is supplied.</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90 seconds. The teacher provides prediction knowledge for learning a smaller student; INT8 represents student numbers using 8-bit integers. Architecture, loss, quantization scope, and PTQ versus QAT are unspecified. Do not assume preservation of all teacher knowledge or claim a particular implementation. In the animated edition, reveal distillation on click 1 and INT8 on click 2. Concept sources: Hinton et al. (2015), https://arxiv.org/abs/1503.02531 ; Jacob et al. (2017), https://arxiv.org/abs/1712.05877 . No empirical results were taken from those papers.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60 seconds. Fictional values: baseline 120 ms / F1 0.910 / 48 MB; distilled 72 ms / 0.902 / 18 MB; int8 54 ms / 0.896 / 12 MB. The same device and data are assumed. Sample count, variance, dataset, split, device specifications, latency statistic, and F1 aggregation are unspecified. These are arithmetic comparisons, not evidence of statistical significance or generalization.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65 seconds. Overall latency reduction (120−54)/120 = 55%; size reduction (48−12)/48 = 75%; F1 absolute difference 0.896−0.910 = −0.014. Distillation latency reduction (120−72)/120 = 40%, F1 difference −0.008. Additional INT8 latency reduction (72−54)/72 = 25%, F1 difference −0.006. Do not add 40% and 25% because their denominators differ. No statistical inference is possible from the fictional summaries.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55 seconds. These fictional values illustrate an efficiency–F1 trade-off. They do not select a universally best model. Define the acceptable loss in F1 and the latency budget for the intended environment. Repeat measurements on actual data, estimate variation, and inspect failures by anomaly type. No real dataset or sample count was supplied, so no generalization claim is justified. Total presentation time: 300 seconds.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cSld name="Title Slide">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Master">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txStyles>
    <p:titleStyle>
      <a:lvl1pPr algn="l">
        <a:lnSpc>
          <a:spcPct val="90000"/>
        </a:lnSpc>
        <a:spcBef>
          <a:spcPts val="0"/>
        </a:spcBef>
        <a:buNone/>
        <a:defRPr sz="4400">
          <a:solidFill>
            <a:schemeClr val="tx1"/>
          </a:solidFill>
          <a:latin typeface="+mj-lt"/>
          <a:ea typeface="+mj-lt"/>
          <a:cs typeface="+mj-lt"/>
        </a:defRPr>
      </a:lvl1pPr>
    </p:titleStyle>
    <p:bodyStyle>
      <a:lvl1pPr marL="228600" indent="-228600" algn="l">
        <a:lnSpc>
          <a:spcPct val="90000"/>
        </a:lnSpc>
        <a:spcBef>
          <a:spcPts val="1000"/>
        </a:spcBef>
        <a:buChar char="•"/>
        <a:defRPr sz="2800">
          <a:solidFill>
            <a:schemeClr val="tx1"/>
          </a:solidFill>
          <a:latin typeface="+mn-lt"/>
          <a:ea typeface="+mn-lt"/>
          <a:cs typeface="+mn-lt"/>
        </a:defRPr>
      </a:lvl1pPr>
      <a:lvl2pPr marL="685800" indent="-228600" algn="l">
        <a:lnSpc>
          <a:spcPct val="90000"/>
        </a:lnSpc>
        <a:spcBef>
          <a:spcPts val="500"/>
        </a:spcBef>
        <a:buChar char="•"/>
        <a:defRPr sz="2400">
          <a:solidFill>
            <a:schemeClr val="tx1"/>
          </a:solidFill>
          <a:latin typeface="+mn-lt"/>
          <a:ea typeface="+mn-lt"/>
          <a:cs typeface="+mn-lt"/>
        </a:defRPr>
      </a:lvl2pPr>
      <a:lvl3pPr marL="1143000" indent="-228600" algn="l">
        <a:lnSpc>
          <a:spcPct val="90000"/>
        </a:lnSpc>
        <a:spcBef>
          <a:spcPts val="500"/>
        </a:spcBef>
        <a:buChar char="•"/>
        <a:defRPr sz="2000">
          <a:solidFill>
            <a:schemeClr val="tx1"/>
          </a:solidFill>
          <a:latin typeface="+mn-lt"/>
          <a:ea typeface="+mn-lt"/>
          <a:cs typeface="+mn-lt"/>
        </a:defRPr>
      </a:lvl3pPr>
      <a:lvl4pPr marL="1600200" indent="-228600" algn="l">
        <a:lnSpc>
          <a:spcPct val="90000"/>
        </a:lnSpc>
        <a:spcBef>
          <a:spcPts val="500"/>
        </a:spcBef>
        <a:buChar char="•"/>
        <a:defRPr sz="1800">
          <a:solidFill>
            <a:schemeClr val="tx1"/>
          </a:solidFill>
          <a:latin typeface="+mn-lt"/>
          <a:ea typeface="+mn-lt"/>
          <a:cs typeface="+mn-lt"/>
        </a:defRPr>
      </a:lvl4pPr>
      <a:lvl5pPr marL="2057400" indent="-228600" algn="l">
        <a:lnSpc>
          <a:spcPct val="90000"/>
        </a:lnSpc>
        <a:spcBef>
          <a:spcPts val="500"/>
        </a:spcBef>
        <a:buChar char="•"/>
        <a:defRPr sz="1800">
          <a:solidFill>
            <a:schemeClr val="tx1"/>
          </a:solidFill>
          <a:latin typeface="+mn-lt"/>
          <a:ea typeface="+mn-lt"/>
          <a:cs typeface="+mn-lt"/>
        </a:defRPr>
      </a:lvl5pPr>
      <a:lvl6pPr marL="2514600" indent="-228600" algn="l">
        <a:lnSpc>
          <a:spcPct val="90000"/>
        </a:lnSpc>
        <a:spcBef>
          <a:spcPts val="500"/>
        </a:spcBef>
        <a:buChar char="•"/>
        <a:defRPr sz="1800">
          <a:solidFill>
            <a:schemeClr val="tx1"/>
          </a:solidFill>
          <a:latin typeface="+mn-lt"/>
          <a:ea typeface="+mn-lt"/>
          <a:cs typeface="+mn-lt"/>
        </a:defRPr>
      </a:lvl6pPr>
      <a:lvl7pPr marL="2971800" indent="-228600" algn="l">
        <a:lnSpc>
          <a:spcPct val="90000"/>
        </a:lnSpc>
        <a:spcBef>
          <a:spcPts val="500"/>
        </a:spcBef>
        <a:buChar char="•"/>
        <a:defRPr sz="1800">
          <a:solidFill>
            <a:schemeClr val="tx1"/>
          </a:solidFill>
          <a:latin typeface="+mn-lt"/>
          <a:ea typeface="+mn-lt"/>
          <a:cs typeface="+mn-lt"/>
        </a:defRPr>
      </a:lvl7pPr>
      <a:lvl8pPr marL="3429000" indent="-228600" algn="l">
        <a:lnSpc>
          <a:spcPct val="90000"/>
        </a:lnSpc>
        <a:spcBef>
          <a:spcPts val="500"/>
        </a:spcBef>
        <a:buChar char="•"/>
        <a:defRPr sz="1800">
          <a:solidFill>
            <a:schemeClr val="tx1"/>
          </a:solidFill>
          <a:latin typeface="+mn-lt"/>
          <a:ea typeface="+mn-lt"/>
          <a:cs typeface="+mn-lt"/>
        </a:defRPr>
      </a:lvl8pPr>
      <a:lvl9pPr marL="3886200" indent="-228600" algn="l">
        <a:lnSpc>
          <a:spcPct val="90000"/>
        </a:lnSpc>
        <a:spcBef>
          <a:spcPts val="500"/>
        </a:spcBef>
        <a:buChar char="•"/>
        <a:defRPr sz="1800">
          <a:solidFill>
            <a:schemeClr val="tx1"/>
          </a:solidFill>
          <a:latin typeface="+mn-lt"/>
          <a:ea typeface="+mn-lt"/>
          <a:cs typeface="+mn-lt"/>
        </a:defRPr>
      </a:lvl9pPr>
    </p:bodyStyle>
    <p:otherStyle>
      <a:lvl1pPr marL="0" algn="l">
        <a:buNone/>
        <a:defRPr sz="1800">
          <a:solidFill>
            <a:schemeClr val="tx1"/>
          </a:solidFill>
          <a:latin typeface="+mn-lt"/>
          <a:ea typeface="+mn-lt"/>
          <a:cs typeface="+mn-lt"/>
        </a:defRPr>
      </a:lvl1pPr>
      <a:lvl2pPr marL="457200" algn="l">
        <a:buNone/>
        <a:defRPr sz="1800">
          <a:solidFill>
            <a:schemeClr val="tx1"/>
          </a:solidFill>
          <a:latin typeface="+mn-lt"/>
          <a:ea typeface="+mn-lt"/>
          <a:cs typeface="+mn-lt"/>
        </a:defRPr>
      </a:lvl2pPr>
      <a:lvl3pPr marL="914400" algn="l">
        <a:buNone/>
        <a:defRPr sz="1800">
          <a:solidFill>
            <a:schemeClr val="tx1"/>
          </a:solidFill>
          <a:latin typeface="+mn-lt"/>
          <a:ea typeface="+mn-lt"/>
          <a:cs typeface="+mn-lt"/>
        </a:defRPr>
      </a:lvl3pPr>
      <a:lvl4pPr marL="1371600" algn="l">
        <a:buNone/>
        <a:defRPr sz="1800">
          <a:solidFill>
            <a:schemeClr val="tx1"/>
          </a:solidFill>
          <a:latin typeface="+mn-lt"/>
          <a:ea typeface="+mn-lt"/>
          <a:cs typeface="+mn-lt"/>
        </a:defRPr>
      </a:lvl4pPr>
      <a:lvl5pPr marL="1828800" algn="l">
        <a:buNone/>
        <a:defRPr sz="1800">
          <a:solidFill>
            <a:schemeClr val="tx1"/>
          </a:solidFill>
          <a:latin typeface="+mn-lt"/>
          <a:ea typeface="+mn-lt"/>
          <a:cs typeface="+mn-lt"/>
        </a:defRPr>
      </a:lvl5pPr>
      <a:lvl6pPr marL="2286000" algn="l">
        <a:buNone/>
        <a:defRPr sz="1800">
          <a:solidFill>
            <a:schemeClr val="tx1"/>
          </a:solidFill>
          <a:latin typeface="+mn-lt"/>
          <a:ea typeface="+mn-lt"/>
          <a:cs typeface="+mn-lt"/>
        </a:defRPr>
      </a:lvl6pPr>
      <a:lvl7pPr marL="2743200" algn="l">
        <a:buNone/>
        <a:defRPr sz="1800">
          <a:solidFill>
            <a:schemeClr val="tx1"/>
          </a:solidFill>
          <a:latin typeface="+mn-lt"/>
          <a:ea typeface="+mn-lt"/>
          <a:cs typeface="+mn-lt"/>
        </a:defRPr>
      </a:lvl7pPr>
      <a:lvl8pPr marL="3200400" algn="l">
        <a:buNone/>
        <a:defRPr sz="1800">
          <a:solidFill>
            <a:schemeClr val="tx1"/>
          </a:solidFill>
          <a:latin typeface="+mn-lt"/>
          <a:ea typeface="+mn-lt"/>
          <a:cs typeface="+mn-lt"/>
        </a:defRPr>
      </a:lvl8pPr>
      <a:lvl9pPr marL="3657600" algn="l">
        <a:buNone/>
        <a:defRPr sz="1800">
          <a:solidFill>
            <a:schemeClr val="tx1"/>
          </a:solidFill>
          <a:latin typeface="+mn-lt"/>
          <a:ea typeface="+mn-lt"/>
          <a:cs typeface="+mn-lt"/>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3" Type="http://schemas.openxmlformats.org/officeDocument/2006/relationships/chart" Target="../charts/chart1.xml"/><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F6F4EE"/>
        </a:solidFill>
        <a:effectLst/>
      </p:bgPr>
    </p:bg>
    <p:spTree>
      <p:nvGrpSpPr>
        <p:cNvPr id="1" name=""/>
        <p:cNvGrpSpPr/>
        <p:nvPr/>
      </p:nvGrpSpPr>
      <p:grpSpPr>
        <a:xfrm>
          <a:off x="0" y="0"/>
          <a:ext cx="0" cy="0"/>
          <a:chOff x="0" y="0"/>
          <a:chExt cx="0" cy="0"/>
        </a:xfrm>
      </p:grpSpPr>
      <p:sp>
        <p:nvSpPr>
          <p:cNvPr id="13" name="S01-section">
            <a:extLst>
              <a:ext uri="{FF2B5EF4-FFF2-40B4-BE49-F238E27FC236}">
                <a16:creationId xmlns:a16="http://schemas.microsoft.com/office/drawing/2014/main" id="{23FDFD73-9A5B-4C0A-B98C-31B94BE5255E}"/>
              </a:ext>
            </a:extLst>
          </p:cNvPr>
          <p:cNvSpPr>
            <a:spLocks noGrp="1"/>
          </p:cNvSpPr>
          <p:nvPr/>
        </p:nvSpPr>
        <p:spPr>
          <a:xfrm>
            <a:off x="685800" y="609600"/>
            <a:ext cx="10820400" cy="333375"/>
          </a:xfrm>
          <a:prstGeom prst="rect">
            <a:avLst/>
          </a:prstGeom>
          <a:noFill/>
          <a:ln w="0">
            <a:noFill/>
          </a:ln>
        </p:spPr>
        <p:txBody>
          <a:bodyPr wrap="none" lIns="0" tIns="0" rIns="0" bIns="0" anchor="ctr">
            <a:noAutofit/>
          </a:bodyPr>
          <a:lstStyle/>
          <a:p>
            <a:pPr>
              <a:defRPr sz="1650" b="0">
                <a:solidFill>
                  <a:srgbClr val="586C68"/>
                </a:solidFill>
                <a:latin typeface="Segoe UI"/>
                <a:ea typeface="Segoe UI"/>
                <a:cs typeface="Segoe UI"/>
              </a:defRPr>
            </a:pPr>
            <a:r>
              <a:rPr sz="1650" b="0">
                <a:solidFill>
                  <a:srgbClr val="586C68"/>
                </a:solidFill>
                <a:latin typeface="Segoe UI"/>
                <a:ea typeface="Segoe UI"/>
                <a:cs typeface="Segoe UI"/>
              </a:rPr>
              <a:t>Lab seminar · 5 minutes</a:t>
            </a:r>
          </a:p>
        </p:txBody>
      </p:sp>
      <p:sp>
        <p:nvSpPr>
          <p:cNvPr id="2" name="S01-title">
            <a:extLst>
              <a:ext uri="{FF2B5EF4-FFF2-40B4-BE49-F238E27FC236}">
                <a16:creationId xmlns:a16="http://schemas.microsoft.com/office/drawing/2014/main" id="{34A5D45D-6C44-4AE8-9AC4-0C1512BB90E8}"/>
              </a:ext>
            </a:extLst>
          </p:cNvPr>
          <p:cNvSpPr>
            <a:spLocks noGrp="1"/>
          </p:cNvSpPr>
          <p:nvPr/>
        </p:nvSpPr>
        <p:spPr>
          <a:xfrm>
            <a:off x="685800" y="1438275"/>
            <a:ext cx="10820400" cy="1476375"/>
          </a:xfrm>
          <a:prstGeom prst="rect">
            <a:avLst/>
          </a:prstGeom>
          <a:noFill/>
          <a:ln w="0">
            <a:noFill/>
          </a:ln>
        </p:spPr>
        <p:txBody>
          <a:bodyPr wrap="none" lIns="0" tIns="0" rIns="0" bIns="0" anchor="ctr">
            <a:noAutofit/>
          </a:bodyPr>
          <a:lstStyle/>
          <a:p>
            <a:pPr>
              <a:defRPr sz="4275" b="0">
                <a:solidFill>
                  <a:srgbClr val="1E302F"/>
                </a:solidFill>
                <a:latin typeface="Segoe UI"/>
                <a:ea typeface="Segoe UI"/>
                <a:cs typeface="Segoe UI"/>
              </a:defRPr>
            </a:pPr>
            <a:r>
              <a:rPr sz="4275" b="0">
                <a:solidFill>
                  <a:srgbClr val="1E302F"/>
                </a:solidFill>
                <a:latin typeface="Segoe UI"/>
                <a:ea typeface="Segoe UI"/>
                <a:cs typeface="Segoe UI"/>
              </a:rPr>
              <a:t>Sensor anomaly detection</a:t>
            </a:r>
          </a:p>
          <a:p>
            <a:pPr>
              <a:defRPr sz="4275" b="0">
                <a:solidFill>
                  <a:srgbClr val="1E302F"/>
                </a:solidFill>
                <a:latin typeface="Segoe UI"/>
                <a:ea typeface="Segoe UI"/>
                <a:cs typeface="Segoe UI"/>
              </a:defRPr>
            </a:pPr>
            <a:r>
              <a:rPr sz="4275" b="0">
                <a:solidFill>
                  <a:srgbClr val="1E302F"/>
                </a:solidFill>
                <a:latin typeface="Segoe UI"/>
                <a:ea typeface="Segoe UI"/>
                <a:cs typeface="Segoe UI"/>
              </a:rPr>
              <a:t>with smaller models</a:t>
            </a:r>
          </a:p>
        </p:txBody>
      </p:sp>
      <p:sp>
        <p:nvSpPr>
          <p:cNvPr id="3" name="S01-subtitle">
            <a:extLst>
              <a:ext uri="{FF2B5EF4-FFF2-40B4-BE49-F238E27FC236}">
                <a16:creationId xmlns:a16="http://schemas.microsoft.com/office/drawing/2014/main" id="{7A4B8756-23EB-40E8-91F0-371575F490E6}"/>
              </a:ext>
            </a:extLst>
          </p:cNvPr>
          <p:cNvSpPr>
            <a:spLocks noGrp="1"/>
          </p:cNvSpPr>
          <p:nvPr/>
        </p:nvSpPr>
        <p:spPr>
          <a:xfrm>
            <a:off x="685800" y="3133725"/>
            <a:ext cx="10820400" cy="495300"/>
          </a:xfrm>
          <a:prstGeom prst="rect">
            <a:avLst/>
          </a:prstGeom>
          <a:noFill/>
          <a:ln w="0">
            <a:noFill/>
          </a:ln>
        </p:spPr>
        <p:txBody>
          <a:bodyPr wrap="none" lIns="0" tIns="0" rIns="0" bIns="0" anchor="ctr">
            <a:noAutofit/>
          </a:bodyPr>
          <a:lstStyle/>
          <a:p>
            <a:pPr>
              <a:defRPr sz="2175" b="0">
                <a:solidFill>
                  <a:srgbClr val="586C68"/>
                </a:solidFill>
                <a:latin typeface="Segoe UI"/>
                <a:ea typeface="Segoe UI"/>
                <a:cs typeface="Segoe UI"/>
              </a:defRPr>
            </a:pPr>
            <a:r>
              <a:rPr sz="2175" b="0">
                <a:solidFill>
                  <a:srgbClr val="586C68"/>
                </a:solidFill>
                <a:latin typeface="Segoe UI"/>
                <a:ea typeface="Segoe UI"/>
                <a:cs typeface="Segoe UI"/>
              </a:rPr>
              <a:t>Knowledge distillation and INT8 quantization</a:t>
            </a:r>
          </a:p>
        </p:txBody>
      </p:sp>
      <p:sp>
        <p:nvSpPr>
          <p:cNvPr id="4" name="S01-basis">
            <a:extLst>
              <a:ext uri="{FF2B5EF4-FFF2-40B4-BE49-F238E27FC236}">
                <a16:creationId xmlns:a16="http://schemas.microsoft.com/office/drawing/2014/main" id="{2873CBBE-1F0F-4820-96BC-7E6C00C02996}"/>
              </a:ext>
            </a:extLst>
          </p:cNvPr>
          <p:cNvSpPr>
            <a:spLocks noGrp="1"/>
          </p:cNvSpPr>
          <p:nvPr/>
        </p:nvSpPr>
        <p:spPr>
          <a:xfrm>
            <a:off x="685800" y="4105275"/>
            <a:ext cx="10820400" cy="342900"/>
          </a:xfrm>
          <a:prstGeom prst="rect">
            <a:avLst/>
          </a:prstGeom>
          <a:noFill/>
          <a:ln w="0">
            <a:noFill/>
          </a:ln>
        </p:spPr>
        <p:txBody>
          <a:bodyPr wrap="none" lIns="0" tIns="0" rIns="0" bIns="0" anchor="ctr">
            <a:noAutofit/>
          </a:bodyPr>
          <a:lstStyle/>
          <a:p>
            <a:pPr>
              <a:defRPr sz="1725" b="0">
                <a:solidFill>
                  <a:srgbClr val="586C68"/>
                </a:solidFill>
                <a:latin typeface="Segoe UI"/>
                <a:ea typeface="Segoe UI"/>
                <a:cs typeface="Segoe UI"/>
              </a:defRPr>
            </a:pPr>
            <a:r>
              <a:rPr sz="1725" b="0">
                <a:solidFill>
                  <a:srgbClr val="586C68"/>
                </a:solidFill>
                <a:latin typeface="Segoe UI"/>
                <a:ea typeface="Segoe UI"/>
                <a:cs typeface="Segoe UI"/>
              </a:rPr>
              <a:t>Baseline compared with INT8</a:t>
            </a:r>
          </a:p>
        </p:txBody>
      </p:sp>
      <p:sp>
        <p:nvSpPr>
          <p:cNvPr id="5" name="S01-value-1">
            <a:extLst>
              <a:ext uri="{FF2B5EF4-FFF2-40B4-BE49-F238E27FC236}">
                <a16:creationId xmlns:a16="http://schemas.microsoft.com/office/drawing/2014/main" id="{295A3C64-3346-4FA6-A502-45C5C3C59CC8}"/>
              </a:ext>
            </a:extLst>
          </p:cNvPr>
          <p:cNvSpPr>
            <a:spLocks noGrp="1"/>
          </p:cNvSpPr>
          <p:nvPr/>
        </p:nvSpPr>
        <p:spPr>
          <a:xfrm>
            <a:off x="685800" y="4619625"/>
            <a:ext cx="2952750" cy="628650"/>
          </a:xfrm>
          <a:prstGeom prst="rect">
            <a:avLst/>
          </a:prstGeom>
          <a:noFill/>
          <a:ln w="0">
            <a:noFill/>
          </a:ln>
        </p:spPr>
        <p:txBody>
          <a:bodyPr wrap="none" lIns="0" tIns="0" rIns="0" bIns="0" anchor="ctr">
            <a:noAutofit/>
          </a:bodyPr>
          <a:lstStyle/>
          <a:p>
            <a:pPr>
              <a:defRPr sz="3225" b="0">
                <a:solidFill>
                  <a:srgbClr val="1E302F"/>
                </a:solidFill>
                <a:latin typeface="Segoe UI"/>
                <a:ea typeface="Segoe UI"/>
                <a:cs typeface="Segoe UI"/>
              </a:defRPr>
            </a:pPr>
            <a:r>
              <a:rPr sz="3225" b="0">
                <a:solidFill>
                  <a:srgbClr val="1E302F"/>
                </a:solidFill>
                <a:latin typeface="Segoe UI"/>
                <a:ea typeface="Segoe UI"/>
                <a:cs typeface="Segoe UI"/>
              </a:rPr>
              <a:t>120 → 54</a:t>
            </a:r>
          </a:p>
        </p:txBody>
      </p:sp>
      <p:sp>
        <p:nvSpPr>
          <p:cNvPr id="6" name="S01-label-1">
            <a:extLst>
              <a:ext uri="{FF2B5EF4-FFF2-40B4-BE49-F238E27FC236}">
                <a16:creationId xmlns:a16="http://schemas.microsoft.com/office/drawing/2014/main" id="{EBFBEFFB-C1D3-4DEE-B7B8-7EC8A0FC27BD}"/>
              </a:ext>
            </a:extLst>
          </p:cNvPr>
          <p:cNvSpPr>
            <a:spLocks noGrp="1"/>
          </p:cNvSpPr>
          <p:nvPr/>
        </p:nvSpPr>
        <p:spPr>
          <a:xfrm>
            <a:off x="685800" y="5314950"/>
            <a:ext cx="3143250" cy="361950"/>
          </a:xfrm>
          <a:prstGeom prst="rect">
            <a:avLst/>
          </a:prstGeom>
          <a:noFill/>
          <a:ln w="0">
            <a:noFill/>
          </a:ln>
        </p:spPr>
        <p:txBody>
          <a:bodyPr wrap="none" lIns="0" tIns="0" rIns="0" bIns="0" anchor="ctr">
            <a:noAutofit/>
          </a:bodyPr>
          <a:lstStyle/>
          <a:p>
            <a:pPr>
              <a:defRPr sz="1800" b="0">
                <a:solidFill>
                  <a:srgbClr val="586C68"/>
                </a:solidFill>
                <a:latin typeface="Segoe UI"/>
                <a:ea typeface="Segoe UI"/>
                <a:cs typeface="Segoe UI"/>
              </a:defRPr>
            </a:pPr>
            <a:r>
              <a:rPr sz="1800" b="0">
                <a:solidFill>
                  <a:srgbClr val="586C68"/>
                </a:solidFill>
                <a:latin typeface="Segoe UI"/>
                <a:ea typeface="Segoe UI"/>
                <a:cs typeface="Segoe UI"/>
              </a:rPr>
              <a:t>Latency (ms)</a:t>
            </a:r>
          </a:p>
        </p:txBody>
      </p:sp>
      <p:sp>
        <p:nvSpPr>
          <p:cNvPr id="7" name="S01-value-2">
            <a:extLst>
              <a:ext uri="{FF2B5EF4-FFF2-40B4-BE49-F238E27FC236}">
                <a16:creationId xmlns:a16="http://schemas.microsoft.com/office/drawing/2014/main" id="{16A73283-4CC7-4F48-87F3-803DBD5C4C7F}"/>
              </a:ext>
            </a:extLst>
          </p:cNvPr>
          <p:cNvSpPr>
            <a:spLocks noGrp="1"/>
          </p:cNvSpPr>
          <p:nvPr/>
        </p:nvSpPr>
        <p:spPr>
          <a:xfrm>
            <a:off x="4419600" y="4619625"/>
            <a:ext cx="3810000" cy="628650"/>
          </a:xfrm>
          <a:prstGeom prst="rect">
            <a:avLst/>
          </a:prstGeom>
          <a:noFill/>
          <a:ln w="0">
            <a:noFill/>
          </a:ln>
        </p:spPr>
        <p:txBody>
          <a:bodyPr wrap="none" lIns="0" tIns="0" rIns="0" bIns="0" anchor="ctr">
            <a:noAutofit/>
          </a:bodyPr>
          <a:lstStyle/>
          <a:p>
            <a:pPr>
              <a:defRPr sz="3225" b="0">
                <a:solidFill>
                  <a:srgbClr val="1E302F"/>
                </a:solidFill>
                <a:latin typeface="Segoe UI"/>
                <a:ea typeface="Segoe UI"/>
                <a:cs typeface="Segoe UI"/>
              </a:defRPr>
            </a:pPr>
            <a:r>
              <a:rPr sz="3225" b="0">
                <a:solidFill>
                  <a:srgbClr val="1E302F"/>
                </a:solidFill>
                <a:latin typeface="Segoe UI"/>
                <a:ea typeface="Segoe UI"/>
                <a:cs typeface="Segoe UI"/>
              </a:rPr>
              <a:t>0.910 → 0.896</a:t>
            </a:r>
          </a:p>
        </p:txBody>
      </p:sp>
      <p:sp>
        <p:nvSpPr>
          <p:cNvPr id="8" name="S01-label-2">
            <a:extLst>
              <a:ext uri="{FF2B5EF4-FFF2-40B4-BE49-F238E27FC236}">
                <a16:creationId xmlns:a16="http://schemas.microsoft.com/office/drawing/2014/main" id="{729CC653-091B-44A5-A028-48A585C0C178}"/>
              </a:ext>
            </a:extLst>
          </p:cNvPr>
          <p:cNvSpPr>
            <a:spLocks noGrp="1"/>
          </p:cNvSpPr>
          <p:nvPr/>
        </p:nvSpPr>
        <p:spPr>
          <a:xfrm>
            <a:off x="4419600" y="5314950"/>
            <a:ext cx="3143250" cy="361950"/>
          </a:xfrm>
          <a:prstGeom prst="rect">
            <a:avLst/>
          </a:prstGeom>
          <a:noFill/>
          <a:ln w="0">
            <a:noFill/>
          </a:ln>
        </p:spPr>
        <p:txBody>
          <a:bodyPr wrap="none" lIns="0" tIns="0" rIns="0" bIns="0" anchor="ctr">
            <a:noAutofit/>
          </a:bodyPr>
          <a:lstStyle/>
          <a:p>
            <a:pPr>
              <a:defRPr sz="1800" b="0">
                <a:solidFill>
                  <a:srgbClr val="586C68"/>
                </a:solidFill>
                <a:latin typeface="Segoe UI"/>
                <a:ea typeface="Segoe UI"/>
                <a:cs typeface="Segoe UI"/>
              </a:defRPr>
            </a:pPr>
            <a:r>
              <a:rPr sz="1800" b="0">
                <a:solidFill>
                  <a:srgbClr val="586C68"/>
                </a:solidFill>
                <a:latin typeface="Segoe UI"/>
                <a:ea typeface="Segoe UI"/>
                <a:cs typeface="Segoe UI"/>
              </a:rPr>
              <a:t>F1</a:t>
            </a:r>
          </a:p>
        </p:txBody>
      </p:sp>
      <p:sp>
        <p:nvSpPr>
          <p:cNvPr id="9" name="S01-value-3">
            <a:extLst>
              <a:ext uri="{FF2B5EF4-FFF2-40B4-BE49-F238E27FC236}">
                <a16:creationId xmlns:a16="http://schemas.microsoft.com/office/drawing/2014/main" id="{F592BA26-D889-4153-99C9-91B55DF1C412}"/>
              </a:ext>
            </a:extLst>
          </p:cNvPr>
          <p:cNvSpPr>
            <a:spLocks noGrp="1"/>
          </p:cNvSpPr>
          <p:nvPr/>
        </p:nvSpPr>
        <p:spPr>
          <a:xfrm>
            <a:off x="8572500" y="4619625"/>
            <a:ext cx="2952750" cy="628650"/>
          </a:xfrm>
          <a:prstGeom prst="rect">
            <a:avLst/>
          </a:prstGeom>
          <a:noFill/>
          <a:ln w="0">
            <a:noFill/>
          </a:ln>
        </p:spPr>
        <p:txBody>
          <a:bodyPr wrap="none" lIns="0" tIns="0" rIns="0" bIns="0" anchor="ctr">
            <a:noAutofit/>
          </a:bodyPr>
          <a:lstStyle/>
          <a:p>
            <a:pPr>
              <a:defRPr sz="3225" b="0">
                <a:solidFill>
                  <a:srgbClr val="1E302F"/>
                </a:solidFill>
                <a:latin typeface="Segoe UI"/>
                <a:ea typeface="Segoe UI"/>
                <a:cs typeface="Segoe UI"/>
              </a:defRPr>
            </a:pPr>
            <a:r>
              <a:rPr sz="3225" b="0">
                <a:solidFill>
                  <a:srgbClr val="1E302F"/>
                </a:solidFill>
                <a:latin typeface="Segoe UI"/>
                <a:ea typeface="Segoe UI"/>
                <a:cs typeface="Segoe UI"/>
              </a:rPr>
              <a:t>48 → 12</a:t>
            </a:r>
          </a:p>
        </p:txBody>
      </p:sp>
      <p:sp>
        <p:nvSpPr>
          <p:cNvPr id="10" name="S01-label-3">
            <a:extLst>
              <a:ext uri="{FF2B5EF4-FFF2-40B4-BE49-F238E27FC236}">
                <a16:creationId xmlns:a16="http://schemas.microsoft.com/office/drawing/2014/main" id="{95A599DF-353D-42E0-9D56-5245DC7B8391}"/>
              </a:ext>
            </a:extLst>
          </p:cNvPr>
          <p:cNvSpPr>
            <a:spLocks noGrp="1"/>
          </p:cNvSpPr>
          <p:nvPr/>
        </p:nvSpPr>
        <p:spPr>
          <a:xfrm>
            <a:off x="8572500" y="5314950"/>
            <a:ext cx="3143250" cy="361950"/>
          </a:xfrm>
          <a:prstGeom prst="rect">
            <a:avLst/>
          </a:prstGeom>
          <a:noFill/>
          <a:ln w="0">
            <a:noFill/>
          </a:ln>
        </p:spPr>
        <p:txBody>
          <a:bodyPr wrap="none" lIns="0" tIns="0" rIns="0" bIns="0" anchor="ctr">
            <a:noAutofit/>
          </a:bodyPr>
          <a:lstStyle/>
          <a:p>
            <a:pPr>
              <a:defRPr sz="1800" b="0">
                <a:solidFill>
                  <a:srgbClr val="586C68"/>
                </a:solidFill>
                <a:latin typeface="Segoe UI"/>
                <a:ea typeface="Segoe UI"/>
                <a:cs typeface="Segoe UI"/>
              </a:defRPr>
            </a:pPr>
            <a:r>
              <a:rPr sz="1800" b="0">
                <a:solidFill>
                  <a:srgbClr val="586C68"/>
                </a:solidFill>
                <a:latin typeface="Segoe UI"/>
                <a:ea typeface="Segoe UI"/>
                <a:cs typeface="Segoe UI"/>
              </a:rPr>
              <a:t>Model size (MB)</a:t>
            </a:r>
          </a:p>
        </p:txBody>
      </p:sp>
      <p:sp>
        <p:nvSpPr>
          <p:cNvPr id="11" name="S01-disclosure">
            <a:extLst>
              <a:ext uri="{FF2B5EF4-FFF2-40B4-BE49-F238E27FC236}">
                <a16:creationId xmlns:a16="http://schemas.microsoft.com/office/drawing/2014/main" id="{DFF9007E-EFA7-42DB-BE04-E78D98B57CC9}"/>
              </a:ext>
            </a:extLst>
          </p:cNvPr>
          <p:cNvSpPr>
            <a:spLocks noGrp="1"/>
          </p:cNvSpPr>
          <p:nvPr/>
        </p:nvSpPr>
        <p:spPr>
          <a:xfrm>
            <a:off x="685800" y="6372225"/>
            <a:ext cx="9525000" cy="219075"/>
          </a:xfrm>
          <a:prstGeom prst="rect">
            <a:avLst/>
          </a:prstGeom>
          <a:noFill/>
          <a:ln w="0">
            <a:noFill/>
          </a:ln>
        </p:spPr>
        <p:txBody>
          <a:bodyPr wrap="none" lIns="0" tIns="0" rIns="0" bIns="0" anchor="ctr">
            <a:noAutofit/>
          </a:bodyPr>
          <a:lstStyle/>
          <a:p>
            <a:pPr>
              <a:defRPr sz="1275" b="0">
                <a:solidFill>
                  <a:srgbClr val="586C68"/>
                </a:solidFill>
                <a:latin typeface="Segoe UI"/>
                <a:ea typeface="Segoe UI"/>
                <a:cs typeface="Segoe UI"/>
              </a:defRPr>
            </a:pPr>
            <a:r>
              <a:rPr sz="1275" b="0">
                <a:solidFill>
                  <a:srgbClr val="586C68"/>
                </a:solidFill>
                <a:latin typeface="Segoe UI"/>
                <a:ea typeface="Segoe UI"/>
                <a:cs typeface="Segoe UI"/>
              </a:rPr>
              <a:t>Illustrative data · not experimental results</a:t>
            </a:r>
          </a:p>
        </p:txBody>
      </p:sp>
      <p:sp>
        <p:nvSpPr>
          <p:cNvPr id="12" name="S01-number">
            <a:extLst>
              <a:ext uri="{FF2B5EF4-FFF2-40B4-BE49-F238E27FC236}">
                <a16:creationId xmlns:a16="http://schemas.microsoft.com/office/drawing/2014/main" id="{EEC9B55A-5E3F-4C8F-BEF1-115C002FB54B}"/>
              </a:ext>
            </a:extLst>
          </p:cNvPr>
          <p:cNvSpPr>
            <a:spLocks noGrp="1"/>
          </p:cNvSpPr>
          <p:nvPr/>
        </p:nvSpPr>
        <p:spPr>
          <a:xfrm>
            <a:off x="11144250" y="6372225"/>
            <a:ext cx="361950" cy="219075"/>
          </a:xfrm>
          <a:prstGeom prst="rect">
            <a:avLst/>
          </a:prstGeom>
          <a:noFill/>
          <a:ln w="0">
            <a:noFill/>
          </a:ln>
        </p:spPr>
        <p:txBody>
          <a:bodyPr wrap="none" lIns="0" tIns="0" rIns="0" bIns="0" anchor="ctr">
            <a:noAutofit/>
          </a:bodyPr>
          <a:lstStyle/>
          <a:p>
            <a:pPr>
              <a:defRPr sz="1275" b="0">
                <a:solidFill>
                  <a:srgbClr val="586C68"/>
                </a:solidFill>
                <a:latin typeface="Segoe UI"/>
                <a:ea typeface="Segoe UI"/>
                <a:cs typeface="Segoe UI"/>
              </a:defRPr>
            </a:pPr>
            <a:r>
              <a:rPr sz="1275" b="0">
                <a:solidFill>
                  <a:srgbClr val="586C68"/>
                </a:solidFill>
                <a:latin typeface="Segoe UI"/>
                <a:ea typeface="Segoe UI"/>
                <a:cs typeface="Segoe UI"/>
              </a:rPr>
              <a:t>01</a:t>
            </a:r>
          </a:p>
        </p:txBody>
      </p:sp>
    </p:spTree>
    <p:extLst>
      <p:ext uri="{BB962C8B-B14F-4D97-AF65-F5344CB8AC3E}">
        <p14:creationId xmlns:p14="http://schemas.microsoft.com/office/powerpoint/2010/main" val="61200550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6F4EE"/>
        </a:solidFill>
        <a:effectLst/>
      </p:bgPr>
    </p:bg>
    <p:spTree>
      <p:nvGrpSpPr>
        <p:cNvPr id="1" name=""/>
        <p:cNvGrpSpPr/>
        <p:nvPr/>
      </p:nvGrpSpPr>
      <p:grpSpPr>
        <a:xfrm>
          <a:off x="0" y="0"/>
          <a:ext cx="0" cy="0"/>
          <a:chOff x="0" y="0"/>
          <a:chExt cx="0" cy="0"/>
        </a:xfrm>
      </p:grpSpPr>
      <p:sp>
        <p:nvSpPr>
          <p:cNvPr id="21" name="S02-title">
            <a:extLst>
              <a:ext uri="{FF2B5EF4-FFF2-40B4-BE49-F238E27FC236}">
                <a16:creationId xmlns:a16="http://schemas.microsoft.com/office/drawing/2014/main" id="{CF9B9C6A-E02D-4CA3-AEF1-A426334290F4}"/>
              </a:ext>
            </a:extLst>
          </p:cNvPr>
          <p:cNvSpPr>
            <a:spLocks noGrp="1"/>
          </p:cNvSpPr>
          <p:nvPr/>
        </p:nvSpPr>
        <p:spPr>
          <a:xfrm>
            <a:off x="685800" y="895350"/>
            <a:ext cx="10820400" cy="666750"/>
          </a:xfrm>
          <a:prstGeom prst="rect">
            <a:avLst/>
          </a:prstGeom>
          <a:noFill/>
          <a:ln w="0">
            <a:noFill/>
          </a:ln>
        </p:spPr>
        <p:txBody>
          <a:bodyPr wrap="none" lIns="0" tIns="0" rIns="0" bIns="0" anchor="ctr">
            <a:noAutofit/>
          </a:bodyPr>
          <a:lstStyle/>
          <a:p>
            <a:pPr>
              <a:defRPr sz="3225" b="0">
                <a:solidFill>
                  <a:srgbClr val="1E302F"/>
                </a:solidFill>
                <a:latin typeface="Segoe UI"/>
                <a:ea typeface="Segoe UI"/>
                <a:cs typeface="Segoe UI"/>
              </a:defRPr>
            </a:pPr>
            <a:r>
              <a:rPr sz="3225" b="0">
                <a:solidFill>
                  <a:srgbClr val="1E302F"/>
                </a:solidFill>
                <a:latin typeface="Segoe UI"/>
                <a:ea typeface="Segoe UI"/>
                <a:cs typeface="Segoe UI"/>
              </a:rPr>
              <a:t>Model states and compression steps</a:t>
            </a:r>
          </a:p>
        </p:txBody>
      </p:sp>
      <p:sp>
        <p:nvSpPr>
          <p:cNvPr id="2" name="S02-disclosure">
            <a:extLst>
              <a:ext uri="{FF2B5EF4-FFF2-40B4-BE49-F238E27FC236}">
                <a16:creationId xmlns:a16="http://schemas.microsoft.com/office/drawing/2014/main" id="{8044D044-51B9-422C-ADC4-E290AFFF6F6B}"/>
              </a:ext>
            </a:extLst>
          </p:cNvPr>
          <p:cNvSpPr>
            <a:spLocks noGrp="1"/>
          </p:cNvSpPr>
          <p:nvPr/>
        </p:nvSpPr>
        <p:spPr>
          <a:xfrm>
            <a:off x="685800" y="6372225"/>
            <a:ext cx="9525000" cy="219075"/>
          </a:xfrm>
          <a:prstGeom prst="rect">
            <a:avLst/>
          </a:prstGeom>
          <a:noFill/>
          <a:ln w="0">
            <a:noFill/>
          </a:ln>
        </p:spPr>
        <p:txBody>
          <a:bodyPr wrap="none" lIns="0" tIns="0" rIns="0" bIns="0" anchor="ctr">
            <a:noAutofit/>
          </a:bodyPr>
          <a:lstStyle/>
          <a:p>
            <a:pPr>
              <a:defRPr sz="1275" b="0">
                <a:solidFill>
                  <a:srgbClr val="586C68"/>
                </a:solidFill>
                <a:latin typeface="Segoe UI"/>
                <a:ea typeface="Segoe UI"/>
                <a:cs typeface="Segoe UI"/>
              </a:defRPr>
            </a:pPr>
            <a:r>
              <a:rPr sz="1275" b="0">
                <a:solidFill>
                  <a:srgbClr val="586C68"/>
                </a:solidFill>
                <a:latin typeface="Segoe UI"/>
                <a:ea typeface="Segoe UI"/>
                <a:cs typeface="Segoe UI"/>
              </a:rPr>
              <a:t>Illustrative data · not experimental results</a:t>
            </a:r>
          </a:p>
        </p:txBody>
      </p:sp>
      <p:sp>
        <p:nvSpPr>
          <p:cNvPr id="3" name="S02-number">
            <a:extLst>
              <a:ext uri="{FF2B5EF4-FFF2-40B4-BE49-F238E27FC236}">
                <a16:creationId xmlns:a16="http://schemas.microsoft.com/office/drawing/2014/main" id="{A928C312-CE69-49D3-9B5A-B53A5B76A4E4}"/>
              </a:ext>
            </a:extLst>
          </p:cNvPr>
          <p:cNvSpPr>
            <a:spLocks noGrp="1"/>
          </p:cNvSpPr>
          <p:nvPr/>
        </p:nvSpPr>
        <p:spPr>
          <a:xfrm>
            <a:off x="11144250" y="6372225"/>
            <a:ext cx="361950" cy="219075"/>
          </a:xfrm>
          <a:prstGeom prst="rect">
            <a:avLst/>
          </a:prstGeom>
          <a:noFill/>
          <a:ln w="0">
            <a:noFill/>
          </a:ln>
        </p:spPr>
        <p:txBody>
          <a:bodyPr wrap="none" lIns="0" tIns="0" rIns="0" bIns="0" anchor="ctr">
            <a:noAutofit/>
          </a:bodyPr>
          <a:lstStyle/>
          <a:p>
            <a:pPr>
              <a:defRPr sz="1275" b="0">
                <a:solidFill>
                  <a:srgbClr val="586C68"/>
                </a:solidFill>
                <a:latin typeface="Segoe UI"/>
                <a:ea typeface="Segoe UI"/>
                <a:cs typeface="Segoe UI"/>
              </a:defRPr>
            </a:pPr>
            <a:r>
              <a:rPr sz="1275" b="0">
                <a:solidFill>
                  <a:srgbClr val="586C68"/>
                </a:solidFill>
                <a:latin typeface="Segoe UI"/>
                <a:ea typeface="Segoe UI"/>
                <a:cs typeface="Segoe UI"/>
              </a:rPr>
              <a:t>02</a:t>
            </a:r>
          </a:p>
        </p:txBody>
      </p:sp>
      <p:sp>
        <p:nvSpPr>
          <p:cNvPr id="4" name="S02-marker-1">
            <a:extLst>
              <a:ext uri="{FF2B5EF4-FFF2-40B4-BE49-F238E27FC236}">
                <a16:creationId xmlns:a16="http://schemas.microsoft.com/office/drawing/2014/main" id="{10E9B863-F42B-43DC-84F3-52620772A672}"/>
              </a:ext>
            </a:extLst>
          </p:cNvPr>
          <p:cNvSpPr>
            <a:spLocks noGrp="1"/>
          </p:cNvSpPr>
          <p:nvPr/>
        </p:nvSpPr>
        <p:spPr>
          <a:xfrm>
            <a:off x="685800" y="2333625"/>
            <a:ext cx="533400" cy="533400"/>
          </a:xfrm>
          <a:prstGeom prst="ellipse">
            <a:avLst/>
          </a:prstGeom>
          <a:solidFill>
            <a:srgbClr val="E8EDE5"/>
          </a:solidFill>
          <a:ln w="0">
            <a:noFill/>
          </a:ln>
        </p:spPr>
        <p:txBody>
          <a:bodyPr lIns="0" tIns="0" rIns="0" bIns="0" anchor="ctr"/>
          <a:lstStyle/>
          <a:p>
            <a:pPr algn="ctr">
              <a:defRPr sz="1650">
                <a:solidFill>
                  <a:srgbClr val="287D78"/>
                </a:solidFill>
                <a:latin typeface="Segoe UI"/>
                <a:ea typeface="Segoe UI"/>
                <a:cs typeface="Segoe UI"/>
              </a:defRPr>
            </a:pPr>
            <a:r>
              <a:rPr sz="1650">
                <a:solidFill>
                  <a:srgbClr val="287D78"/>
                </a:solidFill>
                <a:latin typeface="Segoe UI"/>
                <a:ea typeface="Segoe UI"/>
                <a:cs typeface="Segoe UI"/>
              </a:rPr>
              <a:t>01</a:t>
            </a:r>
          </a:p>
        </p:txBody>
      </p:sp>
      <p:sp>
        <p:nvSpPr>
          <p:cNvPr id="5" name="S02-marker-2">
            <a:extLst>
              <a:ext uri="{FF2B5EF4-FFF2-40B4-BE49-F238E27FC236}">
                <a16:creationId xmlns:a16="http://schemas.microsoft.com/office/drawing/2014/main" id="{8AD87FB6-4FB9-439B-9564-F455B4A48EAB}"/>
              </a:ext>
            </a:extLst>
          </p:cNvPr>
          <p:cNvSpPr>
            <a:spLocks noGrp="1"/>
          </p:cNvSpPr>
          <p:nvPr/>
        </p:nvSpPr>
        <p:spPr>
          <a:xfrm>
            <a:off x="4648200" y="2333625"/>
            <a:ext cx="533400" cy="533400"/>
          </a:xfrm>
          <a:prstGeom prst="ellipse">
            <a:avLst/>
          </a:prstGeom>
          <a:solidFill>
            <a:srgbClr val="E8EDE5"/>
          </a:solidFill>
          <a:ln w="0">
            <a:noFill/>
          </a:ln>
        </p:spPr>
        <p:txBody>
          <a:bodyPr lIns="0" tIns="0" rIns="0" bIns="0" anchor="ctr"/>
          <a:lstStyle/>
          <a:p>
            <a:pPr algn="ctr">
              <a:defRPr sz="1650">
                <a:solidFill>
                  <a:srgbClr val="287D78"/>
                </a:solidFill>
                <a:latin typeface="Segoe UI"/>
                <a:ea typeface="Segoe UI"/>
                <a:cs typeface="Segoe UI"/>
              </a:defRPr>
            </a:pPr>
            <a:r>
              <a:rPr sz="1650">
                <a:solidFill>
                  <a:srgbClr val="287D78"/>
                </a:solidFill>
                <a:latin typeface="Segoe UI"/>
                <a:ea typeface="Segoe UI"/>
                <a:cs typeface="Segoe UI"/>
              </a:rPr>
              <a:t>02</a:t>
            </a:r>
          </a:p>
        </p:txBody>
      </p:sp>
      <p:sp>
        <p:nvSpPr>
          <p:cNvPr id="6" name="S02-marker-3">
            <a:extLst>
              <a:ext uri="{FF2B5EF4-FFF2-40B4-BE49-F238E27FC236}">
                <a16:creationId xmlns:a16="http://schemas.microsoft.com/office/drawing/2014/main" id="{C001C507-8BD2-49F8-8146-F4911000A5A0}"/>
              </a:ext>
            </a:extLst>
          </p:cNvPr>
          <p:cNvSpPr>
            <a:spLocks noGrp="1"/>
          </p:cNvSpPr>
          <p:nvPr/>
        </p:nvSpPr>
        <p:spPr>
          <a:xfrm>
            <a:off x="8610600" y="2333625"/>
            <a:ext cx="533400" cy="533400"/>
          </a:xfrm>
          <a:prstGeom prst="ellipse">
            <a:avLst/>
          </a:prstGeom>
          <a:solidFill>
            <a:srgbClr val="287D78"/>
          </a:solidFill>
          <a:ln w="0">
            <a:noFill/>
          </a:ln>
        </p:spPr>
        <p:txBody>
          <a:bodyPr lIns="0" tIns="0" rIns="0" bIns="0" anchor="ctr"/>
          <a:lstStyle/>
          <a:p>
            <a:pPr algn="ctr">
              <a:defRPr sz="1650">
                <a:solidFill>
                  <a:srgbClr val="FFFFFF"/>
                </a:solidFill>
                <a:latin typeface="Segoe UI"/>
                <a:ea typeface="Segoe UI"/>
                <a:cs typeface="Segoe UI"/>
              </a:defRPr>
            </a:pPr>
            <a:r>
              <a:rPr sz="1650">
                <a:solidFill>
                  <a:srgbClr val="FFFFFF"/>
                </a:solidFill>
                <a:latin typeface="Segoe UI"/>
                <a:ea typeface="Segoe UI"/>
                <a:cs typeface="Segoe UI"/>
              </a:rPr>
              <a:t>03</a:t>
            </a:r>
          </a:p>
        </p:txBody>
      </p:sp>
      <p:cxnSp>
        <p:nvCxnSpPr>
          <p:cNvPr id="27" name="S02-link-2"/>
          <p:cNvCxnSpPr>
            <a:stCxn id="4" idx="6"/>
            <a:endCxn id="5" idx="2"/>
          </p:cNvCxnSpPr>
          <p:nvPr/>
        </p:nvCxnSpPr>
        <p:spPr>
          <a:xfrm>
            <a:off x="1219200" y="2600325"/>
            <a:ext cx="3429000" cy="0"/>
          </a:xfrm>
          <a:prstGeom prst="straightConnector1">
            <a:avLst/>
          </a:prstGeom>
          <a:ln w="17145">
            <a:solidFill>
              <a:srgbClr val="9EADA5"/>
            </a:solidFill>
            <a:tailEnd type="triangle" w="sm" len="sm"/>
          </a:ln>
        </p:spPr>
      </p:cxnSp>
      <p:cxnSp>
        <p:nvCxnSpPr>
          <p:cNvPr id="28" name="S02-link-3"/>
          <p:cNvCxnSpPr>
            <a:stCxn id="5" idx="6"/>
            <a:endCxn id="6" idx="2"/>
          </p:cNvCxnSpPr>
          <p:nvPr/>
        </p:nvCxnSpPr>
        <p:spPr>
          <a:xfrm>
            <a:off x="5181600" y="2600325"/>
            <a:ext cx="3429000" cy="0"/>
          </a:xfrm>
          <a:prstGeom prst="straightConnector1">
            <a:avLst/>
          </a:prstGeom>
          <a:ln w="17145">
            <a:solidFill>
              <a:srgbClr val="9EADA5"/>
            </a:solidFill>
            <a:tailEnd type="triangle" w="sm" len="sm"/>
          </a:ln>
        </p:spPr>
      </p:cxnSp>
      <p:sp>
        <p:nvSpPr>
          <p:cNvPr id="9" name="S02-flow-2">
            <a:extLst>
              <a:ext uri="{FF2B5EF4-FFF2-40B4-BE49-F238E27FC236}">
                <a16:creationId xmlns:a16="http://schemas.microsoft.com/office/drawing/2014/main" id="{3704B231-8F02-49A2-8FE9-040F3058EF8C}"/>
              </a:ext>
            </a:extLst>
          </p:cNvPr>
          <p:cNvSpPr>
            <a:spLocks noGrp="1"/>
          </p:cNvSpPr>
          <p:nvPr/>
        </p:nvSpPr>
        <p:spPr>
          <a:xfrm>
            <a:off x="1466850" y="2076450"/>
            <a:ext cx="2971800" cy="352425"/>
          </a:xfrm>
          <a:prstGeom prst="rect">
            <a:avLst/>
          </a:prstGeom>
          <a:noFill/>
          <a:ln w="0">
            <a:noFill/>
          </a:ln>
        </p:spPr>
        <p:txBody>
          <a:bodyPr wrap="none" lIns="0" tIns="0" rIns="0" bIns="0" anchor="ctr">
            <a:noAutofit/>
          </a:bodyPr>
          <a:lstStyle/>
          <a:p>
            <a:pPr>
              <a:defRPr sz="1575" b="0">
                <a:solidFill>
                  <a:srgbClr val="586C68"/>
                </a:solidFill>
                <a:latin typeface="Segoe UI"/>
                <a:ea typeface="Segoe UI"/>
                <a:cs typeface="Segoe UI"/>
              </a:defRPr>
            </a:pPr>
            <a:r>
              <a:rPr sz="1575" b="0">
                <a:solidFill>
                  <a:srgbClr val="586C68"/>
                </a:solidFill>
                <a:latin typeface="Segoe UI"/>
                <a:ea typeface="Segoe UI"/>
                <a:cs typeface="Segoe UI"/>
              </a:rPr>
              <a:t>Knowledge distillation</a:t>
            </a:r>
          </a:p>
        </p:txBody>
      </p:sp>
      <p:sp>
        <p:nvSpPr>
          <p:cNvPr id="10" name="S02-flow-3">
            <a:extLst>
              <a:ext uri="{FF2B5EF4-FFF2-40B4-BE49-F238E27FC236}">
                <a16:creationId xmlns:a16="http://schemas.microsoft.com/office/drawing/2014/main" id="{CF9684AC-1473-4EA1-B9F5-3627FA976239}"/>
              </a:ext>
            </a:extLst>
          </p:cNvPr>
          <p:cNvSpPr>
            <a:spLocks noGrp="1"/>
          </p:cNvSpPr>
          <p:nvPr/>
        </p:nvSpPr>
        <p:spPr>
          <a:xfrm>
            <a:off x="5429250" y="2076450"/>
            <a:ext cx="2971800" cy="352425"/>
          </a:xfrm>
          <a:prstGeom prst="rect">
            <a:avLst/>
          </a:prstGeom>
          <a:noFill/>
          <a:ln w="0">
            <a:noFill/>
          </a:ln>
        </p:spPr>
        <p:txBody>
          <a:bodyPr wrap="none" lIns="0" tIns="0" rIns="0" bIns="0" anchor="ctr">
            <a:noAutofit/>
          </a:bodyPr>
          <a:lstStyle/>
          <a:p>
            <a:pPr>
              <a:defRPr sz="1575" b="0">
                <a:solidFill>
                  <a:srgbClr val="586C68"/>
                </a:solidFill>
                <a:latin typeface="Segoe UI"/>
                <a:ea typeface="Segoe UI"/>
                <a:cs typeface="Segoe UI"/>
              </a:defRPr>
            </a:pPr>
            <a:r>
              <a:rPr sz="1575" b="0">
                <a:solidFill>
                  <a:srgbClr val="586C68"/>
                </a:solidFill>
                <a:latin typeface="Segoe UI"/>
                <a:ea typeface="Segoe UI"/>
                <a:cs typeface="Segoe UI"/>
              </a:rPr>
              <a:t>INT8 quantization</a:t>
            </a:r>
          </a:p>
        </p:txBody>
      </p:sp>
      <p:sp>
        <p:nvSpPr>
          <p:cNvPr id="11" name="S02-stage-1">
            <a:extLst>
              <a:ext uri="{FF2B5EF4-FFF2-40B4-BE49-F238E27FC236}">
                <a16:creationId xmlns:a16="http://schemas.microsoft.com/office/drawing/2014/main" id="{574D80A0-4E2E-413A-B157-8A93FDA0FB3D}"/>
              </a:ext>
            </a:extLst>
          </p:cNvPr>
          <p:cNvSpPr>
            <a:spLocks noGrp="1"/>
          </p:cNvSpPr>
          <p:nvPr/>
        </p:nvSpPr>
        <p:spPr>
          <a:xfrm>
            <a:off x="685800" y="3152775"/>
            <a:ext cx="3181350" cy="457200"/>
          </a:xfrm>
          <a:prstGeom prst="rect">
            <a:avLst/>
          </a:prstGeom>
          <a:noFill/>
          <a:ln w="0">
            <a:noFill/>
          </a:ln>
        </p:spPr>
        <p:txBody>
          <a:bodyPr wrap="none" lIns="0" tIns="0" rIns="0" bIns="0" anchor="ctr">
            <a:noAutofit/>
          </a:bodyPr>
          <a:lstStyle/>
          <a:p>
            <a:pPr>
              <a:defRPr sz="2250" b="0">
                <a:solidFill>
                  <a:srgbClr val="1E302F"/>
                </a:solidFill>
                <a:latin typeface="Segoe UI"/>
                <a:ea typeface="Segoe UI"/>
                <a:cs typeface="Segoe UI"/>
              </a:defRPr>
            </a:pPr>
            <a:r>
              <a:rPr sz="2250" b="0">
                <a:solidFill>
                  <a:srgbClr val="1E302F"/>
                </a:solidFill>
                <a:latin typeface="Segoe UI"/>
                <a:ea typeface="Segoe UI"/>
                <a:cs typeface="Segoe UI"/>
              </a:rPr>
              <a:t>Teacher model</a:t>
            </a:r>
          </a:p>
        </p:txBody>
      </p:sp>
      <p:sp>
        <p:nvSpPr>
          <p:cNvPr id="12" name="S02-name-1">
            <a:extLst>
              <a:ext uri="{FF2B5EF4-FFF2-40B4-BE49-F238E27FC236}">
                <a16:creationId xmlns:a16="http://schemas.microsoft.com/office/drawing/2014/main" id="{57A2D65F-AFD6-4FE7-9345-862BCC2D3B35}"/>
              </a:ext>
            </a:extLst>
          </p:cNvPr>
          <p:cNvSpPr>
            <a:spLocks noGrp="1"/>
          </p:cNvSpPr>
          <p:nvPr/>
        </p:nvSpPr>
        <p:spPr>
          <a:xfrm>
            <a:off x="685800" y="3724275"/>
            <a:ext cx="3095625" cy="304800"/>
          </a:xfrm>
          <a:prstGeom prst="rect">
            <a:avLst/>
          </a:prstGeom>
          <a:noFill/>
          <a:ln w="0">
            <a:noFill/>
          </a:ln>
        </p:spPr>
        <p:txBody>
          <a:bodyPr wrap="none" lIns="0" tIns="0" rIns="0" bIns="0" anchor="ctr">
            <a:noAutofit/>
          </a:bodyPr>
          <a:lstStyle/>
          <a:p>
            <a:pPr>
              <a:defRPr sz="1575" b="0">
                <a:solidFill>
                  <a:srgbClr val="287D78"/>
                </a:solidFill>
                <a:latin typeface="Segoe UI"/>
                <a:ea typeface="Segoe UI"/>
                <a:cs typeface="Segoe UI"/>
              </a:defRPr>
            </a:pPr>
            <a:r>
              <a:rPr sz="1575" b="0">
                <a:solidFill>
                  <a:srgbClr val="287D78"/>
                </a:solidFill>
                <a:latin typeface="Segoe UI"/>
                <a:ea typeface="Segoe UI"/>
                <a:cs typeface="Segoe UI"/>
              </a:rPr>
              <a:t>baseline</a:t>
            </a:r>
          </a:p>
        </p:txBody>
      </p:sp>
      <p:sp>
        <p:nvSpPr>
          <p:cNvPr id="13" name="S02-detail-1">
            <a:extLst>
              <a:ext uri="{FF2B5EF4-FFF2-40B4-BE49-F238E27FC236}">
                <a16:creationId xmlns:a16="http://schemas.microsoft.com/office/drawing/2014/main" id="{0FA1038E-FF2B-4C5E-A76C-80AE52B2910A}"/>
              </a:ext>
            </a:extLst>
          </p:cNvPr>
          <p:cNvSpPr>
            <a:spLocks noGrp="1"/>
          </p:cNvSpPr>
          <p:nvPr/>
        </p:nvSpPr>
        <p:spPr>
          <a:xfrm>
            <a:off x="685800" y="4295775"/>
            <a:ext cx="3181350" cy="771525"/>
          </a:xfrm>
          <a:prstGeom prst="rect">
            <a:avLst/>
          </a:prstGeom>
          <a:noFill/>
          <a:ln w="0">
            <a:noFill/>
          </a:ln>
        </p:spPr>
        <p:txBody>
          <a:bodyPr wrap="none" lIns="0" tIns="0" rIns="0" bIns="0" anchor="ctr">
            <a:noAutofit/>
          </a:bodyPr>
          <a:lstStyle/>
          <a:p>
            <a:pPr>
              <a:defRPr sz="1800" b="0">
                <a:solidFill>
                  <a:srgbClr val="586C68"/>
                </a:solidFill>
                <a:latin typeface="Segoe UI"/>
                <a:ea typeface="Segoe UI"/>
                <a:cs typeface="Segoe UI"/>
              </a:defRPr>
            </a:pPr>
            <a:r>
              <a:rPr sz="1800" b="0">
                <a:solidFill>
                  <a:srgbClr val="586C68"/>
                </a:solidFill>
                <a:latin typeface="Segoe UI"/>
                <a:ea typeface="Segoe UI"/>
                <a:cs typeface="Segoe UI"/>
              </a:rPr>
              <a:t>The reference model</a:t>
            </a:r>
          </a:p>
          <a:p>
            <a:pPr>
              <a:defRPr sz="1800" b="0">
                <a:solidFill>
                  <a:srgbClr val="586C68"/>
                </a:solidFill>
                <a:latin typeface="Segoe UI"/>
                <a:ea typeface="Segoe UI"/>
                <a:cs typeface="Segoe UI"/>
              </a:defRPr>
            </a:pPr>
            <a:r>
              <a:rPr sz="1800" b="0">
                <a:solidFill>
                  <a:srgbClr val="586C68"/>
                </a:solidFill>
                <a:latin typeface="Segoe UI"/>
                <a:ea typeface="Segoe UI"/>
                <a:cs typeface="Segoe UI"/>
              </a:rPr>
              <a:t>serves as the teacher.</a:t>
            </a:r>
          </a:p>
        </p:txBody>
      </p:sp>
      <p:sp>
        <p:nvSpPr>
          <p:cNvPr id="14" name="S02-stage-2">
            <a:extLst>
              <a:ext uri="{FF2B5EF4-FFF2-40B4-BE49-F238E27FC236}">
                <a16:creationId xmlns:a16="http://schemas.microsoft.com/office/drawing/2014/main" id="{83B69A53-8C5F-4DF5-8FBC-D802B0AE4A0F}"/>
              </a:ext>
            </a:extLst>
          </p:cNvPr>
          <p:cNvSpPr>
            <a:spLocks noGrp="1"/>
          </p:cNvSpPr>
          <p:nvPr/>
        </p:nvSpPr>
        <p:spPr>
          <a:xfrm>
            <a:off x="4648200" y="3152775"/>
            <a:ext cx="3181350" cy="457200"/>
          </a:xfrm>
          <a:prstGeom prst="rect">
            <a:avLst/>
          </a:prstGeom>
          <a:noFill/>
          <a:ln w="0">
            <a:noFill/>
          </a:ln>
        </p:spPr>
        <p:txBody>
          <a:bodyPr wrap="none" lIns="0" tIns="0" rIns="0" bIns="0" anchor="ctr">
            <a:noAutofit/>
          </a:bodyPr>
          <a:lstStyle/>
          <a:p>
            <a:pPr>
              <a:defRPr sz="2250" b="0">
                <a:solidFill>
                  <a:srgbClr val="1E302F"/>
                </a:solidFill>
                <a:latin typeface="Segoe UI"/>
                <a:ea typeface="Segoe UI"/>
                <a:cs typeface="Segoe UI"/>
              </a:defRPr>
            </a:pPr>
            <a:r>
              <a:rPr sz="2250" b="0">
                <a:solidFill>
                  <a:srgbClr val="1E302F"/>
                </a:solidFill>
                <a:latin typeface="Segoe UI"/>
                <a:ea typeface="Segoe UI"/>
                <a:cs typeface="Segoe UI"/>
              </a:rPr>
              <a:t>Student model</a:t>
            </a:r>
          </a:p>
        </p:txBody>
      </p:sp>
      <p:sp>
        <p:nvSpPr>
          <p:cNvPr id="15" name="S02-name-2">
            <a:extLst>
              <a:ext uri="{FF2B5EF4-FFF2-40B4-BE49-F238E27FC236}">
                <a16:creationId xmlns:a16="http://schemas.microsoft.com/office/drawing/2014/main" id="{633B045A-B0D5-418B-B662-03C4B84871B7}"/>
              </a:ext>
            </a:extLst>
          </p:cNvPr>
          <p:cNvSpPr>
            <a:spLocks noGrp="1"/>
          </p:cNvSpPr>
          <p:nvPr/>
        </p:nvSpPr>
        <p:spPr>
          <a:xfrm>
            <a:off x="4648200" y="3724275"/>
            <a:ext cx="3095625" cy="304800"/>
          </a:xfrm>
          <a:prstGeom prst="rect">
            <a:avLst/>
          </a:prstGeom>
          <a:noFill/>
          <a:ln w="0">
            <a:noFill/>
          </a:ln>
        </p:spPr>
        <p:txBody>
          <a:bodyPr wrap="none" lIns="0" tIns="0" rIns="0" bIns="0" anchor="ctr">
            <a:noAutofit/>
          </a:bodyPr>
          <a:lstStyle/>
          <a:p>
            <a:pPr>
              <a:defRPr sz="1575" b="0">
                <a:solidFill>
                  <a:srgbClr val="287D78"/>
                </a:solidFill>
                <a:latin typeface="Segoe UI"/>
                <a:ea typeface="Segoe UI"/>
                <a:cs typeface="Segoe UI"/>
              </a:defRPr>
            </a:pPr>
            <a:r>
              <a:rPr sz="1575" b="0">
                <a:solidFill>
                  <a:srgbClr val="287D78"/>
                </a:solidFill>
                <a:latin typeface="Segoe UI"/>
                <a:ea typeface="Segoe UI"/>
                <a:cs typeface="Segoe UI"/>
              </a:rPr>
              <a:t>distilled</a:t>
            </a:r>
          </a:p>
        </p:txBody>
      </p:sp>
      <p:sp>
        <p:nvSpPr>
          <p:cNvPr id="16" name="S02-detail-2">
            <a:extLst>
              <a:ext uri="{FF2B5EF4-FFF2-40B4-BE49-F238E27FC236}">
                <a16:creationId xmlns:a16="http://schemas.microsoft.com/office/drawing/2014/main" id="{45E8AC73-47E3-48FE-B12E-A99216CA0A79}"/>
              </a:ext>
            </a:extLst>
          </p:cNvPr>
          <p:cNvSpPr>
            <a:spLocks noGrp="1"/>
          </p:cNvSpPr>
          <p:nvPr/>
        </p:nvSpPr>
        <p:spPr>
          <a:xfrm>
            <a:off x="4648200" y="4295775"/>
            <a:ext cx="3181350" cy="771525"/>
          </a:xfrm>
          <a:prstGeom prst="rect">
            <a:avLst/>
          </a:prstGeom>
          <a:noFill/>
          <a:ln w="0">
            <a:noFill/>
          </a:ln>
        </p:spPr>
        <p:txBody>
          <a:bodyPr wrap="none" lIns="0" tIns="0" rIns="0" bIns="0" anchor="ctr">
            <a:noAutofit/>
          </a:bodyPr>
          <a:lstStyle/>
          <a:p>
            <a:pPr>
              <a:defRPr sz="1800" b="0">
                <a:solidFill>
                  <a:srgbClr val="586C68"/>
                </a:solidFill>
                <a:latin typeface="Segoe UI"/>
                <a:ea typeface="Segoe UI"/>
                <a:cs typeface="Segoe UI"/>
              </a:defRPr>
            </a:pPr>
            <a:r>
              <a:rPr sz="1800" b="0">
                <a:solidFill>
                  <a:srgbClr val="586C68"/>
                </a:solidFill>
                <a:latin typeface="Segoe UI"/>
                <a:ea typeface="Segoe UI"/>
                <a:cs typeface="Segoe UI"/>
              </a:rPr>
              <a:t>A smaller student learns</a:t>
            </a:r>
          </a:p>
          <a:p>
            <a:pPr>
              <a:defRPr sz="1800" b="0">
                <a:solidFill>
                  <a:srgbClr val="586C68"/>
                </a:solidFill>
                <a:latin typeface="Segoe UI"/>
                <a:ea typeface="Segoe UI"/>
                <a:cs typeface="Segoe UI"/>
              </a:defRPr>
            </a:pPr>
            <a:r>
              <a:rPr sz="1800" b="0">
                <a:solidFill>
                  <a:srgbClr val="586C68"/>
                </a:solidFill>
                <a:latin typeface="Segoe UI"/>
                <a:ea typeface="Segoe UI"/>
                <a:cs typeface="Segoe UI"/>
              </a:rPr>
              <a:t>from teacher predictions.</a:t>
            </a:r>
          </a:p>
        </p:txBody>
      </p:sp>
      <p:sp>
        <p:nvSpPr>
          <p:cNvPr id="17" name="S02-stage-3">
            <a:extLst>
              <a:ext uri="{FF2B5EF4-FFF2-40B4-BE49-F238E27FC236}">
                <a16:creationId xmlns:a16="http://schemas.microsoft.com/office/drawing/2014/main" id="{85311D4C-D613-4589-BE43-CB1DF321C346}"/>
              </a:ext>
            </a:extLst>
          </p:cNvPr>
          <p:cNvSpPr>
            <a:spLocks noGrp="1"/>
          </p:cNvSpPr>
          <p:nvPr/>
        </p:nvSpPr>
        <p:spPr>
          <a:xfrm>
            <a:off x="8610600" y="3152775"/>
            <a:ext cx="3181350" cy="457200"/>
          </a:xfrm>
          <a:prstGeom prst="rect">
            <a:avLst/>
          </a:prstGeom>
          <a:noFill/>
          <a:ln w="0">
            <a:noFill/>
          </a:ln>
        </p:spPr>
        <p:txBody>
          <a:bodyPr wrap="none" lIns="0" tIns="0" rIns="0" bIns="0" anchor="ctr">
            <a:noAutofit/>
          </a:bodyPr>
          <a:lstStyle/>
          <a:p>
            <a:pPr>
              <a:defRPr sz="2250" b="0">
                <a:solidFill>
                  <a:srgbClr val="1E302F"/>
                </a:solidFill>
                <a:latin typeface="Segoe UI"/>
                <a:ea typeface="Segoe UI"/>
                <a:cs typeface="Segoe UI"/>
              </a:defRPr>
            </a:pPr>
            <a:r>
              <a:rPr sz="2250" b="0">
                <a:solidFill>
                  <a:srgbClr val="1E302F"/>
                </a:solidFill>
                <a:latin typeface="Segoe UI"/>
                <a:ea typeface="Segoe UI"/>
                <a:cs typeface="Segoe UI"/>
              </a:rPr>
              <a:t>INT8 student</a:t>
            </a:r>
          </a:p>
        </p:txBody>
      </p:sp>
      <p:sp>
        <p:nvSpPr>
          <p:cNvPr id="18" name="S02-name-3">
            <a:extLst>
              <a:ext uri="{FF2B5EF4-FFF2-40B4-BE49-F238E27FC236}">
                <a16:creationId xmlns:a16="http://schemas.microsoft.com/office/drawing/2014/main" id="{93C3164F-A989-44D9-8207-95A53AED8BB2}"/>
              </a:ext>
            </a:extLst>
          </p:cNvPr>
          <p:cNvSpPr>
            <a:spLocks noGrp="1"/>
          </p:cNvSpPr>
          <p:nvPr/>
        </p:nvSpPr>
        <p:spPr>
          <a:xfrm>
            <a:off x="8610600" y="3724275"/>
            <a:ext cx="3095625" cy="304800"/>
          </a:xfrm>
          <a:prstGeom prst="rect">
            <a:avLst/>
          </a:prstGeom>
          <a:noFill/>
          <a:ln w="0">
            <a:noFill/>
          </a:ln>
        </p:spPr>
        <p:txBody>
          <a:bodyPr wrap="none" lIns="0" tIns="0" rIns="0" bIns="0" anchor="ctr">
            <a:noAutofit/>
          </a:bodyPr>
          <a:lstStyle/>
          <a:p>
            <a:pPr>
              <a:defRPr sz="1575" b="0">
                <a:solidFill>
                  <a:srgbClr val="287D78"/>
                </a:solidFill>
                <a:latin typeface="Segoe UI"/>
                <a:ea typeface="Segoe UI"/>
                <a:cs typeface="Segoe UI"/>
              </a:defRPr>
            </a:pPr>
            <a:r>
              <a:rPr sz="1575" b="0">
                <a:solidFill>
                  <a:srgbClr val="287D78"/>
                </a:solidFill>
                <a:latin typeface="Segoe UI"/>
                <a:ea typeface="Segoe UI"/>
                <a:cs typeface="Segoe UI"/>
              </a:rPr>
              <a:t>int8</a:t>
            </a:r>
          </a:p>
        </p:txBody>
      </p:sp>
      <p:sp>
        <p:nvSpPr>
          <p:cNvPr id="19" name="S02-detail-3">
            <a:extLst>
              <a:ext uri="{FF2B5EF4-FFF2-40B4-BE49-F238E27FC236}">
                <a16:creationId xmlns:a16="http://schemas.microsoft.com/office/drawing/2014/main" id="{6B8938CF-FBFD-433E-AE3D-984C8CFA21CB}"/>
              </a:ext>
            </a:extLst>
          </p:cNvPr>
          <p:cNvSpPr>
            <a:spLocks noGrp="1"/>
          </p:cNvSpPr>
          <p:nvPr/>
        </p:nvSpPr>
        <p:spPr>
          <a:xfrm>
            <a:off x="8610600" y="4295775"/>
            <a:ext cx="3181350" cy="771525"/>
          </a:xfrm>
          <a:prstGeom prst="rect">
            <a:avLst/>
          </a:prstGeom>
          <a:noFill/>
          <a:ln w="0">
            <a:noFill/>
          </a:ln>
        </p:spPr>
        <p:txBody>
          <a:bodyPr wrap="none" lIns="0" tIns="0" rIns="0" bIns="0" anchor="ctr">
            <a:noAutofit/>
          </a:bodyPr>
          <a:lstStyle/>
          <a:p>
            <a:pPr>
              <a:defRPr sz="1800" b="0">
                <a:solidFill>
                  <a:srgbClr val="586C68"/>
                </a:solidFill>
                <a:latin typeface="Segoe UI"/>
                <a:ea typeface="Segoe UI"/>
                <a:cs typeface="Segoe UI"/>
              </a:defRPr>
            </a:pPr>
            <a:r>
              <a:rPr sz="1800" b="0">
                <a:solidFill>
                  <a:srgbClr val="586C68"/>
                </a:solidFill>
                <a:latin typeface="Segoe UI"/>
                <a:ea typeface="Segoe UI"/>
                <a:cs typeface="Segoe UI"/>
              </a:rPr>
              <a:t>Use 8-bit integers for</a:t>
            </a:r>
          </a:p>
          <a:p>
            <a:pPr>
              <a:defRPr sz="1800" b="0">
                <a:solidFill>
                  <a:srgbClr val="586C68"/>
                </a:solidFill>
                <a:latin typeface="Segoe UI"/>
                <a:ea typeface="Segoe UI"/>
                <a:cs typeface="Segoe UI"/>
              </a:defRPr>
            </a:pPr>
            <a:r>
              <a:rPr sz="1800" b="0">
                <a:solidFill>
                  <a:srgbClr val="586C68"/>
                </a:solidFill>
                <a:latin typeface="Segoe UI"/>
                <a:ea typeface="Segoe UI"/>
                <a:cs typeface="Segoe UI"/>
              </a:rPr>
              <a:t>selected model quantities.</a:t>
            </a:r>
          </a:p>
        </p:txBody>
      </p:sp>
      <p:sp>
        <p:nvSpPr>
          <p:cNvPr id="20" name="S02-caveat">
            <a:extLst>
              <a:ext uri="{FF2B5EF4-FFF2-40B4-BE49-F238E27FC236}">
                <a16:creationId xmlns:a16="http://schemas.microsoft.com/office/drawing/2014/main" id="{51464756-4A43-4402-BF13-D16988103052}"/>
              </a:ext>
            </a:extLst>
          </p:cNvPr>
          <p:cNvSpPr>
            <a:spLocks noGrp="1"/>
          </p:cNvSpPr>
          <p:nvPr/>
        </p:nvSpPr>
        <p:spPr>
          <a:xfrm>
            <a:off x="685800" y="5657850"/>
            <a:ext cx="10820400" cy="361950"/>
          </a:xfrm>
          <a:prstGeom prst="rect">
            <a:avLst/>
          </a:prstGeom>
          <a:noFill/>
          <a:ln w="0">
            <a:noFill/>
          </a:ln>
        </p:spPr>
        <p:txBody>
          <a:bodyPr wrap="none" lIns="0" tIns="0" rIns="0" bIns="0" anchor="ctr">
            <a:noAutofit/>
          </a:bodyPr>
          <a:lstStyle/>
          <a:p>
            <a:pPr>
              <a:defRPr sz="1575" b="0">
                <a:solidFill>
                  <a:srgbClr val="586C68"/>
                </a:solidFill>
                <a:latin typeface="Segoe UI"/>
                <a:ea typeface="Segoe UI"/>
                <a:cs typeface="Segoe UI"/>
              </a:defRPr>
            </a:pPr>
            <a:r>
              <a:rPr sz="1575" b="0">
                <a:solidFill>
                  <a:srgbClr val="586C68"/>
                </a:solidFill>
                <a:latin typeface="Segoe UI"/>
                <a:ea typeface="Segoe UI"/>
                <a:cs typeface="Segoe UI"/>
              </a:rPr>
              <a:t>Conceptual workflow. Architecture and quantization scope are unspecified.</a:t>
            </a:r>
          </a:p>
        </p:txBody>
      </p:sp>
    </p:spTree>
    <p:extLst>
      <p:ext uri="{BB962C8B-B14F-4D97-AF65-F5344CB8AC3E}">
        <p14:creationId xmlns:p14="http://schemas.microsoft.com/office/powerpoint/2010/main" val="27557572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350"/>
                                        <p:tgtEl>
                                          <p:spTgt spid="5"/>
                                        </p:tgtEl>
                                      </p:cBhvr>
                                    </p:animEffect>
                                  </p:childTnLst>
                                </p:cTn>
                              </p:par>
                              <p:par>
                                <p:cTn id="8" presetID="10" presetClass="entr" presetSubtype="0" fill="hold" nodeType="withEffect">
                                  <p:stCondLst>
                                    <p:cond delay="0"/>
                                  </p:stCondLst>
                                  <p:childTnLst>
                                    <p:set>
                                      <p:cBhvr>
                                        <p:cTn id="9" dur="1" fill="hold">
                                          <p:stCondLst>
                                            <p:cond delay="0"/>
                                          </p:stCondLst>
                                        </p:cTn>
                                        <p:tgtEl>
                                          <p:spTgt spid="27"/>
                                        </p:tgtEl>
                                        <p:attrNameLst>
                                          <p:attrName>style.visibility</p:attrName>
                                        </p:attrNameLst>
                                      </p:cBhvr>
                                      <p:to>
                                        <p:strVal val="visible"/>
                                      </p:to>
                                    </p:set>
                                    <p:animEffect transition="in" filter="fade">
                                      <p:cBhvr>
                                        <p:cTn id="10" dur="350"/>
                                        <p:tgtEl>
                                          <p:spTgt spid="27"/>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9"/>
                                        </p:tgtEl>
                                        <p:attrNameLst>
                                          <p:attrName>style.visibility</p:attrName>
                                        </p:attrNameLst>
                                      </p:cBhvr>
                                      <p:to>
                                        <p:strVal val="visible"/>
                                      </p:to>
                                    </p:set>
                                    <p:animEffect transition="in" filter="fade">
                                      <p:cBhvr>
                                        <p:cTn id="13" dur="350"/>
                                        <p:tgtEl>
                                          <p:spTgt spid="9"/>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14"/>
                                        </p:tgtEl>
                                        <p:attrNameLst>
                                          <p:attrName>style.visibility</p:attrName>
                                        </p:attrNameLst>
                                      </p:cBhvr>
                                      <p:to>
                                        <p:strVal val="visible"/>
                                      </p:to>
                                    </p:set>
                                    <p:animEffect transition="in" filter="fade">
                                      <p:cBhvr>
                                        <p:cTn id="16" dur="350"/>
                                        <p:tgtEl>
                                          <p:spTgt spid="14"/>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15"/>
                                        </p:tgtEl>
                                        <p:attrNameLst>
                                          <p:attrName>style.visibility</p:attrName>
                                        </p:attrNameLst>
                                      </p:cBhvr>
                                      <p:to>
                                        <p:strVal val="visible"/>
                                      </p:to>
                                    </p:set>
                                    <p:animEffect transition="in" filter="fade">
                                      <p:cBhvr>
                                        <p:cTn id="19" dur="350"/>
                                        <p:tgtEl>
                                          <p:spTgt spid="15"/>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16"/>
                                        </p:tgtEl>
                                        <p:attrNameLst>
                                          <p:attrName>style.visibility</p:attrName>
                                        </p:attrNameLst>
                                      </p:cBhvr>
                                      <p:to>
                                        <p:strVal val="visible"/>
                                      </p:to>
                                    </p:set>
                                    <p:animEffect transition="in" filter="fade">
                                      <p:cBhvr>
                                        <p:cTn id="22" dur="350"/>
                                        <p:tgtEl>
                                          <p:spTgt spid="16"/>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6"/>
                                        </p:tgtEl>
                                        <p:attrNameLst>
                                          <p:attrName>style.visibility</p:attrName>
                                        </p:attrNameLst>
                                      </p:cBhvr>
                                      <p:to>
                                        <p:strVal val="visible"/>
                                      </p:to>
                                    </p:set>
                                    <p:animEffect transition="in" filter="fade">
                                      <p:cBhvr>
                                        <p:cTn id="27" dur="350"/>
                                        <p:tgtEl>
                                          <p:spTgt spid="6"/>
                                        </p:tgtEl>
                                      </p:cBhvr>
                                    </p:animEffect>
                                  </p:childTnLst>
                                </p:cTn>
                              </p:par>
                              <p:par>
                                <p:cTn id="28" presetID="10" presetClass="entr" presetSubtype="0" fill="hold" nodeType="withEffect">
                                  <p:stCondLst>
                                    <p:cond delay="0"/>
                                  </p:stCondLst>
                                  <p:childTnLst>
                                    <p:set>
                                      <p:cBhvr>
                                        <p:cTn id="29" dur="1" fill="hold">
                                          <p:stCondLst>
                                            <p:cond delay="0"/>
                                          </p:stCondLst>
                                        </p:cTn>
                                        <p:tgtEl>
                                          <p:spTgt spid="28"/>
                                        </p:tgtEl>
                                        <p:attrNameLst>
                                          <p:attrName>style.visibility</p:attrName>
                                        </p:attrNameLst>
                                      </p:cBhvr>
                                      <p:to>
                                        <p:strVal val="visible"/>
                                      </p:to>
                                    </p:set>
                                    <p:animEffect transition="in" filter="fade">
                                      <p:cBhvr>
                                        <p:cTn id="30" dur="350"/>
                                        <p:tgtEl>
                                          <p:spTgt spid="28"/>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10"/>
                                        </p:tgtEl>
                                        <p:attrNameLst>
                                          <p:attrName>style.visibility</p:attrName>
                                        </p:attrNameLst>
                                      </p:cBhvr>
                                      <p:to>
                                        <p:strVal val="visible"/>
                                      </p:to>
                                    </p:set>
                                    <p:animEffect transition="in" filter="fade">
                                      <p:cBhvr>
                                        <p:cTn id="33" dur="350"/>
                                        <p:tgtEl>
                                          <p:spTgt spid="10"/>
                                        </p:tgtEl>
                                      </p:cBhvr>
                                    </p:animEffect>
                                  </p:childTnLst>
                                </p:cTn>
                              </p:par>
                              <p:par>
                                <p:cTn id="34" presetID="10" presetClass="entr" presetSubtype="0" fill="hold" grpId="0" nodeType="withEffect">
                                  <p:stCondLst>
                                    <p:cond delay="0"/>
                                  </p:stCondLst>
                                  <p:childTnLst>
                                    <p:set>
                                      <p:cBhvr>
                                        <p:cTn id="35" dur="1" fill="hold">
                                          <p:stCondLst>
                                            <p:cond delay="0"/>
                                          </p:stCondLst>
                                        </p:cTn>
                                        <p:tgtEl>
                                          <p:spTgt spid="17"/>
                                        </p:tgtEl>
                                        <p:attrNameLst>
                                          <p:attrName>style.visibility</p:attrName>
                                        </p:attrNameLst>
                                      </p:cBhvr>
                                      <p:to>
                                        <p:strVal val="visible"/>
                                      </p:to>
                                    </p:set>
                                    <p:animEffect transition="in" filter="fade">
                                      <p:cBhvr>
                                        <p:cTn id="36" dur="350"/>
                                        <p:tgtEl>
                                          <p:spTgt spid="17"/>
                                        </p:tgtEl>
                                      </p:cBhvr>
                                    </p:animEffect>
                                  </p:childTnLst>
                                </p:cTn>
                              </p:par>
                              <p:par>
                                <p:cTn id="37" presetID="10" presetClass="entr" presetSubtype="0" fill="hold" grpId="0" nodeType="withEffect">
                                  <p:stCondLst>
                                    <p:cond delay="0"/>
                                  </p:stCondLst>
                                  <p:childTnLst>
                                    <p:set>
                                      <p:cBhvr>
                                        <p:cTn id="38" dur="1" fill="hold">
                                          <p:stCondLst>
                                            <p:cond delay="0"/>
                                          </p:stCondLst>
                                        </p:cTn>
                                        <p:tgtEl>
                                          <p:spTgt spid="18"/>
                                        </p:tgtEl>
                                        <p:attrNameLst>
                                          <p:attrName>style.visibility</p:attrName>
                                        </p:attrNameLst>
                                      </p:cBhvr>
                                      <p:to>
                                        <p:strVal val="visible"/>
                                      </p:to>
                                    </p:set>
                                    <p:animEffect transition="in" filter="fade">
                                      <p:cBhvr>
                                        <p:cTn id="39" dur="350"/>
                                        <p:tgtEl>
                                          <p:spTgt spid="18"/>
                                        </p:tgtEl>
                                      </p:cBhvr>
                                    </p:animEffect>
                                  </p:childTnLst>
                                </p:cTn>
                              </p:par>
                              <p:par>
                                <p:cTn id="40" presetID="10" presetClass="entr" presetSubtype="0" fill="hold" grpId="0" nodeType="withEffect">
                                  <p:stCondLst>
                                    <p:cond delay="0"/>
                                  </p:stCondLst>
                                  <p:childTnLst>
                                    <p:set>
                                      <p:cBhvr>
                                        <p:cTn id="41" dur="1" fill="hold">
                                          <p:stCondLst>
                                            <p:cond delay="0"/>
                                          </p:stCondLst>
                                        </p:cTn>
                                        <p:tgtEl>
                                          <p:spTgt spid="19"/>
                                        </p:tgtEl>
                                        <p:attrNameLst>
                                          <p:attrName>style.visibility</p:attrName>
                                        </p:attrNameLst>
                                      </p:cBhvr>
                                      <p:to>
                                        <p:strVal val="visible"/>
                                      </p:to>
                                    </p:set>
                                    <p:animEffect transition="in" filter="fade">
                                      <p:cBhvr>
                                        <p:cTn id="42" dur="350"/>
                                        <p:tgtEl>
                                          <p:spTgt spid="1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9" grpId="0"/>
      <p:bldP spid="10" grpId="0"/>
      <p:bldP spid="14" grpId="0"/>
      <p:bldP spid="15" grpId="0"/>
      <p:bldP spid="16" grpId="0"/>
      <p:bldP spid="17" grpId="0"/>
      <p:bldP spid="18" grpId="0"/>
      <p:bldP spid="19" grpId="0"/>
    </p:bldLst>
  </p:timing>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6F4EE"/>
        </a:solidFill>
        <a:effectLst/>
      </p:bgPr>
    </p:bg>
    <p:spTree>
      <p:nvGrpSpPr>
        <p:cNvPr id="1" name=""/>
        <p:cNvGrpSpPr/>
        <p:nvPr/>
      </p:nvGrpSpPr>
      <p:grpSpPr>
        <a:xfrm>
          <a:off x="0" y="0"/>
          <a:ext cx="0" cy="0"/>
          <a:chOff x="0" y="0"/>
          <a:chExt cx="0" cy="0"/>
        </a:xfrm>
      </p:grpSpPr>
      <p:sp>
        <p:nvSpPr>
          <p:cNvPr id="8" name="S03-title">
            <a:extLst>
              <a:ext uri="{FF2B5EF4-FFF2-40B4-BE49-F238E27FC236}">
                <a16:creationId xmlns:a16="http://schemas.microsoft.com/office/drawing/2014/main" id="{CA0C6520-1051-4AA0-8098-A9EBEC2A03E8}"/>
              </a:ext>
            </a:extLst>
          </p:cNvPr>
          <p:cNvSpPr>
            <a:spLocks noGrp="1"/>
          </p:cNvSpPr>
          <p:nvPr/>
        </p:nvSpPr>
        <p:spPr>
          <a:xfrm>
            <a:off x="685800" y="895350"/>
            <a:ext cx="10820400" cy="666750"/>
          </a:xfrm>
          <a:prstGeom prst="rect">
            <a:avLst/>
          </a:prstGeom>
          <a:noFill/>
          <a:ln w="0">
            <a:noFill/>
          </a:ln>
        </p:spPr>
        <p:txBody>
          <a:bodyPr wrap="none" lIns="0" tIns="0" rIns="0" bIns="0" anchor="ctr">
            <a:noAutofit/>
          </a:bodyPr>
          <a:lstStyle/>
          <a:p>
            <a:pPr>
              <a:defRPr sz="3225" b="0">
                <a:solidFill>
                  <a:srgbClr val="1E302F"/>
                </a:solidFill>
                <a:latin typeface="Segoe UI"/>
                <a:ea typeface="Segoe UI"/>
                <a:cs typeface="Segoe UI"/>
              </a:defRPr>
            </a:pPr>
            <a:r>
              <a:rPr sz="3225" b="0">
                <a:solidFill>
                  <a:srgbClr val="1E302F"/>
                </a:solidFill>
                <a:latin typeface="Segoe UI"/>
                <a:ea typeface="Segoe UI"/>
                <a:cs typeface="Segoe UI"/>
              </a:rPr>
              <a:t>Latency, F1 and model size</a:t>
            </a:r>
          </a:p>
        </p:txBody>
      </p:sp>
      <p:sp>
        <p:nvSpPr>
          <p:cNvPr id="2" name="S03-disclosure">
            <a:extLst>
              <a:ext uri="{FF2B5EF4-FFF2-40B4-BE49-F238E27FC236}">
                <a16:creationId xmlns:a16="http://schemas.microsoft.com/office/drawing/2014/main" id="{409FF452-2A3F-4AFF-9C01-23A352274B0A}"/>
              </a:ext>
            </a:extLst>
          </p:cNvPr>
          <p:cNvSpPr>
            <a:spLocks noGrp="1"/>
          </p:cNvSpPr>
          <p:nvPr/>
        </p:nvSpPr>
        <p:spPr>
          <a:xfrm>
            <a:off x="685800" y="6372225"/>
            <a:ext cx="9525000" cy="219075"/>
          </a:xfrm>
          <a:prstGeom prst="rect">
            <a:avLst/>
          </a:prstGeom>
          <a:noFill/>
          <a:ln w="0">
            <a:noFill/>
          </a:ln>
        </p:spPr>
        <p:txBody>
          <a:bodyPr wrap="none" lIns="0" tIns="0" rIns="0" bIns="0" anchor="ctr">
            <a:noAutofit/>
          </a:bodyPr>
          <a:lstStyle/>
          <a:p>
            <a:pPr>
              <a:defRPr sz="1275" b="0">
                <a:solidFill>
                  <a:srgbClr val="586C68"/>
                </a:solidFill>
                <a:latin typeface="Segoe UI"/>
                <a:ea typeface="Segoe UI"/>
                <a:cs typeface="Segoe UI"/>
              </a:defRPr>
            </a:pPr>
            <a:r>
              <a:rPr sz="1275" b="0">
                <a:solidFill>
                  <a:srgbClr val="586C68"/>
                </a:solidFill>
                <a:latin typeface="Segoe UI"/>
                <a:ea typeface="Segoe UI"/>
                <a:cs typeface="Segoe UI"/>
              </a:rPr>
              <a:t>Illustrative data · not experimental results</a:t>
            </a:r>
          </a:p>
        </p:txBody>
      </p:sp>
      <p:sp>
        <p:nvSpPr>
          <p:cNvPr id="3" name="S03-number">
            <a:extLst>
              <a:ext uri="{FF2B5EF4-FFF2-40B4-BE49-F238E27FC236}">
                <a16:creationId xmlns:a16="http://schemas.microsoft.com/office/drawing/2014/main" id="{F8B9AE3B-FFAC-470A-A925-2F6D2168D6BC}"/>
              </a:ext>
            </a:extLst>
          </p:cNvPr>
          <p:cNvSpPr>
            <a:spLocks noGrp="1"/>
          </p:cNvSpPr>
          <p:nvPr/>
        </p:nvSpPr>
        <p:spPr>
          <a:xfrm>
            <a:off x="11144250" y="6372225"/>
            <a:ext cx="361950" cy="219075"/>
          </a:xfrm>
          <a:prstGeom prst="rect">
            <a:avLst/>
          </a:prstGeom>
          <a:noFill/>
          <a:ln w="0">
            <a:noFill/>
          </a:ln>
        </p:spPr>
        <p:txBody>
          <a:bodyPr wrap="none" lIns="0" tIns="0" rIns="0" bIns="0" anchor="ctr">
            <a:noAutofit/>
          </a:bodyPr>
          <a:lstStyle/>
          <a:p>
            <a:pPr>
              <a:defRPr sz="1275" b="0">
                <a:solidFill>
                  <a:srgbClr val="586C68"/>
                </a:solidFill>
                <a:latin typeface="Segoe UI"/>
                <a:ea typeface="Segoe UI"/>
                <a:cs typeface="Segoe UI"/>
              </a:defRPr>
            </a:pPr>
            <a:r>
              <a:rPr sz="1275" b="0">
                <a:solidFill>
                  <a:srgbClr val="586C68"/>
                </a:solidFill>
                <a:latin typeface="Segoe UI"/>
                <a:ea typeface="Segoe UI"/>
                <a:cs typeface="Segoe UI"/>
              </a:rPr>
              <a:t>03</a:t>
            </a:r>
          </a:p>
        </p:txBody>
      </p:sp>
      <p:sp>
        <p:nvSpPr>
          <p:cNvPr id="4" name="S03-direction">
            <a:extLst>
              <a:ext uri="{FF2B5EF4-FFF2-40B4-BE49-F238E27FC236}">
                <a16:creationId xmlns:a16="http://schemas.microsoft.com/office/drawing/2014/main" id="{28228544-2890-45EB-B8D8-226835515F16}"/>
              </a:ext>
            </a:extLst>
          </p:cNvPr>
          <p:cNvSpPr>
            <a:spLocks noGrp="1"/>
          </p:cNvSpPr>
          <p:nvPr/>
        </p:nvSpPr>
        <p:spPr>
          <a:xfrm>
            <a:off x="685800" y="1628775"/>
            <a:ext cx="10820400" cy="381000"/>
          </a:xfrm>
          <a:prstGeom prst="rect">
            <a:avLst/>
          </a:prstGeom>
          <a:noFill/>
          <a:ln w="0">
            <a:noFill/>
          </a:ln>
        </p:spPr>
        <p:txBody>
          <a:bodyPr wrap="none" lIns="0" tIns="0" rIns="0" bIns="0" anchor="ctr">
            <a:noAutofit/>
          </a:bodyPr>
          <a:lstStyle/>
          <a:p>
            <a:pPr>
              <a:defRPr sz="1800" b="0">
                <a:solidFill>
                  <a:srgbClr val="586C68"/>
                </a:solidFill>
                <a:latin typeface="Segoe UI"/>
                <a:ea typeface="Segoe UI"/>
                <a:cs typeface="Segoe UI"/>
              </a:defRPr>
            </a:pPr>
            <a:r>
              <a:rPr sz="1800" b="0">
                <a:solidFill>
                  <a:srgbClr val="586C68"/>
                </a:solidFill>
                <a:latin typeface="Segoe UI"/>
                <a:ea typeface="Segoe UI"/>
                <a:cs typeface="Segoe UI"/>
              </a:rPr>
              <a:t>Lower latency and size are better; higher F1 is better.</a:t>
            </a:r>
          </a:p>
        </p:txBody>
      </p:sp>
      <p:graphicFrame>
        <p:nvGraphicFramePr>
          <p:cNvPr id="12" name="표 11"/>
          <p:cNvGraphicFramePr/>
          <p:nvPr/>
        </p:nvGraphicFramePr>
        <p:xfrm>
          <a:off x="609600" y="2314575"/>
          <a:ext cx="10972800" cy="2857500"/>
        </p:xfrm>
        <a:graphic>
          <a:graphicData uri="http://schemas.openxmlformats.org/drawingml/2006/table">
            <a:tbl>
              <a:tblPr/>
              <a:tblGrid>
                <a:gridCol w="3429000">
                  <a:extLst>
                    <a:ext uri="{9D8B030D-6E8A-4147-A177-3AD203B41FA5}">
                      <a16:colId xmlns:a16="http://schemas.microsoft.com/office/drawing/2014/main" val="20000"/>
                    </a:ext>
                  </a:extLst>
                </a:gridCol>
                <a:gridCol w="2667000">
                  <a:extLst>
                    <a:ext uri="{9D8B030D-6E8A-4147-A177-3AD203B41FA5}">
                      <a16:colId xmlns:a16="http://schemas.microsoft.com/office/drawing/2014/main" val="20001"/>
                    </a:ext>
                  </a:extLst>
                </a:gridCol>
                <a:gridCol w="2209800">
                  <a:extLst>
                    <a:ext uri="{9D8B030D-6E8A-4147-A177-3AD203B41FA5}">
                      <a16:colId xmlns:a16="http://schemas.microsoft.com/office/drawing/2014/main" val="20002"/>
                    </a:ext>
                  </a:extLst>
                </a:gridCol>
                <a:gridCol w="2667000">
                  <a:extLst>
                    <a:ext uri="{9D8B030D-6E8A-4147-A177-3AD203B41FA5}">
                      <a16:colId xmlns:a16="http://schemas.microsoft.com/office/drawing/2014/main" val="20003"/>
                    </a:ext>
                  </a:extLst>
                </a:gridCol>
              </a:tblGrid>
              <a:tr h="714375">
                <a:tc>
                  <a:txBody>
                    <a:bodyPr/>
                    <a:lstStyle/>
                    <a:p>
                      <a:pPr algn="l"/>
                      <a:r>
                        <a:rPr sz="1800" b="0">
                          <a:solidFill>
                            <a:srgbClr val="586C68"/>
                          </a:solidFill>
                          <a:latin typeface="Segoe UI"/>
                          <a:ea typeface="Segoe UI"/>
                          <a:cs typeface="Segoe UI"/>
                        </a:rPr>
                        <a:t>Model</a:t>
                      </a:r>
                    </a:p>
                  </a:txBody>
                  <a:tcPr marL="95250" marR="95250" marT="95250" marB="95250" anchor="ctr">
                    <a:lnL w="12700">
                      <a:noFill/>
                    </a:lnL>
                    <a:lnR w="12700">
                      <a:noFill/>
                    </a:lnR>
                    <a:lnT w="12700">
                      <a:noFill/>
                    </a:lnT>
                    <a:lnB w="12700">
                      <a:noFill/>
                    </a:lnB>
                    <a:lnTlToBr w="12700">
                      <a:noFill/>
                    </a:lnTlToBr>
                    <a:lnBlToTr w="12700">
                      <a:noFill/>
                    </a:lnBlToTr>
                    <a:solidFill>
                      <a:srgbClr val="F6F4EE"/>
                    </a:solidFill>
                  </a:tcPr>
                </a:tc>
                <a:tc>
                  <a:txBody>
                    <a:bodyPr/>
                    <a:lstStyle/>
                    <a:p>
                      <a:pPr algn="ctr"/>
                      <a:r>
                        <a:rPr sz="1800" b="0">
                          <a:solidFill>
                            <a:srgbClr val="586C68"/>
                          </a:solidFill>
                          <a:latin typeface="Segoe UI"/>
                          <a:ea typeface="Segoe UI"/>
                          <a:cs typeface="Segoe UI"/>
                        </a:rPr>
                        <a:t>Latency (ms)</a:t>
                      </a:r>
                    </a:p>
                  </a:txBody>
                  <a:tcPr marL="95250" marR="95250" marT="95250" marB="95250" anchor="ctr">
                    <a:lnL w="12700">
                      <a:noFill/>
                    </a:lnL>
                    <a:lnR w="12700">
                      <a:noFill/>
                    </a:lnR>
                    <a:lnT w="12700">
                      <a:noFill/>
                    </a:lnT>
                    <a:lnB w="12700">
                      <a:noFill/>
                    </a:lnB>
                    <a:lnTlToBr w="12700">
                      <a:noFill/>
                    </a:lnTlToBr>
                    <a:lnBlToTr w="12700">
                      <a:noFill/>
                    </a:lnBlToTr>
                    <a:solidFill>
                      <a:srgbClr val="F6F4EE"/>
                    </a:solidFill>
                  </a:tcPr>
                </a:tc>
                <a:tc>
                  <a:txBody>
                    <a:bodyPr/>
                    <a:lstStyle/>
                    <a:p>
                      <a:pPr algn="ctr"/>
                      <a:r>
                        <a:rPr sz="1800" b="0">
                          <a:solidFill>
                            <a:srgbClr val="586C68"/>
                          </a:solidFill>
                          <a:latin typeface="Segoe UI"/>
                          <a:ea typeface="Segoe UI"/>
                          <a:cs typeface="Segoe UI"/>
                        </a:rPr>
                        <a:t>F1</a:t>
                      </a:r>
                    </a:p>
                  </a:txBody>
                  <a:tcPr marL="95250" marR="95250" marT="95250" marB="95250" anchor="ctr">
                    <a:lnL w="12700">
                      <a:noFill/>
                    </a:lnL>
                    <a:lnR w="12700">
                      <a:noFill/>
                    </a:lnR>
                    <a:lnT w="12700">
                      <a:noFill/>
                    </a:lnT>
                    <a:lnB w="12700">
                      <a:noFill/>
                    </a:lnB>
                    <a:lnTlToBr w="12700">
                      <a:noFill/>
                    </a:lnTlToBr>
                    <a:lnBlToTr w="12700">
                      <a:noFill/>
                    </a:lnBlToTr>
                    <a:solidFill>
                      <a:srgbClr val="F6F4EE"/>
                    </a:solidFill>
                  </a:tcPr>
                </a:tc>
                <a:tc>
                  <a:txBody>
                    <a:bodyPr/>
                    <a:lstStyle/>
                    <a:p>
                      <a:pPr algn="ctr"/>
                      <a:r>
                        <a:rPr sz="1800" b="0">
                          <a:solidFill>
                            <a:srgbClr val="586C68"/>
                          </a:solidFill>
                          <a:latin typeface="Segoe UI"/>
                          <a:ea typeface="Segoe UI"/>
                          <a:cs typeface="Segoe UI"/>
                        </a:rPr>
                        <a:t>Size (MB)</a:t>
                      </a:r>
                    </a:p>
                  </a:txBody>
                  <a:tcPr marL="95250" marR="95250" marT="95250" marB="95250" anchor="ctr">
                    <a:lnL w="12700">
                      <a:noFill/>
                    </a:lnL>
                    <a:lnR w="12700">
                      <a:noFill/>
                    </a:lnR>
                    <a:lnT w="12700">
                      <a:noFill/>
                    </a:lnT>
                    <a:lnB w="12700">
                      <a:noFill/>
                    </a:lnB>
                    <a:lnTlToBr w="12700">
                      <a:noFill/>
                    </a:lnTlToBr>
                    <a:lnBlToTr w="12700">
                      <a:noFill/>
                    </a:lnBlToTr>
                    <a:solidFill>
                      <a:srgbClr val="F6F4EE"/>
                    </a:solidFill>
                  </a:tcPr>
                </a:tc>
                <a:extLst>
                  <a:ext uri="{0D108BD9-81ED-4DB2-BD59-A6C34878D82A}">
                    <a16:rowId xmlns:a16="http://schemas.microsoft.com/office/drawing/2014/main" val="10000"/>
                  </a:ext>
                </a:extLst>
              </a:tr>
              <a:tr h="714375">
                <a:tc>
                  <a:txBody>
                    <a:bodyPr/>
                    <a:lstStyle/>
                    <a:p>
                      <a:pPr algn="l"/>
                      <a:r>
                        <a:rPr sz="2400" b="0">
                          <a:solidFill>
                            <a:srgbClr val="1E302F"/>
                          </a:solidFill>
                          <a:latin typeface="Segoe UI"/>
                          <a:ea typeface="Segoe UI"/>
                          <a:cs typeface="Segoe UI"/>
                        </a:rPr>
                        <a:t>baseline</a:t>
                      </a:r>
                    </a:p>
                  </a:txBody>
                  <a:tcPr marL="95250" marR="95250" marT="95250" marB="95250" anchor="ctr">
                    <a:lnL w="12700">
                      <a:noFill/>
                    </a:lnL>
                    <a:lnR w="12700">
                      <a:noFill/>
                    </a:lnR>
                    <a:lnT w="12700">
                      <a:noFill/>
                    </a:lnT>
                    <a:lnB w="12700">
                      <a:noFill/>
                    </a:lnB>
                    <a:lnTlToBr w="12700">
                      <a:noFill/>
                    </a:lnTlToBr>
                    <a:lnBlToTr w="12700">
                      <a:noFill/>
                    </a:lnBlToTr>
                    <a:solidFill>
                      <a:srgbClr val="F6F4EE"/>
                    </a:solidFill>
                  </a:tcPr>
                </a:tc>
                <a:tc>
                  <a:txBody>
                    <a:bodyPr/>
                    <a:lstStyle/>
                    <a:p>
                      <a:pPr algn="ctr"/>
                      <a:r>
                        <a:rPr sz="2400" b="0">
                          <a:solidFill>
                            <a:srgbClr val="1E302F"/>
                          </a:solidFill>
                          <a:latin typeface="Segoe UI"/>
                          <a:ea typeface="Segoe UI"/>
                          <a:cs typeface="Segoe UI"/>
                        </a:rPr>
                        <a:t>120</a:t>
                      </a:r>
                    </a:p>
                  </a:txBody>
                  <a:tcPr marL="95250" marR="95250" marT="95250" marB="95250" anchor="ctr">
                    <a:lnL w="12700">
                      <a:noFill/>
                    </a:lnL>
                    <a:lnR w="12700">
                      <a:noFill/>
                    </a:lnR>
                    <a:lnT w="12700">
                      <a:noFill/>
                    </a:lnT>
                    <a:lnB w="12700">
                      <a:noFill/>
                    </a:lnB>
                    <a:lnTlToBr w="12700">
                      <a:noFill/>
                    </a:lnTlToBr>
                    <a:lnBlToTr w="12700">
                      <a:noFill/>
                    </a:lnBlToTr>
                    <a:solidFill>
                      <a:srgbClr val="F6F4EE"/>
                    </a:solidFill>
                  </a:tcPr>
                </a:tc>
                <a:tc>
                  <a:txBody>
                    <a:bodyPr/>
                    <a:lstStyle/>
                    <a:p>
                      <a:pPr algn="ctr"/>
                      <a:r>
                        <a:rPr sz="2400" b="0">
                          <a:solidFill>
                            <a:srgbClr val="1E302F"/>
                          </a:solidFill>
                          <a:latin typeface="Segoe UI"/>
                          <a:ea typeface="Segoe UI"/>
                          <a:cs typeface="Segoe UI"/>
                        </a:rPr>
                        <a:t>0.910</a:t>
                      </a:r>
                    </a:p>
                  </a:txBody>
                  <a:tcPr marL="95250" marR="95250" marT="95250" marB="95250" anchor="ctr">
                    <a:lnL w="12700">
                      <a:noFill/>
                    </a:lnL>
                    <a:lnR w="12700">
                      <a:noFill/>
                    </a:lnR>
                    <a:lnT w="12700">
                      <a:noFill/>
                    </a:lnT>
                    <a:lnB w="12700">
                      <a:noFill/>
                    </a:lnB>
                    <a:lnTlToBr w="12700">
                      <a:noFill/>
                    </a:lnTlToBr>
                    <a:lnBlToTr w="12700">
                      <a:noFill/>
                    </a:lnBlToTr>
                    <a:solidFill>
                      <a:srgbClr val="F6F4EE"/>
                    </a:solidFill>
                  </a:tcPr>
                </a:tc>
                <a:tc>
                  <a:txBody>
                    <a:bodyPr/>
                    <a:lstStyle/>
                    <a:p>
                      <a:pPr algn="ctr"/>
                      <a:r>
                        <a:rPr sz="2400" b="0">
                          <a:solidFill>
                            <a:srgbClr val="1E302F"/>
                          </a:solidFill>
                          <a:latin typeface="Segoe UI"/>
                          <a:ea typeface="Segoe UI"/>
                          <a:cs typeface="Segoe UI"/>
                        </a:rPr>
                        <a:t>48</a:t>
                      </a:r>
                    </a:p>
                  </a:txBody>
                  <a:tcPr marL="95250" marR="95250" marT="95250" marB="95250" anchor="ctr">
                    <a:lnL w="12700">
                      <a:noFill/>
                    </a:lnL>
                    <a:lnR w="12700">
                      <a:noFill/>
                    </a:lnR>
                    <a:lnT w="12700">
                      <a:noFill/>
                    </a:lnT>
                    <a:lnB w="12700">
                      <a:noFill/>
                    </a:lnB>
                    <a:lnTlToBr w="12700">
                      <a:noFill/>
                    </a:lnTlToBr>
                    <a:lnBlToTr w="12700">
                      <a:noFill/>
                    </a:lnBlToTr>
                    <a:solidFill>
                      <a:srgbClr val="F6F4EE"/>
                    </a:solidFill>
                  </a:tcPr>
                </a:tc>
                <a:extLst>
                  <a:ext uri="{0D108BD9-81ED-4DB2-BD59-A6C34878D82A}">
                    <a16:rowId xmlns:a16="http://schemas.microsoft.com/office/drawing/2014/main" val="10001"/>
                  </a:ext>
                </a:extLst>
              </a:tr>
              <a:tr h="714375">
                <a:tc>
                  <a:txBody>
                    <a:bodyPr/>
                    <a:lstStyle/>
                    <a:p>
                      <a:pPr algn="l"/>
                      <a:r>
                        <a:rPr sz="2400" b="0">
                          <a:solidFill>
                            <a:srgbClr val="1E302F"/>
                          </a:solidFill>
                          <a:latin typeface="Segoe UI"/>
                          <a:ea typeface="Segoe UI"/>
                          <a:cs typeface="Segoe UI"/>
                        </a:rPr>
                        <a:t>distilled</a:t>
                      </a:r>
                    </a:p>
                  </a:txBody>
                  <a:tcPr marL="95250" marR="95250" marT="95250" marB="95250" anchor="ctr">
                    <a:lnL w="12700">
                      <a:noFill/>
                    </a:lnL>
                    <a:lnR w="12700">
                      <a:noFill/>
                    </a:lnR>
                    <a:lnT w="12700">
                      <a:noFill/>
                    </a:lnT>
                    <a:lnB w="12700">
                      <a:noFill/>
                    </a:lnB>
                    <a:lnTlToBr w="12700">
                      <a:noFill/>
                    </a:lnTlToBr>
                    <a:lnBlToTr w="12700">
                      <a:noFill/>
                    </a:lnBlToTr>
                    <a:solidFill>
                      <a:srgbClr val="F6F4EE"/>
                    </a:solidFill>
                  </a:tcPr>
                </a:tc>
                <a:tc>
                  <a:txBody>
                    <a:bodyPr/>
                    <a:lstStyle/>
                    <a:p>
                      <a:pPr algn="ctr"/>
                      <a:r>
                        <a:rPr sz="2400" b="0">
                          <a:solidFill>
                            <a:srgbClr val="1E302F"/>
                          </a:solidFill>
                          <a:latin typeface="Segoe UI"/>
                          <a:ea typeface="Segoe UI"/>
                          <a:cs typeface="Segoe UI"/>
                        </a:rPr>
                        <a:t>72</a:t>
                      </a:r>
                    </a:p>
                  </a:txBody>
                  <a:tcPr marL="95250" marR="95250" marT="95250" marB="95250" anchor="ctr">
                    <a:lnL w="12700">
                      <a:noFill/>
                    </a:lnL>
                    <a:lnR w="12700">
                      <a:noFill/>
                    </a:lnR>
                    <a:lnT w="12700">
                      <a:noFill/>
                    </a:lnT>
                    <a:lnB w="12700">
                      <a:noFill/>
                    </a:lnB>
                    <a:lnTlToBr w="12700">
                      <a:noFill/>
                    </a:lnTlToBr>
                    <a:lnBlToTr w="12700">
                      <a:noFill/>
                    </a:lnBlToTr>
                    <a:solidFill>
                      <a:srgbClr val="F6F4EE"/>
                    </a:solidFill>
                  </a:tcPr>
                </a:tc>
                <a:tc>
                  <a:txBody>
                    <a:bodyPr/>
                    <a:lstStyle/>
                    <a:p>
                      <a:pPr algn="ctr"/>
                      <a:r>
                        <a:rPr sz="2400" b="0">
                          <a:solidFill>
                            <a:srgbClr val="1E302F"/>
                          </a:solidFill>
                          <a:latin typeface="Segoe UI"/>
                          <a:ea typeface="Segoe UI"/>
                          <a:cs typeface="Segoe UI"/>
                        </a:rPr>
                        <a:t>0.902</a:t>
                      </a:r>
                    </a:p>
                  </a:txBody>
                  <a:tcPr marL="95250" marR="95250" marT="95250" marB="95250" anchor="ctr">
                    <a:lnL w="12700">
                      <a:noFill/>
                    </a:lnL>
                    <a:lnR w="12700">
                      <a:noFill/>
                    </a:lnR>
                    <a:lnT w="12700">
                      <a:noFill/>
                    </a:lnT>
                    <a:lnB w="12700">
                      <a:noFill/>
                    </a:lnB>
                    <a:lnTlToBr w="12700">
                      <a:noFill/>
                    </a:lnTlToBr>
                    <a:lnBlToTr w="12700">
                      <a:noFill/>
                    </a:lnBlToTr>
                    <a:solidFill>
                      <a:srgbClr val="F6F4EE"/>
                    </a:solidFill>
                  </a:tcPr>
                </a:tc>
                <a:tc>
                  <a:txBody>
                    <a:bodyPr/>
                    <a:lstStyle/>
                    <a:p>
                      <a:pPr algn="ctr"/>
                      <a:r>
                        <a:rPr sz="2400" b="0">
                          <a:solidFill>
                            <a:srgbClr val="1E302F"/>
                          </a:solidFill>
                          <a:latin typeface="Segoe UI"/>
                          <a:ea typeface="Segoe UI"/>
                          <a:cs typeface="Segoe UI"/>
                        </a:rPr>
                        <a:t>18</a:t>
                      </a:r>
                    </a:p>
                  </a:txBody>
                  <a:tcPr marL="95250" marR="95250" marT="95250" marB="95250" anchor="ctr">
                    <a:lnL w="12700">
                      <a:noFill/>
                    </a:lnL>
                    <a:lnR w="12700">
                      <a:noFill/>
                    </a:lnR>
                    <a:lnT w="12700">
                      <a:noFill/>
                    </a:lnT>
                    <a:lnB w="12700">
                      <a:noFill/>
                    </a:lnB>
                    <a:lnTlToBr w="12700">
                      <a:noFill/>
                    </a:lnTlToBr>
                    <a:lnBlToTr w="12700">
                      <a:noFill/>
                    </a:lnBlToTr>
                    <a:solidFill>
                      <a:srgbClr val="F6F4EE"/>
                    </a:solidFill>
                  </a:tcPr>
                </a:tc>
                <a:extLst>
                  <a:ext uri="{0D108BD9-81ED-4DB2-BD59-A6C34878D82A}">
                    <a16:rowId xmlns:a16="http://schemas.microsoft.com/office/drawing/2014/main" val="10002"/>
                  </a:ext>
                </a:extLst>
              </a:tr>
              <a:tr h="714375">
                <a:tc>
                  <a:txBody>
                    <a:bodyPr/>
                    <a:lstStyle/>
                    <a:p>
                      <a:pPr algn="l"/>
                      <a:r>
                        <a:rPr sz="2400" b="0">
                          <a:solidFill>
                            <a:srgbClr val="1E302F"/>
                          </a:solidFill>
                          <a:latin typeface="Segoe UI"/>
                          <a:ea typeface="Segoe UI"/>
                          <a:cs typeface="Segoe UI"/>
                        </a:rPr>
                        <a:t>int8</a:t>
                      </a:r>
                    </a:p>
                  </a:txBody>
                  <a:tcPr marL="95250" marR="95250" marT="95250" marB="95250" anchor="ctr">
                    <a:lnL w="12700">
                      <a:noFill/>
                    </a:lnL>
                    <a:lnR w="12700">
                      <a:noFill/>
                    </a:lnR>
                    <a:lnT w="12700">
                      <a:noFill/>
                    </a:lnT>
                    <a:lnB w="12700">
                      <a:noFill/>
                    </a:lnB>
                    <a:lnTlToBr w="12700">
                      <a:noFill/>
                    </a:lnTlToBr>
                    <a:lnBlToTr w="12700">
                      <a:noFill/>
                    </a:lnBlToTr>
                    <a:solidFill>
                      <a:srgbClr val="F6F4EE"/>
                    </a:solidFill>
                  </a:tcPr>
                </a:tc>
                <a:tc>
                  <a:txBody>
                    <a:bodyPr/>
                    <a:lstStyle/>
                    <a:p>
                      <a:pPr algn="ctr"/>
                      <a:r>
                        <a:rPr sz="2400" b="0">
                          <a:solidFill>
                            <a:srgbClr val="1E302F"/>
                          </a:solidFill>
                          <a:latin typeface="Segoe UI"/>
                          <a:ea typeface="Segoe UI"/>
                          <a:cs typeface="Segoe UI"/>
                        </a:rPr>
                        <a:t>54</a:t>
                      </a:r>
                    </a:p>
                  </a:txBody>
                  <a:tcPr marL="95250" marR="95250" marT="95250" marB="95250" anchor="ctr">
                    <a:lnL w="12700">
                      <a:noFill/>
                    </a:lnL>
                    <a:lnR w="12700">
                      <a:noFill/>
                    </a:lnR>
                    <a:lnT w="12700">
                      <a:noFill/>
                    </a:lnT>
                    <a:lnB w="12700">
                      <a:noFill/>
                    </a:lnB>
                    <a:lnTlToBr w="12700">
                      <a:noFill/>
                    </a:lnTlToBr>
                    <a:lnBlToTr w="12700">
                      <a:noFill/>
                    </a:lnBlToTr>
                    <a:solidFill>
                      <a:srgbClr val="F6F4EE"/>
                    </a:solidFill>
                  </a:tcPr>
                </a:tc>
                <a:tc>
                  <a:txBody>
                    <a:bodyPr/>
                    <a:lstStyle/>
                    <a:p>
                      <a:pPr algn="ctr"/>
                      <a:r>
                        <a:rPr sz="2400" b="0">
                          <a:solidFill>
                            <a:srgbClr val="1E302F"/>
                          </a:solidFill>
                          <a:latin typeface="Segoe UI"/>
                          <a:ea typeface="Segoe UI"/>
                          <a:cs typeface="Segoe UI"/>
                        </a:rPr>
                        <a:t>0.896</a:t>
                      </a:r>
                    </a:p>
                  </a:txBody>
                  <a:tcPr marL="95250" marR="95250" marT="95250" marB="95250" anchor="ctr">
                    <a:lnL w="12700">
                      <a:noFill/>
                    </a:lnL>
                    <a:lnR w="12700">
                      <a:noFill/>
                    </a:lnR>
                    <a:lnT w="12700">
                      <a:noFill/>
                    </a:lnT>
                    <a:lnB w="12700">
                      <a:noFill/>
                    </a:lnB>
                    <a:lnTlToBr w="12700">
                      <a:noFill/>
                    </a:lnTlToBr>
                    <a:lnBlToTr w="12700">
                      <a:noFill/>
                    </a:lnBlToTr>
                    <a:solidFill>
                      <a:srgbClr val="F6F4EE"/>
                    </a:solidFill>
                  </a:tcPr>
                </a:tc>
                <a:tc>
                  <a:txBody>
                    <a:bodyPr/>
                    <a:lstStyle/>
                    <a:p>
                      <a:pPr algn="ctr"/>
                      <a:r>
                        <a:rPr sz="2400" b="0">
                          <a:solidFill>
                            <a:srgbClr val="1E302F"/>
                          </a:solidFill>
                          <a:latin typeface="Segoe UI"/>
                          <a:ea typeface="Segoe UI"/>
                          <a:cs typeface="Segoe UI"/>
                        </a:rPr>
                        <a:t>12</a:t>
                      </a:r>
                    </a:p>
                  </a:txBody>
                  <a:tcPr marL="95250" marR="95250" marT="95250" marB="95250" anchor="ctr">
                    <a:lnL w="12700">
                      <a:noFill/>
                    </a:lnL>
                    <a:lnR w="12700">
                      <a:noFill/>
                    </a:lnR>
                    <a:lnT w="12700">
                      <a:noFill/>
                    </a:lnT>
                    <a:lnB w="12700">
                      <a:noFill/>
                    </a:lnB>
                    <a:lnTlToBr w="12700">
                      <a:noFill/>
                    </a:lnTlToBr>
                    <a:lnBlToTr w="12700">
                      <a:noFill/>
                    </a:lnBlToTr>
                    <a:solidFill>
                      <a:srgbClr val="F6F4EE"/>
                    </a:solidFill>
                  </a:tcPr>
                </a:tc>
                <a:extLst>
                  <a:ext uri="{0D108BD9-81ED-4DB2-BD59-A6C34878D82A}">
                    <a16:rowId xmlns:a16="http://schemas.microsoft.com/office/drawing/2014/main" val="10003"/>
                  </a:ext>
                </a:extLst>
              </a:tr>
            </a:tbl>
          </a:graphicData>
        </a:graphic>
      </p:graphicFrame>
      <p:sp>
        <p:nvSpPr>
          <p:cNvPr id="6" name="S03-header-rule">
            <a:extLst>
              <a:ext uri="{FF2B5EF4-FFF2-40B4-BE49-F238E27FC236}">
                <a16:creationId xmlns:a16="http://schemas.microsoft.com/office/drawing/2014/main" id="{2A2AAF51-46A5-463E-A7F5-84E1C43F04C6}"/>
              </a:ext>
            </a:extLst>
          </p:cNvPr>
          <p:cNvSpPr>
            <a:spLocks noGrp="1"/>
          </p:cNvSpPr>
          <p:nvPr/>
        </p:nvSpPr>
        <p:spPr>
          <a:xfrm>
            <a:off x="685800" y="3028950"/>
            <a:ext cx="10820400" cy="0"/>
          </a:xfrm>
          <a:prstGeom prst="line">
            <a:avLst/>
          </a:prstGeom>
          <a:ln w="9525">
            <a:solidFill>
              <a:srgbClr val="CFD8D1"/>
            </a:solidFill>
          </a:ln>
        </p:spPr>
      </p:sp>
      <p:sp>
        <p:nvSpPr>
          <p:cNvPr id="7" name="S03-limit">
            <a:extLst>
              <a:ext uri="{FF2B5EF4-FFF2-40B4-BE49-F238E27FC236}">
                <a16:creationId xmlns:a16="http://schemas.microsoft.com/office/drawing/2014/main" id="{C76E3D28-D525-484C-A6B4-EAEAC9D4C8F1}"/>
              </a:ext>
            </a:extLst>
          </p:cNvPr>
          <p:cNvSpPr>
            <a:spLocks noGrp="1"/>
          </p:cNvSpPr>
          <p:nvPr/>
        </p:nvSpPr>
        <p:spPr>
          <a:xfrm>
            <a:off x="685800" y="5619750"/>
            <a:ext cx="10820400" cy="400050"/>
          </a:xfrm>
          <a:prstGeom prst="rect">
            <a:avLst/>
          </a:prstGeom>
          <a:noFill/>
          <a:ln w="0">
            <a:noFill/>
          </a:ln>
        </p:spPr>
        <p:txBody>
          <a:bodyPr wrap="none" lIns="0" tIns="0" rIns="0" bIns="0" anchor="ctr">
            <a:noAutofit/>
          </a:bodyPr>
          <a:lstStyle/>
          <a:p>
            <a:pPr>
              <a:defRPr sz="1575" b="0">
                <a:solidFill>
                  <a:srgbClr val="586C68"/>
                </a:solidFill>
                <a:latin typeface="Segoe UI"/>
                <a:ea typeface="Segoe UI"/>
                <a:cs typeface="Segoe UI"/>
              </a:defRPr>
            </a:pPr>
            <a:r>
              <a:rPr sz="1575" b="0">
                <a:solidFill>
                  <a:srgbClr val="586C68"/>
                </a:solidFill>
                <a:latin typeface="Segoe UI"/>
                <a:ea typeface="Segoe UI"/>
                <a:cs typeface="Segoe UI"/>
              </a:rPr>
              <a:t>Same device and data assumed. Sample count, variance and dataset are unspecified.</a:t>
            </a:r>
          </a:p>
        </p:txBody>
      </p:sp>
    </p:spTree>
    <p:extLst>
      <p:ext uri="{BB962C8B-B14F-4D97-AF65-F5344CB8AC3E}">
        <p14:creationId xmlns:p14="http://schemas.microsoft.com/office/powerpoint/2010/main" val="98885199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6F4EE"/>
        </a:solidFill>
        <a:effectLst/>
      </p:bgPr>
    </p:bg>
    <p:spTree>
      <p:nvGrpSpPr>
        <p:cNvPr id="1" name=""/>
        <p:cNvGrpSpPr/>
        <p:nvPr/>
      </p:nvGrpSpPr>
      <p:grpSpPr>
        <a:xfrm>
          <a:off x="0" y="0"/>
          <a:ext cx="0" cy="0"/>
          <a:chOff x="0" y="0"/>
          <a:chExt cx="0" cy="0"/>
        </a:xfrm>
      </p:grpSpPr>
      <p:sp>
        <p:nvSpPr>
          <p:cNvPr id="15" name="S04-title">
            <a:extLst>
              <a:ext uri="{FF2B5EF4-FFF2-40B4-BE49-F238E27FC236}">
                <a16:creationId xmlns:a16="http://schemas.microsoft.com/office/drawing/2014/main" id="{F9D51027-223B-41BC-AC17-197B3DBF7543}"/>
              </a:ext>
            </a:extLst>
          </p:cNvPr>
          <p:cNvSpPr>
            <a:spLocks noGrp="1"/>
          </p:cNvSpPr>
          <p:nvPr/>
        </p:nvSpPr>
        <p:spPr>
          <a:xfrm>
            <a:off x="685800" y="895350"/>
            <a:ext cx="10820400" cy="666750"/>
          </a:xfrm>
          <a:prstGeom prst="rect">
            <a:avLst/>
          </a:prstGeom>
          <a:noFill/>
          <a:ln w="0">
            <a:noFill/>
          </a:ln>
        </p:spPr>
        <p:txBody>
          <a:bodyPr wrap="none" lIns="0" tIns="0" rIns="0" bIns="0" anchor="ctr">
            <a:noAutofit/>
          </a:bodyPr>
          <a:lstStyle/>
          <a:p>
            <a:pPr>
              <a:defRPr sz="3225" b="0">
                <a:solidFill>
                  <a:srgbClr val="1E302F"/>
                </a:solidFill>
                <a:latin typeface="Segoe UI"/>
                <a:ea typeface="Segoe UI"/>
                <a:cs typeface="Segoe UI"/>
              </a:defRPr>
            </a:pPr>
            <a:r>
              <a:rPr sz="3225" b="0">
                <a:solidFill>
                  <a:srgbClr val="1E302F"/>
                </a:solidFill>
                <a:latin typeface="Segoe UI"/>
                <a:ea typeface="Segoe UI"/>
                <a:cs typeface="Segoe UI"/>
              </a:rPr>
              <a:t>Lower latency, lower F1</a:t>
            </a:r>
          </a:p>
        </p:txBody>
      </p:sp>
      <p:sp>
        <p:nvSpPr>
          <p:cNvPr id="2" name="S04-disclosure">
            <a:extLst>
              <a:ext uri="{FF2B5EF4-FFF2-40B4-BE49-F238E27FC236}">
                <a16:creationId xmlns:a16="http://schemas.microsoft.com/office/drawing/2014/main" id="{1EB260BA-4F27-4BA6-8D38-37B44F32EEC2}"/>
              </a:ext>
            </a:extLst>
          </p:cNvPr>
          <p:cNvSpPr>
            <a:spLocks noGrp="1"/>
          </p:cNvSpPr>
          <p:nvPr/>
        </p:nvSpPr>
        <p:spPr>
          <a:xfrm>
            <a:off x="685800" y="6372225"/>
            <a:ext cx="9525000" cy="219075"/>
          </a:xfrm>
          <a:prstGeom prst="rect">
            <a:avLst/>
          </a:prstGeom>
          <a:noFill/>
          <a:ln w="0">
            <a:noFill/>
          </a:ln>
        </p:spPr>
        <p:txBody>
          <a:bodyPr wrap="none" lIns="0" tIns="0" rIns="0" bIns="0" anchor="ctr">
            <a:noAutofit/>
          </a:bodyPr>
          <a:lstStyle/>
          <a:p>
            <a:pPr>
              <a:defRPr sz="1275" b="0">
                <a:solidFill>
                  <a:srgbClr val="586C68"/>
                </a:solidFill>
                <a:latin typeface="Segoe UI"/>
                <a:ea typeface="Segoe UI"/>
                <a:cs typeface="Segoe UI"/>
              </a:defRPr>
            </a:pPr>
            <a:r>
              <a:rPr sz="1275" b="0">
                <a:solidFill>
                  <a:srgbClr val="586C68"/>
                </a:solidFill>
                <a:latin typeface="Segoe UI"/>
                <a:ea typeface="Segoe UI"/>
                <a:cs typeface="Segoe UI"/>
              </a:rPr>
              <a:t>Illustrative data · not experimental results</a:t>
            </a:r>
          </a:p>
        </p:txBody>
      </p:sp>
      <p:sp>
        <p:nvSpPr>
          <p:cNvPr id="3" name="S04-number">
            <a:extLst>
              <a:ext uri="{FF2B5EF4-FFF2-40B4-BE49-F238E27FC236}">
                <a16:creationId xmlns:a16="http://schemas.microsoft.com/office/drawing/2014/main" id="{5DA3B840-52E2-4CFB-9E71-57EF81AC896D}"/>
              </a:ext>
            </a:extLst>
          </p:cNvPr>
          <p:cNvSpPr>
            <a:spLocks noGrp="1"/>
          </p:cNvSpPr>
          <p:nvPr/>
        </p:nvSpPr>
        <p:spPr>
          <a:xfrm>
            <a:off x="11144250" y="6372225"/>
            <a:ext cx="361950" cy="219075"/>
          </a:xfrm>
          <a:prstGeom prst="rect">
            <a:avLst/>
          </a:prstGeom>
          <a:noFill/>
          <a:ln w="0">
            <a:noFill/>
          </a:ln>
        </p:spPr>
        <p:txBody>
          <a:bodyPr wrap="none" lIns="0" tIns="0" rIns="0" bIns="0" anchor="ctr">
            <a:noAutofit/>
          </a:bodyPr>
          <a:lstStyle/>
          <a:p>
            <a:pPr>
              <a:defRPr sz="1275" b="0">
                <a:solidFill>
                  <a:srgbClr val="586C68"/>
                </a:solidFill>
                <a:latin typeface="Segoe UI"/>
                <a:ea typeface="Segoe UI"/>
                <a:cs typeface="Segoe UI"/>
              </a:defRPr>
            </a:pPr>
            <a:r>
              <a:rPr sz="1275" b="0">
                <a:solidFill>
                  <a:srgbClr val="586C68"/>
                </a:solidFill>
                <a:latin typeface="Segoe UI"/>
                <a:ea typeface="Segoe UI"/>
                <a:cs typeface="Segoe UI"/>
              </a:rPr>
              <a:t>04</a:t>
            </a:r>
          </a:p>
        </p:txBody>
      </p:sp>
      <p:sp>
        <p:nvSpPr>
          <p:cNvPr id="4" name="S04-chart-unit">
            <a:extLst>
              <a:ext uri="{FF2B5EF4-FFF2-40B4-BE49-F238E27FC236}">
                <a16:creationId xmlns:a16="http://schemas.microsoft.com/office/drawing/2014/main" id="{7DFB2E3B-7E59-49D9-9E9F-766AAD1A3147}"/>
              </a:ext>
            </a:extLst>
          </p:cNvPr>
          <p:cNvSpPr>
            <a:spLocks noGrp="1"/>
          </p:cNvSpPr>
          <p:nvPr/>
        </p:nvSpPr>
        <p:spPr>
          <a:xfrm>
            <a:off x="685800" y="1647825"/>
            <a:ext cx="6762750" cy="361950"/>
          </a:xfrm>
          <a:prstGeom prst="rect">
            <a:avLst/>
          </a:prstGeom>
          <a:noFill/>
          <a:ln w="0">
            <a:noFill/>
          </a:ln>
        </p:spPr>
        <p:txBody>
          <a:bodyPr wrap="none" lIns="0" tIns="0" rIns="0" bIns="0" anchor="ctr">
            <a:noAutofit/>
          </a:bodyPr>
          <a:lstStyle/>
          <a:p>
            <a:pPr>
              <a:defRPr sz="1800" b="0">
                <a:solidFill>
                  <a:srgbClr val="586C68"/>
                </a:solidFill>
                <a:latin typeface="Segoe UI"/>
                <a:ea typeface="Segoe UI"/>
                <a:cs typeface="Segoe UI"/>
              </a:defRPr>
            </a:pPr>
            <a:r>
              <a:rPr sz="1800" b="0">
                <a:solidFill>
                  <a:srgbClr val="586C68"/>
                </a:solidFill>
                <a:latin typeface="Segoe UI"/>
                <a:ea typeface="Segoe UI"/>
                <a:cs typeface="Segoe UI"/>
              </a:rPr>
              <a:t>F1 · higher is better</a:t>
            </a:r>
          </a:p>
        </p:txBody>
      </p:sp>
      <p:graphicFrame>
        <p:nvGraphicFramePr>
          <p:cNvPr id="19" name="Chart"/>
          <p:cNvGraphicFramePr/>
          <p:nvPr/>
        </p:nvGraphicFramePr>
        <p:xfrm>
          <a:off x="619125" y="2095500"/>
          <a:ext cx="7191375" cy="3219450"/>
        </p:xfrm>
        <a:graphic>
          <a:graphicData uri="http://schemas.openxmlformats.org/drawingml/2006/chart">
            <c:chart xmlns:c="http://schemas.openxmlformats.org/drawingml/2006/chart" xmlns:r="http://schemas.openxmlformats.org/officeDocument/2006/relationships" r:id="rId3"/>
          </a:graphicData>
        </a:graphic>
      </p:graphicFrame>
      <p:sp>
        <p:nvSpPr>
          <p:cNvPr id="6" name="S04-x-unit">
            <a:extLst>
              <a:ext uri="{FF2B5EF4-FFF2-40B4-BE49-F238E27FC236}">
                <a16:creationId xmlns:a16="http://schemas.microsoft.com/office/drawing/2014/main" id="{A3024077-E05A-49AE-8D99-6588D9426546}"/>
              </a:ext>
            </a:extLst>
          </p:cNvPr>
          <p:cNvSpPr>
            <a:spLocks noGrp="1"/>
          </p:cNvSpPr>
          <p:nvPr/>
        </p:nvSpPr>
        <p:spPr>
          <a:xfrm>
            <a:off x="1428750" y="5181600"/>
            <a:ext cx="6191250" cy="333375"/>
          </a:xfrm>
          <a:prstGeom prst="rect">
            <a:avLst/>
          </a:prstGeom>
          <a:noFill/>
          <a:ln w="0">
            <a:noFill/>
          </a:ln>
        </p:spPr>
        <p:txBody>
          <a:bodyPr wrap="none" lIns="0" tIns="0" rIns="0" bIns="0" anchor="ctr">
            <a:noAutofit/>
          </a:bodyPr>
          <a:lstStyle/>
          <a:p>
            <a:pPr>
              <a:defRPr sz="1725" b="0">
                <a:solidFill>
                  <a:srgbClr val="586C68"/>
                </a:solidFill>
                <a:latin typeface="Segoe UI"/>
                <a:ea typeface="Segoe UI"/>
                <a:cs typeface="Segoe UI"/>
              </a:defRPr>
            </a:pPr>
            <a:r>
              <a:rPr sz="1725" b="0">
                <a:solidFill>
                  <a:srgbClr val="586C68"/>
                </a:solidFill>
                <a:latin typeface="Segoe UI"/>
                <a:ea typeface="Segoe UI"/>
                <a:cs typeface="Segoe UI"/>
              </a:rPr>
              <a:t>Latency (ms) · lower is better</a:t>
            </a:r>
          </a:p>
        </p:txBody>
      </p:sp>
      <p:sp>
        <p:nvSpPr>
          <p:cNvPr id="7" name="S04-basis">
            <a:extLst>
              <a:ext uri="{FF2B5EF4-FFF2-40B4-BE49-F238E27FC236}">
                <a16:creationId xmlns:a16="http://schemas.microsoft.com/office/drawing/2014/main" id="{7E3D2D07-C993-4C7A-B953-E86CF8ABB4AF}"/>
              </a:ext>
            </a:extLst>
          </p:cNvPr>
          <p:cNvSpPr>
            <a:spLocks noGrp="1"/>
          </p:cNvSpPr>
          <p:nvPr/>
        </p:nvSpPr>
        <p:spPr>
          <a:xfrm>
            <a:off x="8382000" y="1714500"/>
            <a:ext cx="3124200" cy="333375"/>
          </a:xfrm>
          <a:prstGeom prst="rect">
            <a:avLst/>
          </a:prstGeom>
          <a:noFill/>
          <a:ln w="0">
            <a:noFill/>
          </a:ln>
        </p:spPr>
        <p:txBody>
          <a:bodyPr wrap="none" lIns="0" tIns="0" rIns="0" bIns="0" anchor="ctr">
            <a:noAutofit/>
          </a:bodyPr>
          <a:lstStyle/>
          <a:p>
            <a:pPr>
              <a:defRPr sz="1800" b="0">
                <a:solidFill>
                  <a:srgbClr val="586C68"/>
                </a:solidFill>
                <a:latin typeface="Segoe UI"/>
                <a:ea typeface="Segoe UI"/>
                <a:cs typeface="Segoe UI"/>
              </a:defRPr>
            </a:pPr>
            <a:r>
              <a:rPr sz="1800" b="0">
                <a:solidFill>
                  <a:srgbClr val="586C68"/>
                </a:solidFill>
                <a:latin typeface="Segoe UI"/>
                <a:ea typeface="Segoe UI"/>
                <a:cs typeface="Segoe UI"/>
              </a:rPr>
              <a:t>Baseline to INT8</a:t>
            </a:r>
          </a:p>
        </p:txBody>
      </p:sp>
      <p:sp>
        <p:nvSpPr>
          <p:cNvPr id="8" name="S04-latency">
            <a:extLst>
              <a:ext uri="{FF2B5EF4-FFF2-40B4-BE49-F238E27FC236}">
                <a16:creationId xmlns:a16="http://schemas.microsoft.com/office/drawing/2014/main" id="{9E9EFD97-D574-47D8-BA46-B9C4F0004432}"/>
              </a:ext>
            </a:extLst>
          </p:cNvPr>
          <p:cNvSpPr>
            <a:spLocks noGrp="1"/>
          </p:cNvSpPr>
          <p:nvPr/>
        </p:nvSpPr>
        <p:spPr>
          <a:xfrm>
            <a:off x="8382000" y="2247900"/>
            <a:ext cx="3048000" cy="628650"/>
          </a:xfrm>
          <a:prstGeom prst="rect">
            <a:avLst/>
          </a:prstGeom>
          <a:noFill/>
          <a:ln w="0">
            <a:noFill/>
          </a:ln>
        </p:spPr>
        <p:txBody>
          <a:bodyPr wrap="none" lIns="0" tIns="0" rIns="0" bIns="0" anchor="ctr">
            <a:noAutofit/>
          </a:bodyPr>
          <a:lstStyle/>
          <a:p>
            <a:pPr>
              <a:defRPr sz="3450" b="0">
                <a:solidFill>
                  <a:srgbClr val="1E302F"/>
                </a:solidFill>
                <a:latin typeface="Segoe UI"/>
                <a:ea typeface="Segoe UI"/>
                <a:cs typeface="Segoe UI"/>
              </a:defRPr>
            </a:pPr>
            <a:r>
              <a:rPr sz="3450" b="0">
                <a:solidFill>
                  <a:srgbClr val="1E302F"/>
                </a:solidFill>
                <a:latin typeface="Segoe UI"/>
                <a:ea typeface="Segoe UI"/>
                <a:cs typeface="Segoe UI"/>
              </a:rPr>
              <a:t>−55%</a:t>
            </a:r>
          </a:p>
        </p:txBody>
      </p:sp>
      <p:sp>
        <p:nvSpPr>
          <p:cNvPr id="9" name="S04-latency-label">
            <a:extLst>
              <a:ext uri="{FF2B5EF4-FFF2-40B4-BE49-F238E27FC236}">
                <a16:creationId xmlns:a16="http://schemas.microsoft.com/office/drawing/2014/main" id="{F2A126D7-6A59-49B2-8FDE-AE6428678721}"/>
              </a:ext>
            </a:extLst>
          </p:cNvPr>
          <p:cNvSpPr>
            <a:spLocks noGrp="1"/>
          </p:cNvSpPr>
          <p:nvPr/>
        </p:nvSpPr>
        <p:spPr>
          <a:xfrm>
            <a:off x="8382000" y="2876550"/>
            <a:ext cx="3124200" cy="361950"/>
          </a:xfrm>
          <a:prstGeom prst="rect">
            <a:avLst/>
          </a:prstGeom>
          <a:noFill/>
          <a:ln w="0">
            <a:noFill/>
          </a:ln>
        </p:spPr>
        <p:txBody>
          <a:bodyPr wrap="none" lIns="0" tIns="0" rIns="0" bIns="0" anchor="ctr">
            <a:noAutofit/>
          </a:bodyPr>
          <a:lstStyle/>
          <a:p>
            <a:pPr>
              <a:defRPr sz="1725" b="0">
                <a:solidFill>
                  <a:srgbClr val="586C68"/>
                </a:solidFill>
                <a:latin typeface="Segoe UI"/>
                <a:ea typeface="Segoe UI"/>
                <a:cs typeface="Segoe UI"/>
              </a:defRPr>
            </a:pPr>
            <a:r>
              <a:rPr sz="1725" b="0">
                <a:solidFill>
                  <a:srgbClr val="586C68"/>
                </a:solidFill>
                <a:latin typeface="Segoe UI"/>
                <a:ea typeface="Segoe UI"/>
                <a:cs typeface="Segoe UI"/>
              </a:rPr>
              <a:t>Latency · 120 → 54 ms</a:t>
            </a:r>
          </a:p>
        </p:txBody>
      </p:sp>
      <p:sp>
        <p:nvSpPr>
          <p:cNvPr id="10" name="S04-f1">
            <a:extLst>
              <a:ext uri="{FF2B5EF4-FFF2-40B4-BE49-F238E27FC236}">
                <a16:creationId xmlns:a16="http://schemas.microsoft.com/office/drawing/2014/main" id="{A239B722-567F-4F26-A1B0-867523DD5901}"/>
              </a:ext>
            </a:extLst>
          </p:cNvPr>
          <p:cNvSpPr>
            <a:spLocks noGrp="1"/>
          </p:cNvSpPr>
          <p:nvPr/>
        </p:nvSpPr>
        <p:spPr>
          <a:xfrm>
            <a:off x="8382000" y="3419475"/>
            <a:ext cx="3048000" cy="628650"/>
          </a:xfrm>
          <a:prstGeom prst="rect">
            <a:avLst/>
          </a:prstGeom>
          <a:noFill/>
          <a:ln w="0">
            <a:noFill/>
          </a:ln>
        </p:spPr>
        <p:txBody>
          <a:bodyPr wrap="none" lIns="0" tIns="0" rIns="0" bIns="0" anchor="ctr">
            <a:noAutofit/>
          </a:bodyPr>
          <a:lstStyle/>
          <a:p>
            <a:pPr>
              <a:defRPr sz="3450" b="0">
                <a:solidFill>
                  <a:srgbClr val="1E302F"/>
                </a:solidFill>
                <a:latin typeface="Segoe UI"/>
                <a:ea typeface="Segoe UI"/>
                <a:cs typeface="Segoe UI"/>
              </a:defRPr>
            </a:pPr>
            <a:r>
              <a:rPr sz="3450" b="0">
                <a:solidFill>
                  <a:srgbClr val="1E302F"/>
                </a:solidFill>
                <a:latin typeface="Segoe UI"/>
                <a:ea typeface="Segoe UI"/>
                <a:cs typeface="Segoe UI"/>
              </a:rPr>
              <a:t>−0.014</a:t>
            </a:r>
          </a:p>
        </p:txBody>
      </p:sp>
      <p:sp>
        <p:nvSpPr>
          <p:cNvPr id="11" name="S04-f1-label">
            <a:extLst>
              <a:ext uri="{FF2B5EF4-FFF2-40B4-BE49-F238E27FC236}">
                <a16:creationId xmlns:a16="http://schemas.microsoft.com/office/drawing/2014/main" id="{0C4B5FF2-4E78-480B-A1B2-DCE08F07FD46}"/>
              </a:ext>
            </a:extLst>
          </p:cNvPr>
          <p:cNvSpPr>
            <a:spLocks noGrp="1"/>
          </p:cNvSpPr>
          <p:nvPr/>
        </p:nvSpPr>
        <p:spPr>
          <a:xfrm>
            <a:off x="8382000" y="4048125"/>
            <a:ext cx="3124200" cy="361950"/>
          </a:xfrm>
          <a:prstGeom prst="rect">
            <a:avLst/>
          </a:prstGeom>
          <a:noFill/>
          <a:ln w="0">
            <a:noFill/>
          </a:ln>
        </p:spPr>
        <p:txBody>
          <a:bodyPr wrap="none" lIns="0" tIns="0" rIns="0" bIns="0" anchor="ctr">
            <a:noAutofit/>
          </a:bodyPr>
          <a:lstStyle/>
          <a:p>
            <a:pPr>
              <a:defRPr sz="1725" b="0">
                <a:solidFill>
                  <a:srgbClr val="586C68"/>
                </a:solidFill>
                <a:latin typeface="Segoe UI"/>
                <a:ea typeface="Segoe UI"/>
                <a:cs typeface="Segoe UI"/>
              </a:defRPr>
            </a:pPr>
            <a:r>
              <a:rPr sz="1725" b="0">
                <a:solidFill>
                  <a:srgbClr val="586C68"/>
                </a:solidFill>
                <a:latin typeface="Segoe UI"/>
                <a:ea typeface="Segoe UI"/>
                <a:cs typeface="Segoe UI"/>
              </a:rPr>
              <a:t>F1 · absolute difference</a:t>
            </a:r>
          </a:p>
        </p:txBody>
      </p:sp>
      <p:sp>
        <p:nvSpPr>
          <p:cNvPr id="12" name="S04-size-values">
            <a:extLst>
              <a:ext uri="{FF2B5EF4-FFF2-40B4-BE49-F238E27FC236}">
                <a16:creationId xmlns:a16="http://schemas.microsoft.com/office/drawing/2014/main" id="{74F1FCF4-FC36-4AC8-A03A-B9752510C58C}"/>
              </a:ext>
            </a:extLst>
          </p:cNvPr>
          <p:cNvSpPr>
            <a:spLocks noGrp="1"/>
          </p:cNvSpPr>
          <p:nvPr/>
        </p:nvSpPr>
        <p:spPr>
          <a:xfrm>
            <a:off x="8382000" y="4772025"/>
            <a:ext cx="3124200" cy="457200"/>
          </a:xfrm>
          <a:prstGeom prst="rect">
            <a:avLst/>
          </a:prstGeom>
          <a:noFill/>
          <a:ln w="0">
            <a:noFill/>
          </a:ln>
        </p:spPr>
        <p:txBody>
          <a:bodyPr wrap="none" lIns="0" tIns="0" rIns="0" bIns="0" anchor="ctr">
            <a:noAutofit/>
          </a:bodyPr>
          <a:lstStyle/>
          <a:p>
            <a:pPr>
              <a:defRPr sz="1650" b="0">
                <a:solidFill>
                  <a:srgbClr val="586C68"/>
                </a:solidFill>
                <a:latin typeface="Segoe UI"/>
                <a:ea typeface="Segoe UI"/>
                <a:cs typeface="Segoe UI"/>
              </a:defRPr>
            </a:pPr>
            <a:r>
              <a:rPr sz="1650" b="0">
                <a:solidFill>
                  <a:srgbClr val="586C68"/>
                </a:solidFill>
                <a:latin typeface="Segoe UI"/>
                <a:ea typeface="Segoe UI"/>
                <a:cs typeface="Segoe UI"/>
              </a:rPr>
              <a:t>Size: 48 → 12 MB (−75%)</a:t>
            </a:r>
          </a:p>
        </p:txBody>
      </p:sp>
      <p:sp>
        <p:nvSpPr>
          <p:cNvPr id="13" name="S04-stage1">
            <a:extLst>
              <a:ext uri="{FF2B5EF4-FFF2-40B4-BE49-F238E27FC236}">
                <a16:creationId xmlns:a16="http://schemas.microsoft.com/office/drawing/2014/main" id="{D7E5A57D-54CB-40FF-B95C-46E49A441E55}"/>
              </a:ext>
            </a:extLst>
          </p:cNvPr>
          <p:cNvSpPr>
            <a:spLocks noGrp="1"/>
          </p:cNvSpPr>
          <p:nvPr/>
        </p:nvSpPr>
        <p:spPr>
          <a:xfrm>
            <a:off x="685800" y="5467350"/>
            <a:ext cx="10820400" cy="304800"/>
          </a:xfrm>
          <a:prstGeom prst="rect">
            <a:avLst/>
          </a:prstGeom>
          <a:noFill/>
          <a:ln w="0">
            <a:noFill/>
          </a:ln>
        </p:spPr>
        <p:txBody>
          <a:bodyPr wrap="none" lIns="0" tIns="0" rIns="0" bIns="0" anchor="ctr">
            <a:noAutofit/>
          </a:bodyPr>
          <a:lstStyle/>
          <a:p>
            <a:pPr>
              <a:defRPr sz="1650" b="0">
                <a:solidFill>
                  <a:srgbClr val="586C68"/>
                </a:solidFill>
                <a:latin typeface="Segoe UI"/>
                <a:ea typeface="Segoe UI"/>
                <a:cs typeface="Segoe UI"/>
              </a:defRPr>
            </a:pPr>
            <a:r>
              <a:rPr sz="1650" b="0">
                <a:solidFill>
                  <a:srgbClr val="586C68"/>
                </a:solidFill>
                <a:latin typeface="Segoe UI"/>
                <a:ea typeface="Segoe UI"/>
                <a:cs typeface="Segoe UI"/>
              </a:rPr>
              <a:t>Distillation: latency −40%; F1 −0.008</a:t>
            </a:r>
          </a:p>
        </p:txBody>
      </p:sp>
      <p:sp>
        <p:nvSpPr>
          <p:cNvPr id="14" name="S04-stage2">
            <a:extLst>
              <a:ext uri="{FF2B5EF4-FFF2-40B4-BE49-F238E27FC236}">
                <a16:creationId xmlns:a16="http://schemas.microsoft.com/office/drawing/2014/main" id="{EA8991D9-3BB2-48EA-9E6A-59478E9AA55D}"/>
              </a:ext>
            </a:extLst>
          </p:cNvPr>
          <p:cNvSpPr>
            <a:spLocks noGrp="1"/>
          </p:cNvSpPr>
          <p:nvPr/>
        </p:nvSpPr>
        <p:spPr>
          <a:xfrm>
            <a:off x="685800" y="5810250"/>
            <a:ext cx="10820400" cy="304800"/>
          </a:xfrm>
          <a:prstGeom prst="rect">
            <a:avLst/>
          </a:prstGeom>
          <a:noFill/>
          <a:ln w="0">
            <a:noFill/>
          </a:ln>
        </p:spPr>
        <p:txBody>
          <a:bodyPr wrap="none" lIns="0" tIns="0" rIns="0" bIns="0" anchor="ctr">
            <a:noAutofit/>
          </a:bodyPr>
          <a:lstStyle/>
          <a:p>
            <a:pPr>
              <a:defRPr sz="1650" b="0">
                <a:solidFill>
                  <a:srgbClr val="586C68"/>
                </a:solidFill>
                <a:latin typeface="Segoe UI"/>
                <a:ea typeface="Segoe UI"/>
                <a:cs typeface="Segoe UI"/>
              </a:defRPr>
            </a:pPr>
            <a:r>
              <a:rPr sz="1650" b="0">
                <a:solidFill>
                  <a:srgbClr val="586C68"/>
                </a:solidFill>
                <a:latin typeface="Segoe UI"/>
                <a:ea typeface="Segoe UI"/>
                <a:cs typeface="Segoe UI"/>
              </a:rPr>
              <a:t>Additional INT8 step: latency −25%; F1 −0.006</a:t>
            </a:r>
          </a:p>
        </p:txBody>
      </p:sp>
    </p:spTree>
    <p:extLst>
      <p:ext uri="{BB962C8B-B14F-4D97-AF65-F5344CB8AC3E}">
        <p14:creationId xmlns:p14="http://schemas.microsoft.com/office/powerpoint/2010/main" val="1568015087"/>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6F4EE"/>
        </a:solidFill>
        <a:effectLst/>
      </p:bgPr>
    </p:bg>
    <p:spTree>
      <p:nvGrpSpPr>
        <p:cNvPr id="1" name=""/>
        <p:cNvGrpSpPr/>
        <p:nvPr/>
      </p:nvGrpSpPr>
      <p:grpSpPr>
        <a:xfrm>
          <a:off x="0" y="0"/>
          <a:ext cx="0" cy="0"/>
          <a:chOff x="0" y="0"/>
          <a:chExt cx="0" cy="0"/>
        </a:xfrm>
      </p:grpSpPr>
      <p:sp>
        <p:nvSpPr>
          <p:cNvPr id="14" name="S05-title">
            <a:extLst>
              <a:ext uri="{FF2B5EF4-FFF2-40B4-BE49-F238E27FC236}">
                <a16:creationId xmlns:a16="http://schemas.microsoft.com/office/drawing/2014/main" id="{305BBB2B-B82D-481D-9367-26198045A45B}"/>
              </a:ext>
            </a:extLst>
          </p:cNvPr>
          <p:cNvSpPr>
            <a:spLocks noGrp="1"/>
          </p:cNvSpPr>
          <p:nvPr/>
        </p:nvSpPr>
        <p:spPr>
          <a:xfrm>
            <a:off x="685800" y="895350"/>
            <a:ext cx="10820400" cy="666750"/>
          </a:xfrm>
          <a:prstGeom prst="rect">
            <a:avLst/>
          </a:prstGeom>
          <a:noFill/>
          <a:ln w="0">
            <a:noFill/>
          </a:ln>
        </p:spPr>
        <p:txBody>
          <a:bodyPr wrap="none" lIns="0" tIns="0" rIns="0" bIns="0" anchor="ctr">
            <a:noAutofit/>
          </a:bodyPr>
          <a:lstStyle/>
          <a:p>
            <a:pPr>
              <a:defRPr sz="3225" b="0">
                <a:solidFill>
                  <a:srgbClr val="1E302F"/>
                </a:solidFill>
                <a:latin typeface="Segoe UI"/>
                <a:ea typeface="Segoe UI"/>
                <a:cs typeface="Segoe UI"/>
              </a:defRPr>
            </a:pPr>
            <a:r>
              <a:rPr sz="3225" b="0">
                <a:solidFill>
                  <a:srgbClr val="1E302F"/>
                </a:solidFill>
                <a:latin typeface="Segoe UI"/>
                <a:ea typeface="Segoe UI"/>
                <a:cs typeface="Segoe UI"/>
              </a:rPr>
              <a:t>Deployment criteria remain open</a:t>
            </a:r>
          </a:p>
        </p:txBody>
      </p:sp>
      <p:sp>
        <p:nvSpPr>
          <p:cNvPr id="2" name="S05-disclosure">
            <a:extLst>
              <a:ext uri="{FF2B5EF4-FFF2-40B4-BE49-F238E27FC236}">
                <a16:creationId xmlns:a16="http://schemas.microsoft.com/office/drawing/2014/main" id="{B0D8AE88-FFF3-4B76-959C-9EDFD88C5C6F}"/>
              </a:ext>
            </a:extLst>
          </p:cNvPr>
          <p:cNvSpPr>
            <a:spLocks noGrp="1"/>
          </p:cNvSpPr>
          <p:nvPr/>
        </p:nvSpPr>
        <p:spPr>
          <a:xfrm>
            <a:off x="685800" y="6372225"/>
            <a:ext cx="9525000" cy="219075"/>
          </a:xfrm>
          <a:prstGeom prst="rect">
            <a:avLst/>
          </a:prstGeom>
          <a:noFill/>
          <a:ln w="0">
            <a:noFill/>
          </a:ln>
        </p:spPr>
        <p:txBody>
          <a:bodyPr wrap="none" lIns="0" tIns="0" rIns="0" bIns="0" anchor="ctr">
            <a:noAutofit/>
          </a:bodyPr>
          <a:lstStyle/>
          <a:p>
            <a:pPr>
              <a:defRPr sz="1275" b="0">
                <a:solidFill>
                  <a:srgbClr val="586C68"/>
                </a:solidFill>
                <a:latin typeface="Segoe UI"/>
                <a:ea typeface="Segoe UI"/>
                <a:cs typeface="Segoe UI"/>
              </a:defRPr>
            </a:pPr>
            <a:r>
              <a:rPr sz="1275" b="0">
                <a:solidFill>
                  <a:srgbClr val="586C68"/>
                </a:solidFill>
                <a:latin typeface="Segoe UI"/>
                <a:ea typeface="Segoe UI"/>
                <a:cs typeface="Segoe UI"/>
              </a:rPr>
              <a:t>Illustrative data · not experimental results</a:t>
            </a:r>
          </a:p>
        </p:txBody>
      </p:sp>
      <p:sp>
        <p:nvSpPr>
          <p:cNvPr id="3" name="S05-number">
            <a:extLst>
              <a:ext uri="{FF2B5EF4-FFF2-40B4-BE49-F238E27FC236}">
                <a16:creationId xmlns:a16="http://schemas.microsoft.com/office/drawing/2014/main" id="{BEA8FA2B-D07E-4036-8236-7B6B6F8529FF}"/>
              </a:ext>
            </a:extLst>
          </p:cNvPr>
          <p:cNvSpPr>
            <a:spLocks noGrp="1"/>
          </p:cNvSpPr>
          <p:nvPr/>
        </p:nvSpPr>
        <p:spPr>
          <a:xfrm>
            <a:off x="11144250" y="6372225"/>
            <a:ext cx="361950" cy="219075"/>
          </a:xfrm>
          <a:prstGeom prst="rect">
            <a:avLst/>
          </a:prstGeom>
          <a:noFill/>
          <a:ln w="0">
            <a:noFill/>
          </a:ln>
        </p:spPr>
        <p:txBody>
          <a:bodyPr wrap="none" lIns="0" tIns="0" rIns="0" bIns="0" anchor="ctr">
            <a:noAutofit/>
          </a:bodyPr>
          <a:lstStyle/>
          <a:p>
            <a:pPr>
              <a:defRPr sz="1275" b="0">
                <a:solidFill>
                  <a:srgbClr val="586C68"/>
                </a:solidFill>
                <a:latin typeface="Segoe UI"/>
                <a:ea typeface="Segoe UI"/>
                <a:cs typeface="Segoe UI"/>
              </a:defRPr>
            </a:pPr>
            <a:r>
              <a:rPr sz="1275" b="0">
                <a:solidFill>
                  <a:srgbClr val="586C68"/>
                </a:solidFill>
                <a:latin typeface="Segoe UI"/>
                <a:ea typeface="Segoe UI"/>
                <a:cs typeface="Segoe UI"/>
              </a:rPr>
              <a:t>05</a:t>
            </a:r>
          </a:p>
        </p:txBody>
      </p:sp>
      <p:sp>
        <p:nvSpPr>
          <p:cNvPr id="4" name="S05-main">
            <a:extLst>
              <a:ext uri="{FF2B5EF4-FFF2-40B4-BE49-F238E27FC236}">
                <a16:creationId xmlns:a16="http://schemas.microsoft.com/office/drawing/2014/main" id="{F3844DB1-120B-449A-990B-47862B560B28}"/>
              </a:ext>
            </a:extLst>
          </p:cNvPr>
          <p:cNvSpPr>
            <a:spLocks noGrp="1"/>
          </p:cNvSpPr>
          <p:nvPr/>
        </p:nvSpPr>
        <p:spPr>
          <a:xfrm>
            <a:off x="685800" y="1990725"/>
            <a:ext cx="10820400" cy="723900"/>
          </a:xfrm>
          <a:prstGeom prst="rect">
            <a:avLst/>
          </a:prstGeom>
          <a:noFill/>
          <a:ln w="0">
            <a:noFill/>
          </a:ln>
        </p:spPr>
        <p:txBody>
          <a:bodyPr wrap="none" lIns="0" tIns="0" rIns="0" bIns="0" anchor="ctr">
            <a:noAutofit/>
          </a:bodyPr>
          <a:lstStyle/>
          <a:p>
            <a:pPr>
              <a:defRPr sz="3675" b="0">
                <a:solidFill>
                  <a:srgbClr val="287D78"/>
                </a:solidFill>
                <a:latin typeface="Segoe UI"/>
                <a:ea typeface="Segoe UI"/>
                <a:cs typeface="Segoe UI"/>
              </a:defRPr>
            </a:pPr>
            <a:r>
              <a:rPr sz="3675" b="0">
                <a:solidFill>
                  <a:srgbClr val="287D78"/>
                </a:solidFill>
                <a:latin typeface="Segoe UI"/>
                <a:ea typeface="Segoe UI"/>
                <a:cs typeface="Segoe UI"/>
              </a:rPr>
              <a:t>Efficiency gains come with lower F1</a:t>
            </a:r>
          </a:p>
        </p:txBody>
      </p:sp>
      <p:sp>
        <p:nvSpPr>
          <p:cNvPr id="5" name="S05-rule-1">
            <a:extLst>
              <a:ext uri="{FF2B5EF4-FFF2-40B4-BE49-F238E27FC236}">
                <a16:creationId xmlns:a16="http://schemas.microsoft.com/office/drawing/2014/main" id="{6A36D0D8-6C39-41CC-87C7-2D53318D70A2}"/>
              </a:ext>
            </a:extLst>
          </p:cNvPr>
          <p:cNvSpPr>
            <a:spLocks noGrp="1"/>
          </p:cNvSpPr>
          <p:nvPr/>
        </p:nvSpPr>
        <p:spPr>
          <a:xfrm>
            <a:off x="685800" y="3124200"/>
            <a:ext cx="10820400" cy="0"/>
          </a:xfrm>
          <a:prstGeom prst="line">
            <a:avLst/>
          </a:prstGeom>
          <a:ln w="9525">
            <a:solidFill>
              <a:srgbClr val="CFD8D1"/>
            </a:solidFill>
          </a:ln>
        </p:spPr>
      </p:sp>
      <p:sp>
        <p:nvSpPr>
          <p:cNvPr id="6" name="S05-label1">
            <a:extLst>
              <a:ext uri="{FF2B5EF4-FFF2-40B4-BE49-F238E27FC236}">
                <a16:creationId xmlns:a16="http://schemas.microsoft.com/office/drawing/2014/main" id="{BD92DF92-0C21-42CF-B3D6-616F43AFD118}"/>
              </a:ext>
            </a:extLst>
          </p:cNvPr>
          <p:cNvSpPr>
            <a:spLocks noGrp="1"/>
          </p:cNvSpPr>
          <p:nvPr/>
        </p:nvSpPr>
        <p:spPr>
          <a:xfrm>
            <a:off x="685800" y="3257550"/>
            <a:ext cx="2914650" cy="495300"/>
          </a:xfrm>
          <a:prstGeom prst="rect">
            <a:avLst/>
          </a:prstGeom>
          <a:noFill/>
          <a:ln w="0">
            <a:noFill/>
          </a:ln>
        </p:spPr>
        <p:txBody>
          <a:bodyPr wrap="none" lIns="0" tIns="0" rIns="0" bIns="0" anchor="ctr">
            <a:noAutofit/>
          </a:bodyPr>
          <a:lstStyle/>
          <a:p>
            <a:pPr>
              <a:defRPr sz="1875" b="0">
                <a:solidFill>
                  <a:srgbClr val="1E302F"/>
                </a:solidFill>
                <a:latin typeface="Segoe UI"/>
                <a:ea typeface="Segoe UI"/>
                <a:cs typeface="Segoe UI"/>
              </a:defRPr>
            </a:pPr>
            <a:r>
              <a:rPr sz="1875" b="0">
                <a:solidFill>
                  <a:srgbClr val="1E302F"/>
                </a:solidFill>
                <a:latin typeface="Segoe UI"/>
                <a:ea typeface="Segoe UI"/>
                <a:cs typeface="Segoe UI"/>
              </a:rPr>
              <a:t>Set the threshold</a:t>
            </a:r>
          </a:p>
        </p:txBody>
      </p:sp>
      <p:sp>
        <p:nvSpPr>
          <p:cNvPr id="7" name="S05-body1">
            <a:extLst>
              <a:ext uri="{FF2B5EF4-FFF2-40B4-BE49-F238E27FC236}">
                <a16:creationId xmlns:a16="http://schemas.microsoft.com/office/drawing/2014/main" id="{47516BCC-3FD6-4DBC-BE59-3A8CAA7C06B5}"/>
              </a:ext>
            </a:extLst>
          </p:cNvPr>
          <p:cNvSpPr>
            <a:spLocks noGrp="1"/>
          </p:cNvSpPr>
          <p:nvPr/>
        </p:nvSpPr>
        <p:spPr>
          <a:xfrm>
            <a:off x="3829050" y="3257550"/>
            <a:ext cx="7677150" cy="495300"/>
          </a:xfrm>
          <a:prstGeom prst="rect">
            <a:avLst/>
          </a:prstGeom>
          <a:noFill/>
          <a:ln w="0">
            <a:noFill/>
          </a:ln>
        </p:spPr>
        <p:txBody>
          <a:bodyPr wrap="none" lIns="0" tIns="0" rIns="0" bIns="0" anchor="ctr">
            <a:noAutofit/>
          </a:bodyPr>
          <a:lstStyle/>
          <a:p>
            <a:pPr>
              <a:defRPr sz="1800" b="0">
                <a:solidFill>
                  <a:srgbClr val="586C68"/>
                </a:solidFill>
                <a:latin typeface="Segoe UI"/>
                <a:ea typeface="Segoe UI"/>
                <a:cs typeface="Segoe UI"/>
              </a:defRPr>
            </a:pPr>
            <a:r>
              <a:rPr sz="1800" b="0">
                <a:solidFill>
                  <a:srgbClr val="586C68"/>
                </a:solidFill>
                <a:latin typeface="Segoe UI"/>
                <a:ea typeface="Segoe UI"/>
                <a:cs typeface="Segoe UI"/>
              </a:rPr>
              <a:t>Acceptable F1 loss and latency budget.</a:t>
            </a:r>
          </a:p>
        </p:txBody>
      </p:sp>
      <p:sp>
        <p:nvSpPr>
          <p:cNvPr id="8" name="S05-rule-2">
            <a:extLst>
              <a:ext uri="{FF2B5EF4-FFF2-40B4-BE49-F238E27FC236}">
                <a16:creationId xmlns:a16="http://schemas.microsoft.com/office/drawing/2014/main" id="{B0CFAE70-80A6-4E01-B636-6E245BCBC22C}"/>
              </a:ext>
            </a:extLst>
          </p:cNvPr>
          <p:cNvSpPr>
            <a:spLocks noGrp="1"/>
          </p:cNvSpPr>
          <p:nvPr/>
        </p:nvSpPr>
        <p:spPr>
          <a:xfrm>
            <a:off x="685800" y="3962400"/>
            <a:ext cx="10820400" cy="0"/>
          </a:xfrm>
          <a:prstGeom prst="line">
            <a:avLst/>
          </a:prstGeom>
          <a:ln w="9525">
            <a:solidFill>
              <a:srgbClr val="CFD8D1"/>
            </a:solidFill>
          </a:ln>
        </p:spPr>
      </p:sp>
      <p:sp>
        <p:nvSpPr>
          <p:cNvPr id="9" name="S05-label2">
            <a:extLst>
              <a:ext uri="{FF2B5EF4-FFF2-40B4-BE49-F238E27FC236}">
                <a16:creationId xmlns:a16="http://schemas.microsoft.com/office/drawing/2014/main" id="{89801CBE-3DCE-4518-A0E3-9DECD1C8AB7C}"/>
              </a:ext>
            </a:extLst>
          </p:cNvPr>
          <p:cNvSpPr>
            <a:spLocks noGrp="1"/>
          </p:cNvSpPr>
          <p:nvPr/>
        </p:nvSpPr>
        <p:spPr>
          <a:xfrm>
            <a:off x="685800" y="4095750"/>
            <a:ext cx="2914650" cy="495300"/>
          </a:xfrm>
          <a:prstGeom prst="rect">
            <a:avLst/>
          </a:prstGeom>
          <a:noFill/>
          <a:ln w="0">
            <a:noFill/>
          </a:ln>
        </p:spPr>
        <p:txBody>
          <a:bodyPr wrap="none" lIns="0" tIns="0" rIns="0" bIns="0" anchor="ctr">
            <a:noAutofit/>
          </a:bodyPr>
          <a:lstStyle/>
          <a:p>
            <a:pPr>
              <a:defRPr sz="1875" b="0">
                <a:solidFill>
                  <a:srgbClr val="1E302F"/>
                </a:solidFill>
                <a:latin typeface="Segoe UI"/>
                <a:ea typeface="Segoe UI"/>
                <a:cs typeface="Segoe UI"/>
              </a:defRPr>
            </a:pPr>
            <a:r>
              <a:rPr sz="1875" b="0">
                <a:solidFill>
                  <a:srgbClr val="1E302F"/>
                </a:solidFill>
                <a:latin typeface="Segoe UI"/>
                <a:ea typeface="Segoe UI"/>
                <a:cs typeface="Segoe UI"/>
              </a:rPr>
              <a:t>Test the behavior</a:t>
            </a:r>
          </a:p>
        </p:txBody>
      </p:sp>
      <p:sp>
        <p:nvSpPr>
          <p:cNvPr id="10" name="S05-body2">
            <a:extLst>
              <a:ext uri="{FF2B5EF4-FFF2-40B4-BE49-F238E27FC236}">
                <a16:creationId xmlns:a16="http://schemas.microsoft.com/office/drawing/2014/main" id="{B0E9ABF8-C5E1-4EEC-B9D8-E5B8825C501B}"/>
              </a:ext>
            </a:extLst>
          </p:cNvPr>
          <p:cNvSpPr>
            <a:spLocks noGrp="1"/>
          </p:cNvSpPr>
          <p:nvPr/>
        </p:nvSpPr>
        <p:spPr>
          <a:xfrm>
            <a:off x="3829050" y="4095750"/>
            <a:ext cx="7677150" cy="495300"/>
          </a:xfrm>
          <a:prstGeom prst="rect">
            <a:avLst/>
          </a:prstGeom>
          <a:noFill/>
          <a:ln w="0">
            <a:noFill/>
          </a:ln>
        </p:spPr>
        <p:txBody>
          <a:bodyPr wrap="none" lIns="0" tIns="0" rIns="0" bIns="0" anchor="ctr">
            <a:noAutofit/>
          </a:bodyPr>
          <a:lstStyle/>
          <a:p>
            <a:pPr>
              <a:defRPr sz="1800" b="0">
                <a:solidFill>
                  <a:srgbClr val="586C68"/>
                </a:solidFill>
                <a:latin typeface="Segoe UI"/>
                <a:ea typeface="Segoe UI"/>
                <a:cs typeface="Segoe UI"/>
              </a:defRPr>
            </a:pPr>
            <a:r>
              <a:rPr sz="1800" b="0">
                <a:solidFill>
                  <a:srgbClr val="586C68"/>
                </a:solidFill>
                <a:latin typeface="Segoe UI"/>
                <a:ea typeface="Segoe UI"/>
                <a:cs typeface="Segoe UI"/>
              </a:rPr>
              <a:t>Repeat measurements; inspect failures by anomaly type.</a:t>
            </a:r>
          </a:p>
        </p:txBody>
      </p:sp>
      <p:sp>
        <p:nvSpPr>
          <p:cNvPr id="11" name="S05-rule-3">
            <a:extLst>
              <a:ext uri="{FF2B5EF4-FFF2-40B4-BE49-F238E27FC236}">
                <a16:creationId xmlns:a16="http://schemas.microsoft.com/office/drawing/2014/main" id="{EDAA87F0-4471-407F-A632-D41D6CF07E39}"/>
              </a:ext>
            </a:extLst>
          </p:cNvPr>
          <p:cNvSpPr>
            <a:spLocks noGrp="1"/>
          </p:cNvSpPr>
          <p:nvPr/>
        </p:nvSpPr>
        <p:spPr>
          <a:xfrm>
            <a:off x="685800" y="4800600"/>
            <a:ext cx="10820400" cy="0"/>
          </a:xfrm>
          <a:prstGeom prst="line">
            <a:avLst/>
          </a:prstGeom>
          <a:ln w="9525">
            <a:solidFill>
              <a:srgbClr val="CFD8D1"/>
            </a:solidFill>
          </a:ln>
        </p:spPr>
      </p:sp>
      <p:sp>
        <p:nvSpPr>
          <p:cNvPr id="12" name="S05-label3">
            <a:extLst>
              <a:ext uri="{FF2B5EF4-FFF2-40B4-BE49-F238E27FC236}">
                <a16:creationId xmlns:a16="http://schemas.microsoft.com/office/drawing/2014/main" id="{6F62400D-1B37-4AFF-AB13-938352504CBE}"/>
              </a:ext>
            </a:extLst>
          </p:cNvPr>
          <p:cNvSpPr>
            <a:spLocks noGrp="1"/>
          </p:cNvSpPr>
          <p:nvPr/>
        </p:nvSpPr>
        <p:spPr>
          <a:xfrm>
            <a:off x="685800" y="4933950"/>
            <a:ext cx="2914650" cy="495300"/>
          </a:xfrm>
          <a:prstGeom prst="rect">
            <a:avLst/>
          </a:prstGeom>
          <a:noFill/>
          <a:ln w="0">
            <a:noFill/>
          </a:ln>
        </p:spPr>
        <p:txBody>
          <a:bodyPr wrap="none" lIns="0" tIns="0" rIns="0" bIns="0" anchor="ctr">
            <a:noAutofit/>
          </a:bodyPr>
          <a:lstStyle/>
          <a:p>
            <a:pPr>
              <a:defRPr sz="1875" b="0">
                <a:solidFill>
                  <a:srgbClr val="1E302F"/>
                </a:solidFill>
                <a:latin typeface="Segoe UI"/>
                <a:ea typeface="Segoe UI"/>
                <a:cs typeface="Segoe UI"/>
              </a:defRPr>
            </a:pPr>
            <a:r>
              <a:rPr sz="1875" b="0">
                <a:solidFill>
                  <a:srgbClr val="1E302F"/>
                </a:solidFill>
                <a:latin typeface="Segoe UI"/>
                <a:ea typeface="Segoe UI"/>
                <a:cs typeface="Segoe UI"/>
              </a:rPr>
              <a:t>Keep the limit visible</a:t>
            </a:r>
          </a:p>
        </p:txBody>
      </p:sp>
      <p:sp>
        <p:nvSpPr>
          <p:cNvPr id="13" name="S05-body3">
            <a:extLst>
              <a:ext uri="{FF2B5EF4-FFF2-40B4-BE49-F238E27FC236}">
                <a16:creationId xmlns:a16="http://schemas.microsoft.com/office/drawing/2014/main" id="{2853FCD3-4227-4C19-9D60-26170121401D}"/>
              </a:ext>
            </a:extLst>
          </p:cNvPr>
          <p:cNvSpPr>
            <a:spLocks noGrp="1"/>
          </p:cNvSpPr>
          <p:nvPr/>
        </p:nvSpPr>
        <p:spPr>
          <a:xfrm>
            <a:off x="3829050" y="4933950"/>
            <a:ext cx="7677150" cy="495300"/>
          </a:xfrm>
          <a:prstGeom prst="rect">
            <a:avLst/>
          </a:prstGeom>
          <a:noFill/>
          <a:ln w="0">
            <a:noFill/>
          </a:ln>
        </p:spPr>
        <p:txBody>
          <a:bodyPr wrap="none" lIns="0" tIns="0" rIns="0" bIns="0" anchor="ctr">
            <a:noAutofit/>
          </a:bodyPr>
          <a:lstStyle/>
          <a:p>
            <a:pPr>
              <a:defRPr sz="1800" b="0">
                <a:solidFill>
                  <a:srgbClr val="586C68"/>
                </a:solidFill>
                <a:latin typeface="Segoe UI"/>
                <a:ea typeface="Segoe UI"/>
                <a:cs typeface="Segoe UI"/>
              </a:defRPr>
            </a:pPr>
            <a:r>
              <a:rPr sz="1800" b="0">
                <a:solidFill>
                  <a:srgbClr val="586C68"/>
                </a:solidFill>
                <a:latin typeface="Segoe UI"/>
                <a:ea typeface="Segoe UI"/>
                <a:cs typeface="Segoe UI"/>
              </a:rPr>
              <a:t>No real dataset or sample count: no generalization claim.</a:t>
            </a:r>
          </a:p>
        </p:txBody>
      </p:sp>
    </p:spTree>
    <p:extLst>
      <p:ext uri="{BB962C8B-B14F-4D97-AF65-F5344CB8AC3E}">
        <p14:creationId xmlns:p14="http://schemas.microsoft.com/office/powerpoint/2010/main" val="156585181"/>
      </p:ext>
    </p:extLst>
  </p:cSld>
  <p:clrMapOvr>
    <a:masterClrMapping/>
  </p:clrMapOvr>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ppt/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715</Words>
  <Application>Microsoft Office PowerPoint</Application>
  <DocSecurity>0</DocSecurity>
  <PresentationFormat>와이드스크린</PresentationFormat>
  <Paragraphs>86</Paragraphs>
  <Slides>5</Slides>
  <Notes>5</Notes>
  <HiddenSlides>0</HiddenSlides>
  <MMClips>0</MMClips>
  <ScaleCrop>false</ScaleCrop>
  <HeadingPairs>
    <vt:vector size="6" baseType="variant">
      <vt:variant>
        <vt:lpstr>사용한 글꼴</vt:lpstr>
      </vt:variant>
      <vt:variant>
        <vt:i4>2</vt:i4>
      </vt:variant>
      <vt:variant>
        <vt:lpstr>테마</vt:lpstr>
      </vt:variant>
      <vt:variant>
        <vt:i4>1</vt:i4>
      </vt:variant>
      <vt:variant>
        <vt:lpstr>슬라이드 제목</vt:lpstr>
      </vt:variant>
      <vt:variant>
        <vt:i4>5</vt:i4>
      </vt:variant>
    </vt:vector>
  </HeadingPairs>
  <TitlesOfParts>
    <vt:vector size="8" baseType="lpstr">
      <vt:lpstr>Calibri</vt:lpstr>
      <vt:lpstr>Segoe UI</vt:lpstr>
      <vt:lpstr>ChatGPT</vt:lpstr>
      <vt:lpstr>PowerPoint 프레젠테이션</vt:lpstr>
      <vt:lpstr>PowerPoint 프레젠테이션</vt:lpstr>
      <vt:lpstr>PowerPoint 프레젠테이션</vt:lpstr>
      <vt:lpstr>PowerPoint 프레젠테이션</vt:lpstr>
      <vt:lpstr>PowerPoint 프레젠테이션</vt:lpstr>
    </vt:vector>
  </TitlesOfParts>
  <LinksUpToDate>false</LinksUpToDate>
  <SharedDoc>false</SharedDoc>
  <HyperlinksChanged>false</HyperlinksChanged>
  <AppVersion>16.0000</AppVersion>
</Properties>
</file>

<file path=docProps/core.xml><?xml version="1.0" encoding="utf-8"?>
<ns0:coreProperties xmlns:dc="http://purl.org/dc/elements/1.1/" xmlns:ns0="http://schemas.openxmlformats.org/package/2006/metadata/core-properties" xmlns:ns2="http://purl.org/dc/terms/" xmlns:xsi="http://www.w3.org/2001/XMLSchema-instance">
  <dc:title>Presentation</dc:title>
  <dc:creator>Walnut Exporter</dc:creator>
  <ns0:revision>1</ns0:revision>
  <ns2:created xsi:type="dcterms:W3CDTF">2026-10-02T07:41:00Z</ns2:created>
  <ns2:modified xsi:type="dcterms:W3CDTF">2026-10-02T07:42:07Z</ns2:modified>
</ns0:coreProperties>
</file>