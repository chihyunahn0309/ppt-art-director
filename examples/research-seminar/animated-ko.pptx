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scatterChart>
        <c:scatterStyle val="lineMarker"/>
        <c:varyColors val="1"/>
        <c:ser>
          <c:idx val="0"/>
          <c:order val="0"/>
          <c:tx>
            <c:v>Models</c:v>
          </c:tx>
          <c:spPr>
            <a:ln w="0">
              <a:noFill/>
            </a:ln>
          </c:spPr>
          <c:marker>
            <c:symbol val="circle"/>
            <c:size val="10"/>
            <c:spPr>
              <a:solidFill>
                <a:srgbClr val="287D78"/>
              </a:solidFill>
              <a:ln>
                <a:noFill/>
              </a:ln>
            </c:spPr>
          </c:marker>
          <c:dLbls>
            <c:dLbl>
              <c:idx val="0"/>
              <c:tx>
                <c:rich>
                  <a:bodyPr/>
                  <a:lstStyle/>
                  <a:p>
                    <a:r>
                      <a:rPr sz="1800">
                        <a:solidFill>
                          <a:srgbClr val="1E302F"/>
                        </a:solidFill>
                        <a:latin typeface="Noto Sans KR"/>
                        <a:ea typeface="Noto Sans KR"/>
                        <a:cs typeface="Noto Sans KR"/>
                      </a:rPr>
                      <a:t>baseline</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E7C-4D94-8E1B-0E6D337F9C00}"/>
                </c:ext>
              </c:extLst>
            </c:dLbl>
            <c:dLbl>
              <c:idx val="1"/>
              <c:tx>
                <c:rich>
                  <a:bodyPr/>
                  <a:lstStyle/>
                  <a:p>
                    <a:r>
                      <a:rPr sz="1800">
                        <a:solidFill>
                          <a:srgbClr val="1E302F"/>
                        </a:solidFill>
                        <a:latin typeface="Noto Sans KR"/>
                        <a:ea typeface="Noto Sans KR"/>
                        <a:cs typeface="Noto Sans KR"/>
                      </a:rPr>
                      <a:t>distilled</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E7C-4D94-8E1B-0E6D337F9C00}"/>
                </c:ext>
              </c:extLst>
            </c:dLbl>
            <c:dLbl>
              <c:idx val="2"/>
              <c:tx>
                <c:rich>
                  <a:bodyPr/>
                  <a:lstStyle/>
                  <a:p>
                    <a:r>
                      <a:rPr sz="1800">
                        <a:solidFill>
                          <a:srgbClr val="1E302F"/>
                        </a:solidFill>
                        <a:latin typeface="Noto Sans KR"/>
                        <a:ea typeface="Noto Sans KR"/>
                        <a:cs typeface="Noto Sans KR"/>
                      </a:rPr>
                      <a:t>int8</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E7C-4D94-8E1B-0E6D337F9C00}"/>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Ref>
              <c:f>'Chart Data'!$A$2:$A$4</c:f>
              <c:numCache>
                <c:formatCode>General</c:formatCode>
                <c:ptCount val="3"/>
                <c:pt idx="0">
                  <c:v>120</c:v>
                </c:pt>
                <c:pt idx="1">
                  <c:v>72</c:v>
                </c:pt>
                <c:pt idx="2">
                  <c:v>54</c:v>
                </c:pt>
              </c:numCache>
            </c:numRef>
          </c:xVal>
          <c:yVal>
            <c:numRef>
              <c:f>'Chart Data'!$B$2:$B$4</c:f>
              <c:numCache>
                <c:formatCode>0.000</c:formatCode>
                <c:ptCount val="3"/>
                <c:pt idx="0">
                  <c:v>0.91</c:v>
                </c:pt>
                <c:pt idx="1">
                  <c:v>0.90200000000000002</c:v>
                </c:pt>
                <c:pt idx="2">
                  <c:v>0.89600000000000002</c:v>
                </c:pt>
              </c:numCache>
            </c:numRef>
          </c:yVal>
          <c:smooth val="1"/>
          <c:extLst>
            <c:ext xmlns:c16="http://schemas.microsoft.com/office/drawing/2014/chart" uri="{C3380CC4-5D6E-409C-BE32-E72D297353CC}">
              <c16:uniqueId val="{00000003-DE7C-4D94-8E1B-0E6D337F9C00}"/>
            </c:ext>
          </c:extLst>
        </c:ser>
        <c:dLbls>
          <c:showLegendKey val="0"/>
          <c:showVal val="0"/>
          <c:showCatName val="0"/>
          <c:showSerName val="0"/>
          <c:showPercent val="0"/>
          <c:showBubbleSize val="0"/>
        </c:dLbls>
        <c:axId val="48650112"/>
        <c:axId val="48672768"/>
      </c:scatterChart>
      <c:valAx>
        <c:axId val="48672768"/>
        <c:scaling>
          <c:orientation val="minMax"/>
          <c:max val="0.91500000000000004"/>
          <c:min val="0.89"/>
        </c:scaling>
        <c:delete val="0"/>
        <c:axPos val="l"/>
        <c:majorGridlines>
          <c:spPr>
            <a:ln w="6668">
              <a:solidFill>
                <a:srgbClr val="CFD8D1"/>
              </a:solidFill>
            </a:ln>
          </c:spPr>
        </c:majorGridlines>
        <c:numFmt formatCode="0.000" sourceLinked="1"/>
        <c:majorTickMark val="none"/>
        <c:minorTickMark val="none"/>
        <c:tickLblPos val="nextTo"/>
        <c:spPr>
          <a:ln w="9525">
            <a:solidFill>
              <a:srgbClr val="CFD8D1"/>
            </a:solidFill>
          </a:ln>
        </c:spPr>
        <c:txPr>
          <a:bodyPr anchorCtr="1"/>
          <a:lstStyle/>
          <a:p>
            <a:pPr>
              <a:defRPr sz="1725">
                <a:solidFill>
                  <a:srgbClr val="1E302F"/>
                </a:solidFill>
                <a:latin typeface="Noto Sans KR"/>
                <a:ea typeface="Noto Sans KR"/>
                <a:cs typeface="Noto Sans KR"/>
              </a:defRPr>
            </a:pPr>
            <a:endParaRPr lang="ko-KR"/>
          </a:p>
        </c:txPr>
        <c:crossAx val="48650112"/>
        <c:crosses val="autoZero"/>
        <c:crossBetween val="midCat"/>
        <c:majorUnit val="5.0000000000000001E-3"/>
      </c:valAx>
      <c:valAx>
        <c:axId val="48650112"/>
        <c:scaling>
          <c:orientation val="minMax"/>
          <c:max val="140"/>
          <c:min val="40"/>
        </c:scaling>
        <c:delete val="0"/>
        <c:axPos val="b"/>
        <c:numFmt formatCode="General" sourceLinked="1"/>
        <c:majorTickMark val="none"/>
        <c:minorTickMark val="none"/>
        <c:tickLblPos val="nextTo"/>
        <c:spPr>
          <a:ln w="9525">
            <a:solidFill>
              <a:srgbClr val="CFD8D1"/>
            </a:solidFill>
          </a:ln>
        </c:spPr>
        <c:txPr>
          <a:bodyPr anchorCtr="1"/>
          <a:lstStyle/>
          <a:p>
            <a:pPr>
              <a:defRPr sz="1725">
                <a:solidFill>
                  <a:srgbClr val="1E302F"/>
                </a:solidFill>
                <a:latin typeface="Noto Sans KR"/>
                <a:ea typeface="Noto Sans KR"/>
                <a:cs typeface="Noto Sans KR"/>
              </a:defRPr>
            </a:pPr>
            <a:endParaRPr lang="ko-KR"/>
          </a:p>
        </c:txPr>
        <c:crossAx val="48672768"/>
        <c:crosses val="autoZero"/>
        <c:crossBetween val="midCat"/>
        <c:majorUnit val="20"/>
      </c:valAx>
      <c:spPr>
        <a:solidFill>
          <a:srgbClr val="F6F4EE"/>
        </a:solidFill>
      </c:spPr>
    </c:plotArea>
    <c:plotVisOnly val="1"/>
    <c:dispBlanksAs val="zero"/>
    <c:showDLblsOverMax val="1"/>
  </c:chart>
  <c:spPr>
    <a:solidFill>
      <a:srgbClr val="F6F4EE"/>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30초. 센서 이상 탐지 모델의 경량화를 살펴본다. 원본 모델과 INT8의 지연, F1, 크기를 같은 비중으로 비교한다. 모든 수치는 사용자가 제공한 가상 예시이며 실험 결과가 아니다. 동일 장치와 데이터를 가정하지만 구체적인 조건과 허용 F1 저하 기준은 미제공이다.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90초. 교사의 예측을 학생 학습에 활용하는 지식 증류와 8비트 정수 표현을 개념적으로 설명한다. 모델 구조, 손실함수, 양자화 범위, PTQ/QAT는 미제공이다. 교사의 지식이 모두 보존된다고 주장하지 않는다. 애니메이션판은 첫 클릭에 증류, 둘째 클릭에 INT8 단계를 표시한다. 개념 출처: Hinton et al. (2015), https://arxiv.org/abs/1503.02531 ; Jacob et al. (2017), https://arxiv.org/abs/1712.05877 . 문헌의 성능 수치를 사용하지 않았다.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60초. 가상 수치: baseline 120ms / F1 0.910 / 48MB; distilled 72ms / 0.902 / 18MB; int8 54ms / 0.896 / 12MB. 동일 장치와 데이터를 가정한다. 표본수, 분산, 데이터셋명, 데이터 분할, 장치 사양, 지연 통계량 정의, F1 집계 방법은 미제공이다. 산술 비교이며 통계적 유의성이나 일반화를 판단할 수 없다.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 전체 지연 감소율 (120−54)/120 = 55%; 크기 감소율 (48−12)/48 = 75%; F1 절대 차이 0.896−0.910 = −0.014. 증류 지연 감소율 (120−72)/120 = 40%, F1 차이 −0.008. 추가 INT8 지연 감소율 (72−54)/72 = 25%, F1 차이 −0.006. 분모가 달라 40%와 25%를 더하지 않는다. 가상 요약값으로 통계적 판단을 할 수 없다.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 이 가상 예시는 효율과 F1의 교환관계를 보여준다. 모든 환경에서 가장 좋은 모델을 정할 수는 없다. 사용 환경에 맞는 허용 F1 저하와 지연 한도를 먼저 정한다. 실제 데이터에서 반복 측정의 분산과 이상 유형별 실패 사례를 확인한다. 데이터셋명과 표본수가 없어 일반화 판단은 불가하다. 총 발표 시간 300초.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3" name="S01-section">
            <a:extLst>
              <a:ext uri="{FF2B5EF4-FFF2-40B4-BE49-F238E27FC236}">
                <a16:creationId xmlns:a16="http://schemas.microsoft.com/office/drawing/2014/main" id="{420456A6-FCE9-4F6F-84C8-CF7264E539F3}"/>
              </a:ext>
            </a:extLst>
          </p:cNvPr>
          <p:cNvSpPr>
            <a:spLocks noGrp="1"/>
          </p:cNvSpPr>
          <p:nvPr/>
        </p:nvSpPr>
        <p:spPr>
          <a:xfrm>
            <a:off x="685800" y="609600"/>
            <a:ext cx="10820400" cy="333375"/>
          </a:xfrm>
          <a:prstGeom prst="rect">
            <a:avLst/>
          </a:prstGeom>
          <a:noFill/>
          <a:ln w="0">
            <a:noFill/>
          </a:ln>
        </p:spPr>
        <p:txBody>
          <a:bodyPr wrap="none" lIns="0" tIns="0" rIns="0" bIns="0" anchor="ctr">
            <a:noAutofit/>
          </a:bodyPr>
          <a:lstStyle/>
          <a:p>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연구실 세미나 · 5분</a:t>
            </a:r>
          </a:p>
        </p:txBody>
      </p:sp>
      <p:sp>
        <p:nvSpPr>
          <p:cNvPr id="2" name="S01-title">
            <a:extLst>
              <a:ext uri="{FF2B5EF4-FFF2-40B4-BE49-F238E27FC236}">
                <a16:creationId xmlns:a16="http://schemas.microsoft.com/office/drawing/2014/main" id="{B9AFD74C-2672-413F-8675-C61FF1B8F984}"/>
              </a:ext>
            </a:extLst>
          </p:cNvPr>
          <p:cNvSpPr>
            <a:spLocks noGrp="1"/>
          </p:cNvSpPr>
          <p:nvPr/>
        </p:nvSpPr>
        <p:spPr>
          <a:xfrm>
            <a:off x="685800" y="1438275"/>
            <a:ext cx="10820400" cy="1476375"/>
          </a:xfrm>
          <a:prstGeom prst="rect">
            <a:avLst/>
          </a:prstGeom>
          <a:noFill/>
          <a:ln w="0">
            <a:noFill/>
          </a:ln>
        </p:spPr>
        <p:txBody>
          <a:bodyPr wrap="none" lIns="0" tIns="0" rIns="0" bIns="0" anchor="ctr">
            <a:noAutofit/>
          </a:bodyPr>
          <a:lstStyle/>
          <a:p>
            <a:pPr>
              <a:defRPr sz="4050" b="0">
                <a:solidFill>
                  <a:srgbClr val="1E302F"/>
                </a:solidFill>
                <a:latin typeface="Noto Sans KR"/>
                <a:ea typeface="Noto Sans KR"/>
                <a:cs typeface="Noto Sans KR"/>
              </a:defRPr>
            </a:pPr>
            <a:r>
              <a:rPr sz="4050" b="0">
                <a:solidFill>
                  <a:srgbClr val="1E302F"/>
                </a:solidFill>
                <a:latin typeface="Noto Sans KR"/>
                <a:ea typeface="Noto Sans KR"/>
                <a:cs typeface="Noto Sans KR"/>
              </a:rPr>
              <a:t>센서 이상 탐지 모델의</a:t>
            </a:r>
          </a:p>
          <a:p>
            <a:pPr>
              <a:defRPr sz="4050" b="0">
                <a:solidFill>
                  <a:srgbClr val="1E302F"/>
                </a:solidFill>
                <a:latin typeface="Noto Sans KR"/>
                <a:ea typeface="Noto Sans KR"/>
                <a:cs typeface="Noto Sans KR"/>
              </a:defRPr>
            </a:pPr>
            <a:r>
              <a:rPr sz="4050" b="0">
                <a:solidFill>
                  <a:srgbClr val="1E302F"/>
                </a:solidFill>
                <a:latin typeface="Noto Sans KR"/>
                <a:ea typeface="Noto Sans KR"/>
                <a:cs typeface="Noto Sans KR"/>
              </a:rPr>
              <a:t>경량화와 성능 변화</a:t>
            </a:r>
          </a:p>
        </p:txBody>
      </p:sp>
      <p:sp>
        <p:nvSpPr>
          <p:cNvPr id="3" name="S01-subtitle">
            <a:extLst>
              <a:ext uri="{FF2B5EF4-FFF2-40B4-BE49-F238E27FC236}">
                <a16:creationId xmlns:a16="http://schemas.microsoft.com/office/drawing/2014/main" id="{6ECF9552-EC94-4D59-B398-6D7B8A23CAA8}"/>
              </a:ext>
            </a:extLst>
          </p:cNvPr>
          <p:cNvSpPr>
            <a:spLocks noGrp="1"/>
          </p:cNvSpPr>
          <p:nvPr/>
        </p:nvSpPr>
        <p:spPr>
          <a:xfrm>
            <a:off x="685800" y="3133725"/>
            <a:ext cx="10820400" cy="495300"/>
          </a:xfrm>
          <a:prstGeom prst="rect">
            <a:avLst/>
          </a:prstGeom>
          <a:noFill/>
          <a:ln w="0">
            <a:noFill/>
          </a:ln>
        </p:spPr>
        <p:txBody>
          <a:bodyPr wrap="none" lIns="0" tIns="0" rIns="0" bIns="0" anchor="ctr">
            <a:noAutofit/>
          </a:bodyPr>
          <a:lstStyle/>
          <a:p>
            <a:pPr>
              <a:defRPr sz="2175" b="0">
                <a:solidFill>
                  <a:srgbClr val="586C68"/>
                </a:solidFill>
                <a:latin typeface="Noto Sans KR"/>
                <a:ea typeface="Noto Sans KR"/>
                <a:cs typeface="Noto Sans KR"/>
              </a:defRPr>
            </a:pPr>
            <a:r>
              <a:rPr sz="2175" b="0">
                <a:solidFill>
                  <a:srgbClr val="586C68"/>
                </a:solidFill>
                <a:latin typeface="Noto Sans KR"/>
                <a:ea typeface="Noto Sans KR"/>
                <a:cs typeface="Noto Sans KR"/>
              </a:rPr>
              <a:t>지식 증류와 INT8 양자화</a:t>
            </a:r>
          </a:p>
        </p:txBody>
      </p:sp>
      <p:sp>
        <p:nvSpPr>
          <p:cNvPr id="4" name="S01-basis">
            <a:extLst>
              <a:ext uri="{FF2B5EF4-FFF2-40B4-BE49-F238E27FC236}">
                <a16:creationId xmlns:a16="http://schemas.microsoft.com/office/drawing/2014/main" id="{B39041A1-C695-49C2-9A48-FF38407411D4}"/>
              </a:ext>
            </a:extLst>
          </p:cNvPr>
          <p:cNvSpPr>
            <a:spLocks noGrp="1"/>
          </p:cNvSpPr>
          <p:nvPr/>
        </p:nvSpPr>
        <p:spPr>
          <a:xfrm>
            <a:off x="685800" y="4105275"/>
            <a:ext cx="10820400" cy="342900"/>
          </a:xfrm>
          <a:prstGeom prst="rect">
            <a:avLst/>
          </a:prstGeom>
          <a:noFill/>
          <a:ln w="0">
            <a:noFill/>
          </a:ln>
        </p:spPr>
        <p:txBody>
          <a:bodyPr wrap="none" lIns="0" tIns="0" rIns="0" bIns="0" anchor="ctr">
            <a:noAutofit/>
          </a:bodyPr>
          <a:lstStyle/>
          <a:p>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원본 모델과 INT8 비교</a:t>
            </a:r>
          </a:p>
        </p:txBody>
      </p:sp>
      <p:sp>
        <p:nvSpPr>
          <p:cNvPr id="5" name="S01-value-1">
            <a:extLst>
              <a:ext uri="{FF2B5EF4-FFF2-40B4-BE49-F238E27FC236}">
                <a16:creationId xmlns:a16="http://schemas.microsoft.com/office/drawing/2014/main" id="{B2B09459-D43D-4E70-9665-D02E90A3FF5F}"/>
              </a:ext>
            </a:extLst>
          </p:cNvPr>
          <p:cNvSpPr>
            <a:spLocks noGrp="1"/>
          </p:cNvSpPr>
          <p:nvPr/>
        </p:nvSpPr>
        <p:spPr>
          <a:xfrm>
            <a:off x="685800" y="4619625"/>
            <a:ext cx="2952750" cy="628650"/>
          </a:xfrm>
          <a:prstGeom prst="rect">
            <a:avLst/>
          </a:prstGeom>
          <a:noFill/>
          <a:ln w="0">
            <a:noFill/>
          </a:ln>
        </p:spPr>
        <p:txBody>
          <a:bodyPr wrap="none" lIns="0" tIns="0" rIns="0" bIns="0" anchor="ctr">
            <a:noAutofit/>
          </a:bodyPr>
          <a:lstStyle/>
          <a:p>
            <a:pPr>
              <a:defRPr sz="3225" b="0">
                <a:solidFill>
                  <a:srgbClr val="1E302F"/>
                </a:solidFill>
                <a:latin typeface="Noto Sans KR"/>
                <a:ea typeface="Noto Sans KR"/>
                <a:cs typeface="Noto Sans KR"/>
              </a:defRPr>
            </a:pPr>
            <a:r>
              <a:rPr sz="3225" b="0">
                <a:solidFill>
                  <a:srgbClr val="1E302F"/>
                </a:solidFill>
                <a:latin typeface="Noto Sans KR"/>
                <a:ea typeface="Noto Sans KR"/>
                <a:cs typeface="Noto Sans KR"/>
              </a:rPr>
              <a:t>120 → 54</a:t>
            </a:r>
          </a:p>
        </p:txBody>
      </p:sp>
      <p:sp>
        <p:nvSpPr>
          <p:cNvPr id="6" name="S01-label-1">
            <a:extLst>
              <a:ext uri="{FF2B5EF4-FFF2-40B4-BE49-F238E27FC236}">
                <a16:creationId xmlns:a16="http://schemas.microsoft.com/office/drawing/2014/main" id="{B98F8C9A-543B-4ED7-BED6-EFE72739E5EC}"/>
              </a:ext>
            </a:extLst>
          </p:cNvPr>
          <p:cNvSpPr>
            <a:spLocks noGrp="1"/>
          </p:cNvSpPr>
          <p:nvPr/>
        </p:nvSpPr>
        <p:spPr>
          <a:xfrm>
            <a:off x="685800" y="5314950"/>
            <a:ext cx="3143250" cy="361950"/>
          </a:xfrm>
          <a:prstGeom prst="rect">
            <a:avLst/>
          </a:prstGeom>
          <a:noFill/>
          <a:ln w="0">
            <a:noFill/>
          </a:ln>
        </p:spPr>
        <p:txBody>
          <a:bodyPr wrap="none" lIns="0" tIns="0" rIns="0" bIns="0" anchor="ctr">
            <a:noAutofit/>
          </a:bodyPr>
          <a:lstStyle/>
          <a:p>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지연 (ms)</a:t>
            </a:r>
          </a:p>
        </p:txBody>
      </p:sp>
      <p:sp>
        <p:nvSpPr>
          <p:cNvPr id="7" name="S01-value-2">
            <a:extLst>
              <a:ext uri="{FF2B5EF4-FFF2-40B4-BE49-F238E27FC236}">
                <a16:creationId xmlns:a16="http://schemas.microsoft.com/office/drawing/2014/main" id="{4DB64A30-8BA9-4D49-918B-5BEADF5DBD5A}"/>
              </a:ext>
            </a:extLst>
          </p:cNvPr>
          <p:cNvSpPr>
            <a:spLocks noGrp="1"/>
          </p:cNvSpPr>
          <p:nvPr/>
        </p:nvSpPr>
        <p:spPr>
          <a:xfrm>
            <a:off x="4419600" y="4619625"/>
            <a:ext cx="3810000" cy="628650"/>
          </a:xfrm>
          <a:prstGeom prst="rect">
            <a:avLst/>
          </a:prstGeom>
          <a:noFill/>
          <a:ln w="0">
            <a:noFill/>
          </a:ln>
        </p:spPr>
        <p:txBody>
          <a:bodyPr wrap="none" lIns="0" tIns="0" rIns="0" bIns="0" anchor="ctr">
            <a:noAutofit/>
          </a:bodyPr>
          <a:lstStyle/>
          <a:p>
            <a:pPr>
              <a:defRPr sz="3225" b="0">
                <a:solidFill>
                  <a:srgbClr val="1E302F"/>
                </a:solidFill>
                <a:latin typeface="Noto Sans KR"/>
                <a:ea typeface="Noto Sans KR"/>
                <a:cs typeface="Noto Sans KR"/>
              </a:defRPr>
            </a:pPr>
            <a:r>
              <a:rPr sz="3225" b="0">
                <a:solidFill>
                  <a:srgbClr val="1E302F"/>
                </a:solidFill>
                <a:latin typeface="Noto Sans KR"/>
                <a:ea typeface="Noto Sans KR"/>
                <a:cs typeface="Noto Sans KR"/>
              </a:rPr>
              <a:t>0.910 → 0.896</a:t>
            </a:r>
          </a:p>
        </p:txBody>
      </p:sp>
      <p:sp>
        <p:nvSpPr>
          <p:cNvPr id="8" name="S01-label-2">
            <a:extLst>
              <a:ext uri="{FF2B5EF4-FFF2-40B4-BE49-F238E27FC236}">
                <a16:creationId xmlns:a16="http://schemas.microsoft.com/office/drawing/2014/main" id="{B900C037-6942-44D1-A0F7-B92FF7473D2F}"/>
              </a:ext>
            </a:extLst>
          </p:cNvPr>
          <p:cNvSpPr>
            <a:spLocks noGrp="1"/>
          </p:cNvSpPr>
          <p:nvPr/>
        </p:nvSpPr>
        <p:spPr>
          <a:xfrm>
            <a:off x="4419600" y="5314950"/>
            <a:ext cx="3143250" cy="361950"/>
          </a:xfrm>
          <a:prstGeom prst="rect">
            <a:avLst/>
          </a:prstGeom>
          <a:noFill/>
          <a:ln w="0">
            <a:noFill/>
          </a:ln>
        </p:spPr>
        <p:txBody>
          <a:bodyPr wrap="none" lIns="0" tIns="0" rIns="0" bIns="0" anchor="ctr">
            <a:noAutofit/>
          </a:bodyPr>
          <a:lstStyle/>
          <a:p>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F1</a:t>
            </a:r>
          </a:p>
        </p:txBody>
      </p:sp>
      <p:sp>
        <p:nvSpPr>
          <p:cNvPr id="9" name="S01-value-3">
            <a:extLst>
              <a:ext uri="{FF2B5EF4-FFF2-40B4-BE49-F238E27FC236}">
                <a16:creationId xmlns:a16="http://schemas.microsoft.com/office/drawing/2014/main" id="{A2B3E276-77D2-4999-8780-60E24892F8EC}"/>
              </a:ext>
            </a:extLst>
          </p:cNvPr>
          <p:cNvSpPr>
            <a:spLocks noGrp="1"/>
          </p:cNvSpPr>
          <p:nvPr/>
        </p:nvSpPr>
        <p:spPr>
          <a:xfrm>
            <a:off x="8572500" y="4619625"/>
            <a:ext cx="2952750" cy="628650"/>
          </a:xfrm>
          <a:prstGeom prst="rect">
            <a:avLst/>
          </a:prstGeom>
          <a:noFill/>
          <a:ln w="0">
            <a:noFill/>
          </a:ln>
        </p:spPr>
        <p:txBody>
          <a:bodyPr wrap="none" lIns="0" tIns="0" rIns="0" bIns="0" anchor="ctr">
            <a:noAutofit/>
          </a:bodyPr>
          <a:lstStyle/>
          <a:p>
            <a:pPr>
              <a:defRPr sz="3225" b="0">
                <a:solidFill>
                  <a:srgbClr val="1E302F"/>
                </a:solidFill>
                <a:latin typeface="Noto Sans KR"/>
                <a:ea typeface="Noto Sans KR"/>
                <a:cs typeface="Noto Sans KR"/>
              </a:defRPr>
            </a:pPr>
            <a:r>
              <a:rPr sz="3225" b="0">
                <a:solidFill>
                  <a:srgbClr val="1E302F"/>
                </a:solidFill>
                <a:latin typeface="Noto Sans KR"/>
                <a:ea typeface="Noto Sans KR"/>
                <a:cs typeface="Noto Sans KR"/>
              </a:rPr>
              <a:t>48 → 12</a:t>
            </a:r>
          </a:p>
        </p:txBody>
      </p:sp>
      <p:sp>
        <p:nvSpPr>
          <p:cNvPr id="10" name="S01-label-3">
            <a:extLst>
              <a:ext uri="{FF2B5EF4-FFF2-40B4-BE49-F238E27FC236}">
                <a16:creationId xmlns:a16="http://schemas.microsoft.com/office/drawing/2014/main" id="{4E6EA8CD-99F8-4802-8730-F57527EF34AD}"/>
              </a:ext>
            </a:extLst>
          </p:cNvPr>
          <p:cNvSpPr>
            <a:spLocks noGrp="1"/>
          </p:cNvSpPr>
          <p:nvPr/>
        </p:nvSpPr>
        <p:spPr>
          <a:xfrm>
            <a:off x="8572500" y="5314950"/>
            <a:ext cx="3143250" cy="361950"/>
          </a:xfrm>
          <a:prstGeom prst="rect">
            <a:avLst/>
          </a:prstGeom>
          <a:noFill/>
          <a:ln w="0">
            <a:noFill/>
          </a:ln>
        </p:spPr>
        <p:txBody>
          <a:bodyPr wrap="none" lIns="0" tIns="0" rIns="0" bIns="0" anchor="ctr">
            <a:noAutofit/>
          </a:bodyPr>
          <a:lstStyle/>
          <a:p>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모델 크기 (MB)</a:t>
            </a:r>
          </a:p>
        </p:txBody>
      </p:sp>
      <p:sp>
        <p:nvSpPr>
          <p:cNvPr id="11" name="S01-disclosure">
            <a:extLst>
              <a:ext uri="{FF2B5EF4-FFF2-40B4-BE49-F238E27FC236}">
                <a16:creationId xmlns:a16="http://schemas.microsoft.com/office/drawing/2014/main" id="{5BA00A58-6419-4154-8F11-0C1C8EDA1169}"/>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 · 실제 실험 결과가 아닙니다</a:t>
            </a:r>
          </a:p>
        </p:txBody>
      </p:sp>
      <p:sp>
        <p:nvSpPr>
          <p:cNvPr id="12" name="S01-number">
            <a:extLst>
              <a:ext uri="{FF2B5EF4-FFF2-40B4-BE49-F238E27FC236}">
                <a16:creationId xmlns:a16="http://schemas.microsoft.com/office/drawing/2014/main" id="{E415156A-AD7E-4EFA-A4EA-0B630654AD8D}"/>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01</a:t>
            </a:r>
          </a:p>
        </p:txBody>
      </p:sp>
    </p:spTree>
    <p:extLst>
      <p:ext uri="{BB962C8B-B14F-4D97-AF65-F5344CB8AC3E}">
        <p14:creationId xmlns:p14="http://schemas.microsoft.com/office/powerpoint/2010/main" val="62659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1" name="S02-title">
            <a:extLst>
              <a:ext uri="{FF2B5EF4-FFF2-40B4-BE49-F238E27FC236}">
                <a16:creationId xmlns:a16="http://schemas.microsoft.com/office/drawing/2014/main" id="{6BD0F392-7E29-44F0-8FE9-1D5672BE93AF}"/>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모델과 경량화 과정</a:t>
            </a:r>
          </a:p>
        </p:txBody>
      </p:sp>
      <p:sp>
        <p:nvSpPr>
          <p:cNvPr id="2" name="S02-disclosure">
            <a:extLst>
              <a:ext uri="{FF2B5EF4-FFF2-40B4-BE49-F238E27FC236}">
                <a16:creationId xmlns:a16="http://schemas.microsoft.com/office/drawing/2014/main" id="{6EFE154F-3F7E-45BF-A3E5-BE8FF3038D35}"/>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 · 실제 실험 결과가 아닙니다</a:t>
            </a:r>
          </a:p>
        </p:txBody>
      </p:sp>
      <p:sp>
        <p:nvSpPr>
          <p:cNvPr id="3" name="S02-number">
            <a:extLst>
              <a:ext uri="{FF2B5EF4-FFF2-40B4-BE49-F238E27FC236}">
                <a16:creationId xmlns:a16="http://schemas.microsoft.com/office/drawing/2014/main" id="{289D943D-7D98-4F28-BC46-07F21B389451}"/>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02</a:t>
            </a:r>
          </a:p>
        </p:txBody>
      </p:sp>
      <p:sp>
        <p:nvSpPr>
          <p:cNvPr id="4" name="S02-marker-1">
            <a:extLst>
              <a:ext uri="{FF2B5EF4-FFF2-40B4-BE49-F238E27FC236}">
                <a16:creationId xmlns:a16="http://schemas.microsoft.com/office/drawing/2014/main" id="{96F4F6E2-1A66-47D3-ACEF-D193B4436C57}"/>
              </a:ext>
            </a:extLst>
          </p:cNvPr>
          <p:cNvSpPr>
            <a:spLocks noGrp="1"/>
          </p:cNvSpPr>
          <p:nvPr/>
        </p:nvSpPr>
        <p:spPr>
          <a:xfrm>
            <a:off x="685800" y="2333625"/>
            <a:ext cx="533400" cy="533400"/>
          </a:xfrm>
          <a:prstGeom prst="ellipse">
            <a:avLst/>
          </a:prstGeom>
          <a:solidFill>
            <a:srgbClr val="E8EDE5"/>
          </a:solidFill>
          <a:ln w="0">
            <a:noFill/>
          </a:ln>
        </p:spPr>
        <p:txBody>
          <a:bodyPr lIns="0" tIns="0" rIns="0" bIns="0" anchor="ctr"/>
          <a:lstStyle/>
          <a:p>
            <a:pPr algn="ctr">
              <a:defRPr sz="1650">
                <a:solidFill>
                  <a:srgbClr val="287D78"/>
                </a:solidFill>
                <a:latin typeface="Noto Sans KR"/>
                <a:ea typeface="Noto Sans KR"/>
                <a:cs typeface="Noto Sans KR"/>
              </a:defRPr>
            </a:pPr>
            <a:r>
              <a:rPr sz="1650">
                <a:solidFill>
                  <a:srgbClr val="287D78"/>
                </a:solidFill>
                <a:latin typeface="Noto Sans KR"/>
                <a:ea typeface="Noto Sans KR"/>
                <a:cs typeface="Noto Sans KR"/>
              </a:rPr>
              <a:t>01</a:t>
            </a:r>
          </a:p>
        </p:txBody>
      </p:sp>
      <p:sp>
        <p:nvSpPr>
          <p:cNvPr id="5" name="S02-marker-2">
            <a:extLst>
              <a:ext uri="{FF2B5EF4-FFF2-40B4-BE49-F238E27FC236}">
                <a16:creationId xmlns:a16="http://schemas.microsoft.com/office/drawing/2014/main" id="{F6496AC7-EA7C-4FC3-8A3F-2D911782723D}"/>
              </a:ext>
            </a:extLst>
          </p:cNvPr>
          <p:cNvSpPr>
            <a:spLocks noGrp="1"/>
          </p:cNvSpPr>
          <p:nvPr/>
        </p:nvSpPr>
        <p:spPr>
          <a:xfrm>
            <a:off x="4648200" y="2333625"/>
            <a:ext cx="533400" cy="533400"/>
          </a:xfrm>
          <a:prstGeom prst="ellipse">
            <a:avLst/>
          </a:prstGeom>
          <a:solidFill>
            <a:srgbClr val="E8EDE5"/>
          </a:solidFill>
          <a:ln w="0">
            <a:noFill/>
          </a:ln>
        </p:spPr>
        <p:txBody>
          <a:bodyPr lIns="0" tIns="0" rIns="0" bIns="0" anchor="ctr"/>
          <a:lstStyle/>
          <a:p>
            <a:pPr algn="ctr">
              <a:defRPr sz="1650">
                <a:solidFill>
                  <a:srgbClr val="287D78"/>
                </a:solidFill>
                <a:latin typeface="Noto Sans KR"/>
                <a:ea typeface="Noto Sans KR"/>
                <a:cs typeface="Noto Sans KR"/>
              </a:defRPr>
            </a:pPr>
            <a:r>
              <a:rPr sz="1650">
                <a:solidFill>
                  <a:srgbClr val="287D78"/>
                </a:solidFill>
                <a:latin typeface="Noto Sans KR"/>
                <a:ea typeface="Noto Sans KR"/>
                <a:cs typeface="Noto Sans KR"/>
              </a:rPr>
              <a:t>02</a:t>
            </a:r>
          </a:p>
        </p:txBody>
      </p:sp>
      <p:sp>
        <p:nvSpPr>
          <p:cNvPr id="6" name="S02-marker-3">
            <a:extLst>
              <a:ext uri="{FF2B5EF4-FFF2-40B4-BE49-F238E27FC236}">
                <a16:creationId xmlns:a16="http://schemas.microsoft.com/office/drawing/2014/main" id="{0A9B6237-08C8-422B-8350-9D20D6A4E836}"/>
              </a:ext>
            </a:extLst>
          </p:cNvPr>
          <p:cNvSpPr>
            <a:spLocks noGrp="1"/>
          </p:cNvSpPr>
          <p:nvPr/>
        </p:nvSpPr>
        <p:spPr>
          <a:xfrm>
            <a:off x="8610600" y="2333625"/>
            <a:ext cx="533400" cy="533400"/>
          </a:xfrm>
          <a:prstGeom prst="ellipse">
            <a:avLst/>
          </a:prstGeom>
          <a:solidFill>
            <a:srgbClr val="287D78"/>
          </a:solidFill>
          <a:ln w="0">
            <a:noFill/>
          </a:ln>
        </p:spPr>
        <p:txBody>
          <a:bodyPr lIns="0" tIns="0" rIns="0" bIns="0" anchor="ctr"/>
          <a:lstStyle/>
          <a:p>
            <a:pPr algn="ctr">
              <a:defRPr sz="1650">
                <a:solidFill>
                  <a:srgbClr val="FFFFFF"/>
                </a:solidFill>
                <a:latin typeface="Noto Sans KR"/>
                <a:ea typeface="Noto Sans KR"/>
                <a:cs typeface="Noto Sans KR"/>
              </a:defRPr>
            </a:pPr>
            <a:r>
              <a:rPr sz="1650">
                <a:solidFill>
                  <a:srgbClr val="FFFFFF"/>
                </a:solidFill>
                <a:latin typeface="Noto Sans KR"/>
                <a:ea typeface="Noto Sans KR"/>
                <a:cs typeface="Noto Sans KR"/>
              </a:rPr>
              <a:t>03</a:t>
            </a:r>
          </a:p>
        </p:txBody>
      </p:sp>
      <p:cxnSp>
        <p:nvCxnSpPr>
          <p:cNvPr id="27" name="S02-link-2"/>
          <p:cNvCxnSpPr>
            <a:stCxn id="4" idx="6"/>
            <a:endCxn id="5" idx="2"/>
          </p:cNvCxnSpPr>
          <p:nvPr/>
        </p:nvCxnSpPr>
        <p:spPr>
          <a:xfrm>
            <a:off x="1219200" y="2600325"/>
            <a:ext cx="3429000" cy="0"/>
          </a:xfrm>
          <a:prstGeom prst="straightConnector1">
            <a:avLst/>
          </a:prstGeom>
          <a:ln w="17145">
            <a:solidFill>
              <a:srgbClr val="9EADA5"/>
            </a:solidFill>
            <a:tailEnd type="triangle" w="sm" len="sm"/>
          </a:ln>
        </p:spPr>
      </p:cxnSp>
      <p:cxnSp>
        <p:nvCxnSpPr>
          <p:cNvPr id="28" name="S02-link-3"/>
          <p:cNvCxnSpPr>
            <a:stCxn id="5" idx="6"/>
            <a:endCxn id="6" idx="2"/>
          </p:cNvCxnSpPr>
          <p:nvPr/>
        </p:nvCxnSpPr>
        <p:spPr>
          <a:xfrm>
            <a:off x="5181600" y="2600325"/>
            <a:ext cx="3429000" cy="0"/>
          </a:xfrm>
          <a:prstGeom prst="straightConnector1">
            <a:avLst/>
          </a:prstGeom>
          <a:ln w="17145">
            <a:solidFill>
              <a:srgbClr val="9EADA5"/>
            </a:solidFill>
            <a:tailEnd type="triangle" w="sm" len="sm"/>
          </a:ln>
        </p:spPr>
      </p:cxnSp>
      <p:sp>
        <p:nvSpPr>
          <p:cNvPr id="9" name="S02-flow-2">
            <a:extLst>
              <a:ext uri="{FF2B5EF4-FFF2-40B4-BE49-F238E27FC236}">
                <a16:creationId xmlns:a16="http://schemas.microsoft.com/office/drawing/2014/main" id="{5CD9262E-1877-45DF-8C35-1383DB28BD36}"/>
              </a:ext>
            </a:extLst>
          </p:cNvPr>
          <p:cNvSpPr>
            <a:spLocks noGrp="1"/>
          </p:cNvSpPr>
          <p:nvPr/>
        </p:nvSpPr>
        <p:spPr>
          <a:xfrm>
            <a:off x="1466850" y="2076450"/>
            <a:ext cx="2971800" cy="352425"/>
          </a:xfrm>
          <a:prstGeom prst="rect">
            <a:avLst/>
          </a:prstGeom>
          <a:noFill/>
          <a:ln w="0">
            <a:noFill/>
          </a:ln>
        </p:spPr>
        <p:txBody>
          <a:bodyPr wrap="none" lIns="0" tIns="0" rIns="0" bIns="0" anchor="ctr">
            <a:noAutofit/>
          </a:bodyPr>
          <a:lstStyle/>
          <a:p>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지식 증류</a:t>
            </a:r>
          </a:p>
        </p:txBody>
      </p:sp>
      <p:sp>
        <p:nvSpPr>
          <p:cNvPr id="10" name="S02-flow-3">
            <a:extLst>
              <a:ext uri="{FF2B5EF4-FFF2-40B4-BE49-F238E27FC236}">
                <a16:creationId xmlns:a16="http://schemas.microsoft.com/office/drawing/2014/main" id="{216D3EC5-F0D5-4E19-9E29-F8030FDCCC2B}"/>
              </a:ext>
            </a:extLst>
          </p:cNvPr>
          <p:cNvSpPr>
            <a:spLocks noGrp="1"/>
          </p:cNvSpPr>
          <p:nvPr/>
        </p:nvSpPr>
        <p:spPr>
          <a:xfrm>
            <a:off x="5429250" y="2076450"/>
            <a:ext cx="2971800" cy="352425"/>
          </a:xfrm>
          <a:prstGeom prst="rect">
            <a:avLst/>
          </a:prstGeom>
          <a:noFill/>
          <a:ln w="0">
            <a:noFill/>
          </a:ln>
        </p:spPr>
        <p:txBody>
          <a:bodyPr wrap="none" lIns="0" tIns="0" rIns="0" bIns="0" anchor="ctr">
            <a:noAutofit/>
          </a:bodyPr>
          <a:lstStyle/>
          <a:p>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INT8 양자화</a:t>
            </a:r>
          </a:p>
        </p:txBody>
      </p:sp>
      <p:sp>
        <p:nvSpPr>
          <p:cNvPr id="11" name="S02-stage-1">
            <a:extLst>
              <a:ext uri="{FF2B5EF4-FFF2-40B4-BE49-F238E27FC236}">
                <a16:creationId xmlns:a16="http://schemas.microsoft.com/office/drawing/2014/main" id="{E9DFB455-BDD4-4253-894D-655A4272A29D}"/>
              </a:ext>
            </a:extLst>
          </p:cNvPr>
          <p:cNvSpPr>
            <a:spLocks noGrp="1"/>
          </p:cNvSpPr>
          <p:nvPr/>
        </p:nvSpPr>
        <p:spPr>
          <a:xfrm>
            <a:off x="685800" y="3152775"/>
            <a:ext cx="3181350" cy="457200"/>
          </a:xfrm>
          <a:prstGeom prst="rect">
            <a:avLst/>
          </a:prstGeom>
          <a:noFill/>
          <a:ln w="0">
            <a:noFill/>
          </a:ln>
        </p:spPr>
        <p:txBody>
          <a:bodyPr wrap="none" lIns="0" tIns="0" rIns="0" bIns="0" anchor="ctr">
            <a:noAutofit/>
          </a:bodyPr>
          <a:lstStyle/>
          <a:p>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교사 모델</a:t>
            </a:r>
          </a:p>
        </p:txBody>
      </p:sp>
      <p:sp>
        <p:nvSpPr>
          <p:cNvPr id="12" name="S02-name-1">
            <a:extLst>
              <a:ext uri="{FF2B5EF4-FFF2-40B4-BE49-F238E27FC236}">
                <a16:creationId xmlns:a16="http://schemas.microsoft.com/office/drawing/2014/main" id="{9A89A7D0-CB6D-447A-A7BD-E95593B1F691}"/>
              </a:ext>
            </a:extLst>
          </p:cNvPr>
          <p:cNvSpPr>
            <a:spLocks noGrp="1"/>
          </p:cNvSpPr>
          <p:nvPr/>
        </p:nvSpPr>
        <p:spPr>
          <a:xfrm>
            <a:off x="685800" y="3724275"/>
            <a:ext cx="3095625" cy="304800"/>
          </a:xfrm>
          <a:prstGeom prst="rect">
            <a:avLst/>
          </a:prstGeom>
          <a:noFill/>
          <a:ln w="0">
            <a:noFill/>
          </a:ln>
        </p:spPr>
        <p:txBody>
          <a:bodyPr wrap="none" lIns="0" tIns="0" rIns="0" bIns="0" anchor="ctr">
            <a:noAutofit/>
          </a:bodyPr>
          <a:lstStyle/>
          <a:p>
            <a:pPr>
              <a:defRPr sz="1575" b="0">
                <a:solidFill>
                  <a:srgbClr val="287D78"/>
                </a:solidFill>
                <a:latin typeface="Noto Sans KR"/>
                <a:ea typeface="Noto Sans KR"/>
                <a:cs typeface="Noto Sans KR"/>
              </a:defRPr>
            </a:pPr>
            <a:r>
              <a:rPr sz="1575" b="0">
                <a:solidFill>
                  <a:srgbClr val="287D78"/>
                </a:solidFill>
                <a:latin typeface="Noto Sans KR"/>
                <a:ea typeface="Noto Sans KR"/>
                <a:cs typeface="Noto Sans KR"/>
              </a:rPr>
              <a:t>baseline</a:t>
            </a:r>
          </a:p>
        </p:txBody>
      </p:sp>
      <p:sp>
        <p:nvSpPr>
          <p:cNvPr id="13" name="S02-detail-1">
            <a:extLst>
              <a:ext uri="{FF2B5EF4-FFF2-40B4-BE49-F238E27FC236}">
                <a16:creationId xmlns:a16="http://schemas.microsoft.com/office/drawing/2014/main" id="{6FA47F22-2A7B-4B45-AAD1-C50EEB9ADC3C}"/>
              </a:ext>
            </a:extLst>
          </p:cNvPr>
          <p:cNvSpPr>
            <a:spLocks noGrp="1"/>
          </p:cNvSpPr>
          <p:nvPr/>
        </p:nvSpPr>
        <p:spPr>
          <a:xfrm>
            <a:off x="685800" y="4295775"/>
            <a:ext cx="3181350" cy="771525"/>
          </a:xfrm>
          <a:prstGeom prst="rect">
            <a:avLst/>
          </a:prstGeom>
          <a:noFill/>
          <a:ln w="0">
            <a:noFill/>
          </a:ln>
        </p:spPr>
        <p:txBody>
          <a:bodyPr wrap="none" lIns="0" tIns="0" rIns="0" bIns="0" anchor="ctr">
            <a:noAutofit/>
          </a:bodyPr>
          <a:lstStyle/>
          <a:p>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성능 비교의 기준이자</a:t>
            </a:r>
          </a:p>
          <a:p>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지식을 전달하는 교사</a:t>
            </a:r>
          </a:p>
        </p:txBody>
      </p:sp>
      <p:sp>
        <p:nvSpPr>
          <p:cNvPr id="14" name="S02-stage-2">
            <a:extLst>
              <a:ext uri="{FF2B5EF4-FFF2-40B4-BE49-F238E27FC236}">
                <a16:creationId xmlns:a16="http://schemas.microsoft.com/office/drawing/2014/main" id="{7B08D215-FA56-4B33-9119-7F2EEA786251}"/>
              </a:ext>
            </a:extLst>
          </p:cNvPr>
          <p:cNvSpPr>
            <a:spLocks noGrp="1"/>
          </p:cNvSpPr>
          <p:nvPr/>
        </p:nvSpPr>
        <p:spPr>
          <a:xfrm>
            <a:off x="4648200" y="3152775"/>
            <a:ext cx="3181350" cy="457200"/>
          </a:xfrm>
          <a:prstGeom prst="rect">
            <a:avLst/>
          </a:prstGeom>
          <a:noFill/>
          <a:ln w="0">
            <a:noFill/>
          </a:ln>
        </p:spPr>
        <p:txBody>
          <a:bodyPr wrap="none" lIns="0" tIns="0" rIns="0" bIns="0" anchor="ctr">
            <a:noAutofit/>
          </a:bodyPr>
          <a:lstStyle/>
          <a:p>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학생 모델</a:t>
            </a:r>
          </a:p>
        </p:txBody>
      </p:sp>
      <p:sp>
        <p:nvSpPr>
          <p:cNvPr id="15" name="S02-name-2">
            <a:extLst>
              <a:ext uri="{FF2B5EF4-FFF2-40B4-BE49-F238E27FC236}">
                <a16:creationId xmlns:a16="http://schemas.microsoft.com/office/drawing/2014/main" id="{E76094DB-3A7D-4526-9A34-02B28F700684}"/>
              </a:ext>
            </a:extLst>
          </p:cNvPr>
          <p:cNvSpPr>
            <a:spLocks noGrp="1"/>
          </p:cNvSpPr>
          <p:nvPr/>
        </p:nvSpPr>
        <p:spPr>
          <a:xfrm>
            <a:off x="4648200" y="3724275"/>
            <a:ext cx="3095625" cy="304800"/>
          </a:xfrm>
          <a:prstGeom prst="rect">
            <a:avLst/>
          </a:prstGeom>
          <a:noFill/>
          <a:ln w="0">
            <a:noFill/>
          </a:ln>
        </p:spPr>
        <p:txBody>
          <a:bodyPr wrap="none" lIns="0" tIns="0" rIns="0" bIns="0" anchor="ctr">
            <a:noAutofit/>
          </a:bodyPr>
          <a:lstStyle/>
          <a:p>
            <a:pPr>
              <a:defRPr sz="1575" b="0">
                <a:solidFill>
                  <a:srgbClr val="287D78"/>
                </a:solidFill>
                <a:latin typeface="Noto Sans KR"/>
                <a:ea typeface="Noto Sans KR"/>
                <a:cs typeface="Noto Sans KR"/>
              </a:defRPr>
            </a:pPr>
            <a:r>
              <a:rPr sz="1575" b="0">
                <a:solidFill>
                  <a:srgbClr val="287D78"/>
                </a:solidFill>
                <a:latin typeface="Noto Sans KR"/>
                <a:ea typeface="Noto Sans KR"/>
                <a:cs typeface="Noto Sans KR"/>
              </a:rPr>
              <a:t>distilled</a:t>
            </a:r>
          </a:p>
        </p:txBody>
      </p:sp>
      <p:sp>
        <p:nvSpPr>
          <p:cNvPr id="16" name="S02-detail-2">
            <a:extLst>
              <a:ext uri="{FF2B5EF4-FFF2-40B4-BE49-F238E27FC236}">
                <a16:creationId xmlns:a16="http://schemas.microsoft.com/office/drawing/2014/main" id="{AD69CC82-A32F-4BCC-A3CF-2A2D8573CFB3}"/>
              </a:ext>
            </a:extLst>
          </p:cNvPr>
          <p:cNvSpPr>
            <a:spLocks noGrp="1"/>
          </p:cNvSpPr>
          <p:nvPr/>
        </p:nvSpPr>
        <p:spPr>
          <a:xfrm>
            <a:off x="4648200" y="4295775"/>
            <a:ext cx="3181350" cy="771525"/>
          </a:xfrm>
          <a:prstGeom prst="rect">
            <a:avLst/>
          </a:prstGeom>
          <a:noFill/>
          <a:ln w="0">
            <a:noFill/>
          </a:ln>
        </p:spPr>
        <p:txBody>
          <a:bodyPr wrap="none" lIns="0" tIns="0" rIns="0" bIns="0" anchor="ctr">
            <a:noAutofit/>
          </a:bodyPr>
          <a:lstStyle/>
          <a:p>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교사의 예측을 활용해</a:t>
            </a:r>
          </a:p>
          <a:p>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작은 학생 모델을 학습</a:t>
            </a:r>
          </a:p>
        </p:txBody>
      </p:sp>
      <p:sp>
        <p:nvSpPr>
          <p:cNvPr id="17" name="S02-stage-3">
            <a:extLst>
              <a:ext uri="{FF2B5EF4-FFF2-40B4-BE49-F238E27FC236}">
                <a16:creationId xmlns:a16="http://schemas.microsoft.com/office/drawing/2014/main" id="{9666B0E2-C118-494B-89F5-479A395266C6}"/>
              </a:ext>
            </a:extLst>
          </p:cNvPr>
          <p:cNvSpPr>
            <a:spLocks noGrp="1"/>
          </p:cNvSpPr>
          <p:nvPr/>
        </p:nvSpPr>
        <p:spPr>
          <a:xfrm>
            <a:off x="8610600" y="3152775"/>
            <a:ext cx="3181350" cy="457200"/>
          </a:xfrm>
          <a:prstGeom prst="rect">
            <a:avLst/>
          </a:prstGeom>
          <a:noFill/>
          <a:ln w="0">
            <a:noFill/>
          </a:ln>
        </p:spPr>
        <p:txBody>
          <a:bodyPr wrap="none" lIns="0" tIns="0" rIns="0" bIns="0" anchor="ctr">
            <a:noAutofit/>
          </a:bodyPr>
          <a:lstStyle/>
          <a:p>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INT8 학생 모델</a:t>
            </a:r>
          </a:p>
        </p:txBody>
      </p:sp>
      <p:sp>
        <p:nvSpPr>
          <p:cNvPr id="18" name="S02-name-3">
            <a:extLst>
              <a:ext uri="{FF2B5EF4-FFF2-40B4-BE49-F238E27FC236}">
                <a16:creationId xmlns:a16="http://schemas.microsoft.com/office/drawing/2014/main" id="{5EC11778-7709-4CE8-B12B-26A41AED01AA}"/>
              </a:ext>
            </a:extLst>
          </p:cNvPr>
          <p:cNvSpPr>
            <a:spLocks noGrp="1"/>
          </p:cNvSpPr>
          <p:nvPr/>
        </p:nvSpPr>
        <p:spPr>
          <a:xfrm>
            <a:off x="8610600" y="3724275"/>
            <a:ext cx="3095625" cy="304800"/>
          </a:xfrm>
          <a:prstGeom prst="rect">
            <a:avLst/>
          </a:prstGeom>
          <a:noFill/>
          <a:ln w="0">
            <a:noFill/>
          </a:ln>
        </p:spPr>
        <p:txBody>
          <a:bodyPr wrap="none" lIns="0" tIns="0" rIns="0" bIns="0" anchor="ctr">
            <a:noAutofit/>
          </a:bodyPr>
          <a:lstStyle/>
          <a:p>
            <a:pPr>
              <a:defRPr sz="1575" b="0">
                <a:solidFill>
                  <a:srgbClr val="287D78"/>
                </a:solidFill>
                <a:latin typeface="Noto Sans KR"/>
                <a:ea typeface="Noto Sans KR"/>
                <a:cs typeface="Noto Sans KR"/>
              </a:defRPr>
            </a:pPr>
            <a:r>
              <a:rPr sz="1575" b="0">
                <a:solidFill>
                  <a:srgbClr val="287D78"/>
                </a:solidFill>
                <a:latin typeface="Noto Sans KR"/>
                <a:ea typeface="Noto Sans KR"/>
                <a:cs typeface="Noto Sans KR"/>
              </a:rPr>
              <a:t>int8</a:t>
            </a:r>
          </a:p>
        </p:txBody>
      </p:sp>
      <p:sp>
        <p:nvSpPr>
          <p:cNvPr id="19" name="S02-detail-3">
            <a:extLst>
              <a:ext uri="{FF2B5EF4-FFF2-40B4-BE49-F238E27FC236}">
                <a16:creationId xmlns:a16="http://schemas.microsoft.com/office/drawing/2014/main" id="{D8BA29F8-EBAB-4E42-A3B7-882A8D8F600B}"/>
              </a:ext>
            </a:extLst>
          </p:cNvPr>
          <p:cNvSpPr>
            <a:spLocks noGrp="1"/>
          </p:cNvSpPr>
          <p:nvPr/>
        </p:nvSpPr>
        <p:spPr>
          <a:xfrm>
            <a:off x="8610600" y="4295775"/>
            <a:ext cx="3181350" cy="771525"/>
          </a:xfrm>
          <a:prstGeom prst="rect">
            <a:avLst/>
          </a:prstGeom>
          <a:noFill/>
          <a:ln w="0">
            <a:noFill/>
          </a:ln>
        </p:spPr>
        <p:txBody>
          <a:bodyPr wrap="none" lIns="0" tIns="0" rIns="0" bIns="0" anchor="ctr">
            <a:noAutofit/>
          </a:bodyPr>
          <a:lstStyle/>
          <a:p>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모델 내 지정한 수치를</a:t>
            </a:r>
          </a:p>
          <a:p>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8비트 정수로 표현</a:t>
            </a:r>
          </a:p>
        </p:txBody>
      </p:sp>
      <p:sp>
        <p:nvSpPr>
          <p:cNvPr id="20" name="S02-caveat">
            <a:extLst>
              <a:ext uri="{FF2B5EF4-FFF2-40B4-BE49-F238E27FC236}">
                <a16:creationId xmlns:a16="http://schemas.microsoft.com/office/drawing/2014/main" id="{DA2C80E0-00AB-4235-9AD2-B49031C1CCA1}"/>
              </a:ext>
            </a:extLst>
          </p:cNvPr>
          <p:cNvSpPr>
            <a:spLocks noGrp="1"/>
          </p:cNvSpPr>
          <p:nvPr/>
        </p:nvSpPr>
        <p:spPr>
          <a:xfrm>
            <a:off x="685800" y="5657850"/>
            <a:ext cx="10820400" cy="361950"/>
          </a:xfrm>
          <a:prstGeom prst="rect">
            <a:avLst/>
          </a:prstGeom>
          <a:noFill/>
          <a:ln w="0">
            <a:noFill/>
          </a:ln>
        </p:spPr>
        <p:txBody>
          <a:bodyPr wrap="none" lIns="0" tIns="0" rIns="0" bIns="0" anchor="ctr">
            <a:noAutofit/>
          </a:bodyPr>
          <a:lstStyle/>
          <a:p>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개념도입니다. 모델 구조와 구체적인 양자화 범위는 미제공입니다.</a:t>
            </a:r>
          </a:p>
        </p:txBody>
      </p:sp>
    </p:spTree>
    <p:extLst>
      <p:ext uri="{BB962C8B-B14F-4D97-AF65-F5344CB8AC3E}">
        <p14:creationId xmlns:p14="http://schemas.microsoft.com/office/powerpoint/2010/main" val="64911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35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35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5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5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5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5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35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P spid="10" grpId="0"/>
      <p:bldP spid="14" grpId="0"/>
      <p:bldP spid="15" grpId="0"/>
      <p:bldP spid="16" grpId="0"/>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8" name="S03-title">
            <a:extLst>
              <a:ext uri="{FF2B5EF4-FFF2-40B4-BE49-F238E27FC236}">
                <a16:creationId xmlns:a16="http://schemas.microsoft.com/office/drawing/2014/main" id="{2BFCB33E-D440-4E8E-9045-EBC7B2A4A73F}"/>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지연, F1, 모델 크기 비교</a:t>
            </a:r>
          </a:p>
        </p:txBody>
      </p:sp>
      <p:sp>
        <p:nvSpPr>
          <p:cNvPr id="2" name="S03-disclosure">
            <a:extLst>
              <a:ext uri="{FF2B5EF4-FFF2-40B4-BE49-F238E27FC236}">
                <a16:creationId xmlns:a16="http://schemas.microsoft.com/office/drawing/2014/main" id="{70AD51DF-4D9E-47A2-8535-1F0B7A490A4B}"/>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 · 실제 실험 결과가 아닙니다</a:t>
            </a:r>
          </a:p>
        </p:txBody>
      </p:sp>
      <p:sp>
        <p:nvSpPr>
          <p:cNvPr id="3" name="S03-number">
            <a:extLst>
              <a:ext uri="{FF2B5EF4-FFF2-40B4-BE49-F238E27FC236}">
                <a16:creationId xmlns:a16="http://schemas.microsoft.com/office/drawing/2014/main" id="{FAB2F029-CE85-4FD1-BF84-7F7926589296}"/>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03</a:t>
            </a:r>
          </a:p>
        </p:txBody>
      </p:sp>
      <p:sp>
        <p:nvSpPr>
          <p:cNvPr id="4" name="S03-direction">
            <a:extLst>
              <a:ext uri="{FF2B5EF4-FFF2-40B4-BE49-F238E27FC236}">
                <a16:creationId xmlns:a16="http://schemas.microsoft.com/office/drawing/2014/main" id="{0C8B53CB-C902-45B2-9C8E-2CAB87D1DF26}"/>
              </a:ext>
            </a:extLst>
          </p:cNvPr>
          <p:cNvSpPr>
            <a:spLocks noGrp="1"/>
          </p:cNvSpPr>
          <p:nvPr/>
        </p:nvSpPr>
        <p:spPr>
          <a:xfrm>
            <a:off x="685800" y="1628775"/>
            <a:ext cx="10820400" cy="381000"/>
          </a:xfrm>
          <a:prstGeom prst="rect">
            <a:avLst/>
          </a:prstGeom>
          <a:noFill/>
          <a:ln w="0">
            <a:noFill/>
          </a:ln>
        </p:spPr>
        <p:txBody>
          <a:bodyPr wrap="none" lIns="0" tIns="0" rIns="0" bIns="0" anchor="ctr">
            <a:noAutofit/>
          </a:bodyPr>
          <a:lstStyle/>
          <a:p>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지연과 모델 크기는 낮을수록, F1은 높을수록 좋습니다.</a:t>
            </a:r>
          </a:p>
        </p:txBody>
      </p:sp>
      <p:graphicFrame>
        <p:nvGraphicFramePr>
          <p:cNvPr id="12" name="표 11"/>
          <p:cNvGraphicFramePr/>
          <p:nvPr/>
        </p:nvGraphicFramePr>
        <p:xfrm>
          <a:off x="609600" y="2314575"/>
          <a:ext cx="10972800" cy="2857500"/>
        </p:xfrm>
        <a:graphic>
          <a:graphicData uri="http://schemas.openxmlformats.org/drawingml/2006/table">
            <a:tbl>
              <a:tblPr/>
              <a:tblGrid>
                <a:gridCol w="3429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714375">
                <a:tc>
                  <a:txBody>
                    <a:bodyPr/>
                    <a:lstStyle/>
                    <a:p>
                      <a:pPr algn="l"/>
                      <a:r>
                        <a:rPr sz="1800" b="0">
                          <a:solidFill>
                            <a:srgbClr val="586C68"/>
                          </a:solidFill>
                          <a:latin typeface="Noto Sans KR"/>
                          <a:ea typeface="Noto Sans KR"/>
                          <a:cs typeface="Noto Sans KR"/>
                        </a:rPr>
                        <a:t>모델</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1800" b="0">
                          <a:solidFill>
                            <a:srgbClr val="586C68"/>
                          </a:solidFill>
                          <a:latin typeface="Noto Sans KR"/>
                          <a:ea typeface="Noto Sans KR"/>
                          <a:cs typeface="Noto Sans KR"/>
                        </a:rPr>
                        <a:t>지연 (ms)</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1800" b="0">
                          <a:solidFill>
                            <a:srgbClr val="586C68"/>
                          </a:solidFill>
                          <a:latin typeface="Noto Sans KR"/>
                          <a:ea typeface="Noto Sans KR"/>
                          <a:cs typeface="Noto Sans KR"/>
                        </a:rPr>
                        <a:t>F1</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1800" b="0">
                          <a:solidFill>
                            <a:srgbClr val="586C68"/>
                          </a:solidFill>
                          <a:latin typeface="Noto Sans KR"/>
                          <a:ea typeface="Noto Sans KR"/>
                          <a:cs typeface="Noto Sans KR"/>
                        </a:rPr>
                        <a:t>크기 (MB)</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extLst>
                  <a:ext uri="{0D108BD9-81ED-4DB2-BD59-A6C34878D82A}">
                    <a16:rowId xmlns:a16="http://schemas.microsoft.com/office/drawing/2014/main" val="10000"/>
                  </a:ext>
                </a:extLst>
              </a:tr>
              <a:tr h="714375">
                <a:tc>
                  <a:txBody>
                    <a:bodyPr/>
                    <a:lstStyle/>
                    <a:p>
                      <a:pPr algn="l"/>
                      <a:r>
                        <a:rPr sz="2400" b="0">
                          <a:solidFill>
                            <a:srgbClr val="1E302F"/>
                          </a:solidFill>
                          <a:latin typeface="Noto Sans KR"/>
                          <a:ea typeface="Noto Sans KR"/>
                          <a:cs typeface="Noto Sans KR"/>
                        </a:rPr>
                        <a:t>baseline</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120</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0.910</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48</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extLst>
                  <a:ext uri="{0D108BD9-81ED-4DB2-BD59-A6C34878D82A}">
                    <a16:rowId xmlns:a16="http://schemas.microsoft.com/office/drawing/2014/main" val="10001"/>
                  </a:ext>
                </a:extLst>
              </a:tr>
              <a:tr h="714375">
                <a:tc>
                  <a:txBody>
                    <a:bodyPr/>
                    <a:lstStyle/>
                    <a:p>
                      <a:pPr algn="l"/>
                      <a:r>
                        <a:rPr sz="2400" b="0">
                          <a:solidFill>
                            <a:srgbClr val="1E302F"/>
                          </a:solidFill>
                          <a:latin typeface="Noto Sans KR"/>
                          <a:ea typeface="Noto Sans KR"/>
                          <a:cs typeface="Noto Sans KR"/>
                        </a:rPr>
                        <a:t>distilled</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72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0.902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18</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extLst>
                  <a:ext uri="{0D108BD9-81ED-4DB2-BD59-A6C34878D82A}">
                    <a16:rowId xmlns:a16="http://schemas.microsoft.com/office/drawing/2014/main" val="10002"/>
                  </a:ext>
                </a:extLst>
              </a:tr>
              <a:tr h="714375">
                <a:tc>
                  <a:txBody>
                    <a:bodyPr/>
                    <a:lstStyle/>
                    <a:p>
                      <a:pPr algn="l"/>
                      <a:r>
                        <a:rPr sz="2400" b="0">
                          <a:solidFill>
                            <a:srgbClr val="1E302F"/>
                          </a:solidFill>
                          <a:latin typeface="Noto Sans KR"/>
                          <a:ea typeface="Noto Sans KR"/>
                          <a:cs typeface="Noto Sans KR"/>
                        </a:rPr>
                        <a:t>int8</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54</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0.896</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12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extLst>
                  <a:ext uri="{0D108BD9-81ED-4DB2-BD59-A6C34878D82A}">
                    <a16:rowId xmlns:a16="http://schemas.microsoft.com/office/drawing/2014/main" val="10003"/>
                  </a:ext>
                </a:extLst>
              </a:tr>
            </a:tbl>
          </a:graphicData>
        </a:graphic>
      </p:graphicFrame>
      <p:sp>
        <p:nvSpPr>
          <p:cNvPr id="6" name="S03-header-rule">
            <a:extLst>
              <a:ext uri="{FF2B5EF4-FFF2-40B4-BE49-F238E27FC236}">
                <a16:creationId xmlns:a16="http://schemas.microsoft.com/office/drawing/2014/main" id="{D06DE6E8-A4B2-41DA-A73A-86E0E6937544}"/>
              </a:ext>
            </a:extLst>
          </p:cNvPr>
          <p:cNvSpPr>
            <a:spLocks noGrp="1"/>
          </p:cNvSpPr>
          <p:nvPr/>
        </p:nvSpPr>
        <p:spPr>
          <a:xfrm>
            <a:off x="685800" y="3028950"/>
            <a:ext cx="10820400" cy="0"/>
          </a:xfrm>
          <a:prstGeom prst="line">
            <a:avLst/>
          </a:prstGeom>
          <a:ln w="9525">
            <a:solidFill>
              <a:srgbClr val="CFD8D1"/>
            </a:solidFill>
          </a:ln>
        </p:spPr>
      </p:sp>
      <p:sp>
        <p:nvSpPr>
          <p:cNvPr id="7" name="S03-limit">
            <a:extLst>
              <a:ext uri="{FF2B5EF4-FFF2-40B4-BE49-F238E27FC236}">
                <a16:creationId xmlns:a16="http://schemas.microsoft.com/office/drawing/2014/main" id="{1E0049A3-4E3D-4EDE-A422-2484BCDE561B}"/>
              </a:ext>
            </a:extLst>
          </p:cNvPr>
          <p:cNvSpPr>
            <a:spLocks noGrp="1"/>
          </p:cNvSpPr>
          <p:nvPr/>
        </p:nvSpPr>
        <p:spPr>
          <a:xfrm>
            <a:off x="685800" y="5619750"/>
            <a:ext cx="10820400" cy="400050"/>
          </a:xfrm>
          <a:prstGeom prst="rect">
            <a:avLst/>
          </a:prstGeom>
          <a:noFill/>
          <a:ln w="0">
            <a:noFill/>
          </a:ln>
        </p:spPr>
        <p:txBody>
          <a:bodyPr wrap="none" lIns="0" tIns="0" rIns="0" bIns="0" anchor="ctr">
            <a:noAutofit/>
          </a:bodyPr>
          <a:lstStyle/>
          <a:p>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동일 장치·데이터를 가정합니다. 표본수·분산·실제 데이터셋명은 미제공입니다.</a:t>
            </a:r>
          </a:p>
        </p:txBody>
      </p:sp>
    </p:spTree>
    <p:extLst>
      <p:ext uri="{BB962C8B-B14F-4D97-AF65-F5344CB8AC3E}">
        <p14:creationId xmlns:p14="http://schemas.microsoft.com/office/powerpoint/2010/main" val="145784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5" name="S04-title">
            <a:extLst>
              <a:ext uri="{FF2B5EF4-FFF2-40B4-BE49-F238E27FC236}">
                <a16:creationId xmlns:a16="http://schemas.microsoft.com/office/drawing/2014/main" id="{25A89D26-9714-4F0E-899C-B3DCD32F3C69}"/>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지연은 줄고, F1도 낮아집니다</a:t>
            </a:r>
          </a:p>
        </p:txBody>
      </p:sp>
      <p:sp>
        <p:nvSpPr>
          <p:cNvPr id="2" name="S04-disclosure">
            <a:extLst>
              <a:ext uri="{FF2B5EF4-FFF2-40B4-BE49-F238E27FC236}">
                <a16:creationId xmlns:a16="http://schemas.microsoft.com/office/drawing/2014/main" id="{7194345A-DD90-409E-B7D2-BD2FA43FBC31}"/>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 · 실제 실험 결과가 아닙니다</a:t>
            </a:r>
          </a:p>
        </p:txBody>
      </p:sp>
      <p:sp>
        <p:nvSpPr>
          <p:cNvPr id="3" name="S04-number">
            <a:extLst>
              <a:ext uri="{FF2B5EF4-FFF2-40B4-BE49-F238E27FC236}">
                <a16:creationId xmlns:a16="http://schemas.microsoft.com/office/drawing/2014/main" id="{8C81FEEE-2569-4AEE-BA59-58874E4CC3F2}"/>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04</a:t>
            </a:r>
          </a:p>
        </p:txBody>
      </p:sp>
      <p:sp>
        <p:nvSpPr>
          <p:cNvPr id="4" name="S04-chart-unit">
            <a:extLst>
              <a:ext uri="{FF2B5EF4-FFF2-40B4-BE49-F238E27FC236}">
                <a16:creationId xmlns:a16="http://schemas.microsoft.com/office/drawing/2014/main" id="{3476E6C3-4DEE-43C3-8DE3-72C707C373F9}"/>
              </a:ext>
            </a:extLst>
          </p:cNvPr>
          <p:cNvSpPr>
            <a:spLocks noGrp="1"/>
          </p:cNvSpPr>
          <p:nvPr/>
        </p:nvSpPr>
        <p:spPr>
          <a:xfrm>
            <a:off x="685800" y="1647825"/>
            <a:ext cx="6762750" cy="361950"/>
          </a:xfrm>
          <a:prstGeom prst="rect">
            <a:avLst/>
          </a:prstGeom>
          <a:noFill/>
          <a:ln w="0">
            <a:noFill/>
          </a:ln>
        </p:spPr>
        <p:txBody>
          <a:bodyPr wrap="none" lIns="0" tIns="0" rIns="0" bIns="0" anchor="ctr">
            <a:noAutofit/>
          </a:bodyPr>
          <a:lstStyle/>
          <a:p>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F1 · 높을수록 좋음</a:t>
            </a:r>
          </a:p>
        </p:txBody>
      </p:sp>
      <p:graphicFrame>
        <p:nvGraphicFramePr>
          <p:cNvPr id="19" name="Chart"/>
          <p:cNvGraphicFramePr/>
          <p:nvPr/>
        </p:nvGraphicFramePr>
        <p:xfrm>
          <a:off x="619125" y="2095500"/>
          <a:ext cx="7191375" cy="3219450"/>
        </p:xfrm>
        <a:graphic>
          <a:graphicData uri="http://schemas.openxmlformats.org/drawingml/2006/chart">
            <c:chart xmlns:c="http://schemas.openxmlformats.org/drawingml/2006/chart" xmlns:r="http://schemas.openxmlformats.org/officeDocument/2006/relationships" r:id="rId3"/>
          </a:graphicData>
        </a:graphic>
      </p:graphicFrame>
      <p:sp>
        <p:nvSpPr>
          <p:cNvPr id="6" name="S04-x-unit">
            <a:extLst>
              <a:ext uri="{FF2B5EF4-FFF2-40B4-BE49-F238E27FC236}">
                <a16:creationId xmlns:a16="http://schemas.microsoft.com/office/drawing/2014/main" id="{8FE66CC3-0328-4D34-B7AE-49897BF48C40}"/>
              </a:ext>
            </a:extLst>
          </p:cNvPr>
          <p:cNvSpPr>
            <a:spLocks noGrp="1"/>
          </p:cNvSpPr>
          <p:nvPr/>
        </p:nvSpPr>
        <p:spPr>
          <a:xfrm>
            <a:off x="1428750" y="5181600"/>
            <a:ext cx="6191250" cy="333375"/>
          </a:xfrm>
          <a:prstGeom prst="rect">
            <a:avLst/>
          </a:prstGeom>
          <a:noFill/>
          <a:ln w="0">
            <a:noFill/>
          </a:ln>
        </p:spPr>
        <p:txBody>
          <a:bodyPr wrap="none" lIns="0" tIns="0" rIns="0" bIns="0" anchor="ctr">
            <a:noAutofit/>
          </a:bodyPr>
          <a:lstStyle/>
          <a:p>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지연 (ms) · 낮을수록 좋음</a:t>
            </a:r>
          </a:p>
        </p:txBody>
      </p:sp>
      <p:sp>
        <p:nvSpPr>
          <p:cNvPr id="7" name="S04-basis">
            <a:extLst>
              <a:ext uri="{FF2B5EF4-FFF2-40B4-BE49-F238E27FC236}">
                <a16:creationId xmlns:a16="http://schemas.microsoft.com/office/drawing/2014/main" id="{E9F74EB1-8EC5-4C69-A69E-EE397C1B15F2}"/>
              </a:ext>
            </a:extLst>
          </p:cNvPr>
          <p:cNvSpPr>
            <a:spLocks noGrp="1"/>
          </p:cNvSpPr>
          <p:nvPr/>
        </p:nvSpPr>
        <p:spPr>
          <a:xfrm>
            <a:off x="8382000" y="1714500"/>
            <a:ext cx="3124200" cy="333375"/>
          </a:xfrm>
          <a:prstGeom prst="rect">
            <a:avLst/>
          </a:prstGeom>
          <a:noFill/>
          <a:ln w="0">
            <a:noFill/>
          </a:ln>
        </p:spPr>
        <p:txBody>
          <a:bodyPr wrap="none" lIns="0" tIns="0" rIns="0" bIns="0" anchor="ctr">
            <a:noAutofit/>
          </a:bodyPr>
          <a:lstStyle/>
          <a:p>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원본 대비 INT8</a:t>
            </a:r>
          </a:p>
        </p:txBody>
      </p:sp>
      <p:sp>
        <p:nvSpPr>
          <p:cNvPr id="8" name="S04-latency">
            <a:extLst>
              <a:ext uri="{FF2B5EF4-FFF2-40B4-BE49-F238E27FC236}">
                <a16:creationId xmlns:a16="http://schemas.microsoft.com/office/drawing/2014/main" id="{B21799A0-8608-4BCC-81CF-BD51BA2BCE89}"/>
              </a:ext>
            </a:extLst>
          </p:cNvPr>
          <p:cNvSpPr>
            <a:spLocks noGrp="1"/>
          </p:cNvSpPr>
          <p:nvPr/>
        </p:nvSpPr>
        <p:spPr>
          <a:xfrm>
            <a:off x="8382000" y="2247900"/>
            <a:ext cx="3048000" cy="628650"/>
          </a:xfrm>
          <a:prstGeom prst="rect">
            <a:avLst/>
          </a:prstGeom>
          <a:noFill/>
          <a:ln w="0">
            <a:noFill/>
          </a:ln>
        </p:spPr>
        <p:txBody>
          <a:bodyPr wrap="none" lIns="0" tIns="0" rIns="0" bIns="0" anchor="ctr">
            <a:noAutofit/>
          </a:bodyPr>
          <a:lstStyle/>
          <a:p>
            <a:pPr>
              <a:defRPr sz="3450" b="0">
                <a:solidFill>
                  <a:srgbClr val="1E302F"/>
                </a:solidFill>
                <a:latin typeface="Noto Sans KR"/>
                <a:ea typeface="Noto Sans KR"/>
                <a:cs typeface="Noto Sans KR"/>
              </a:defRPr>
            </a:pPr>
            <a:r>
              <a:rPr sz="3450" b="0">
                <a:solidFill>
                  <a:srgbClr val="1E302F"/>
                </a:solidFill>
                <a:latin typeface="Noto Sans KR"/>
                <a:ea typeface="Noto Sans KR"/>
                <a:cs typeface="Noto Sans KR"/>
              </a:rPr>
              <a:t>−55%</a:t>
            </a:r>
          </a:p>
        </p:txBody>
      </p:sp>
      <p:sp>
        <p:nvSpPr>
          <p:cNvPr id="9" name="S04-latency-label">
            <a:extLst>
              <a:ext uri="{FF2B5EF4-FFF2-40B4-BE49-F238E27FC236}">
                <a16:creationId xmlns:a16="http://schemas.microsoft.com/office/drawing/2014/main" id="{395BC17C-9B37-4040-BA6F-9FDCE175910E}"/>
              </a:ext>
            </a:extLst>
          </p:cNvPr>
          <p:cNvSpPr>
            <a:spLocks noGrp="1"/>
          </p:cNvSpPr>
          <p:nvPr/>
        </p:nvSpPr>
        <p:spPr>
          <a:xfrm>
            <a:off x="8382000" y="2876550"/>
            <a:ext cx="3124200" cy="361950"/>
          </a:xfrm>
          <a:prstGeom prst="rect">
            <a:avLst/>
          </a:prstGeom>
          <a:noFill/>
          <a:ln w="0">
            <a:noFill/>
          </a:ln>
        </p:spPr>
        <p:txBody>
          <a:bodyPr wrap="none" lIns="0" tIns="0" rIns="0" bIns="0" anchor="ctr">
            <a:noAutofit/>
          </a:bodyPr>
          <a:lstStyle/>
          <a:p>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지연 · 120 → 54 ms</a:t>
            </a:r>
          </a:p>
        </p:txBody>
      </p:sp>
      <p:sp>
        <p:nvSpPr>
          <p:cNvPr id="10" name="S04-f1">
            <a:extLst>
              <a:ext uri="{FF2B5EF4-FFF2-40B4-BE49-F238E27FC236}">
                <a16:creationId xmlns:a16="http://schemas.microsoft.com/office/drawing/2014/main" id="{69464394-F990-4519-8FA0-1ADAA43C76F5}"/>
              </a:ext>
            </a:extLst>
          </p:cNvPr>
          <p:cNvSpPr>
            <a:spLocks noGrp="1"/>
          </p:cNvSpPr>
          <p:nvPr/>
        </p:nvSpPr>
        <p:spPr>
          <a:xfrm>
            <a:off x="8382000" y="3419475"/>
            <a:ext cx="3048000" cy="628650"/>
          </a:xfrm>
          <a:prstGeom prst="rect">
            <a:avLst/>
          </a:prstGeom>
          <a:noFill/>
          <a:ln w="0">
            <a:noFill/>
          </a:ln>
        </p:spPr>
        <p:txBody>
          <a:bodyPr wrap="none" lIns="0" tIns="0" rIns="0" bIns="0" anchor="ctr">
            <a:noAutofit/>
          </a:bodyPr>
          <a:lstStyle/>
          <a:p>
            <a:pPr>
              <a:defRPr sz="3450" b="0">
                <a:solidFill>
                  <a:srgbClr val="1E302F"/>
                </a:solidFill>
                <a:latin typeface="Noto Sans KR"/>
                <a:ea typeface="Noto Sans KR"/>
                <a:cs typeface="Noto Sans KR"/>
              </a:defRPr>
            </a:pPr>
            <a:r>
              <a:rPr sz="3450" b="0">
                <a:solidFill>
                  <a:srgbClr val="1E302F"/>
                </a:solidFill>
                <a:latin typeface="Noto Sans KR"/>
                <a:ea typeface="Noto Sans KR"/>
                <a:cs typeface="Noto Sans KR"/>
              </a:rPr>
              <a:t>−0.014</a:t>
            </a:r>
          </a:p>
        </p:txBody>
      </p:sp>
      <p:sp>
        <p:nvSpPr>
          <p:cNvPr id="11" name="S04-f1-label">
            <a:extLst>
              <a:ext uri="{FF2B5EF4-FFF2-40B4-BE49-F238E27FC236}">
                <a16:creationId xmlns:a16="http://schemas.microsoft.com/office/drawing/2014/main" id="{031A2F0C-DF36-4E8F-BB80-36B0DE5095E8}"/>
              </a:ext>
            </a:extLst>
          </p:cNvPr>
          <p:cNvSpPr>
            <a:spLocks noGrp="1"/>
          </p:cNvSpPr>
          <p:nvPr/>
        </p:nvSpPr>
        <p:spPr>
          <a:xfrm>
            <a:off x="8382000" y="4048125"/>
            <a:ext cx="3124200" cy="361950"/>
          </a:xfrm>
          <a:prstGeom prst="rect">
            <a:avLst/>
          </a:prstGeom>
          <a:noFill/>
          <a:ln w="0">
            <a:noFill/>
          </a:ln>
        </p:spPr>
        <p:txBody>
          <a:bodyPr wrap="none" lIns="0" tIns="0" rIns="0" bIns="0" anchor="ctr">
            <a:noAutofit/>
          </a:bodyPr>
          <a:lstStyle/>
          <a:p>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F1 · 절대 차이</a:t>
            </a:r>
          </a:p>
        </p:txBody>
      </p:sp>
      <p:sp>
        <p:nvSpPr>
          <p:cNvPr id="12" name="S04-size-values">
            <a:extLst>
              <a:ext uri="{FF2B5EF4-FFF2-40B4-BE49-F238E27FC236}">
                <a16:creationId xmlns:a16="http://schemas.microsoft.com/office/drawing/2014/main" id="{1D8035D4-AE13-4CFF-82AD-929826B7A139}"/>
              </a:ext>
            </a:extLst>
          </p:cNvPr>
          <p:cNvSpPr>
            <a:spLocks noGrp="1"/>
          </p:cNvSpPr>
          <p:nvPr/>
        </p:nvSpPr>
        <p:spPr>
          <a:xfrm>
            <a:off x="8382000" y="4772025"/>
            <a:ext cx="3124200" cy="457200"/>
          </a:xfrm>
          <a:prstGeom prst="rect">
            <a:avLst/>
          </a:prstGeom>
          <a:noFill/>
          <a:ln w="0">
            <a:noFill/>
          </a:ln>
        </p:spPr>
        <p:txBody>
          <a:bodyPr wrap="none" lIns="0" tIns="0" rIns="0" bIns="0" anchor="ctr">
            <a:noAutofit/>
          </a:bodyPr>
          <a:lstStyle/>
          <a:p>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크기: 48 → 12 MB (−75%)</a:t>
            </a:r>
          </a:p>
        </p:txBody>
      </p:sp>
      <p:sp>
        <p:nvSpPr>
          <p:cNvPr id="13" name="S04-stage1">
            <a:extLst>
              <a:ext uri="{FF2B5EF4-FFF2-40B4-BE49-F238E27FC236}">
                <a16:creationId xmlns:a16="http://schemas.microsoft.com/office/drawing/2014/main" id="{586C2BEF-64EF-4888-BBD7-763AB6753C14}"/>
              </a:ext>
            </a:extLst>
          </p:cNvPr>
          <p:cNvSpPr>
            <a:spLocks noGrp="1"/>
          </p:cNvSpPr>
          <p:nvPr/>
        </p:nvSpPr>
        <p:spPr>
          <a:xfrm>
            <a:off x="685800" y="5467350"/>
            <a:ext cx="10820400" cy="304800"/>
          </a:xfrm>
          <a:prstGeom prst="rect">
            <a:avLst/>
          </a:prstGeom>
          <a:noFill/>
          <a:ln w="0">
            <a:noFill/>
          </a:ln>
        </p:spPr>
        <p:txBody>
          <a:bodyPr wrap="none" lIns="0" tIns="0" rIns="0" bIns="0" anchor="ctr">
            <a:noAutofit/>
          </a:bodyPr>
          <a:lstStyle/>
          <a:p>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증류: 지연 40% 감소, F1 0.008 하락</a:t>
            </a:r>
          </a:p>
        </p:txBody>
      </p:sp>
      <p:sp>
        <p:nvSpPr>
          <p:cNvPr id="14" name="S04-stage2">
            <a:extLst>
              <a:ext uri="{FF2B5EF4-FFF2-40B4-BE49-F238E27FC236}">
                <a16:creationId xmlns:a16="http://schemas.microsoft.com/office/drawing/2014/main" id="{9DF67ADF-61F2-4493-9546-47594572DCEA}"/>
              </a:ext>
            </a:extLst>
          </p:cNvPr>
          <p:cNvSpPr>
            <a:spLocks noGrp="1"/>
          </p:cNvSpPr>
          <p:nvPr/>
        </p:nvSpPr>
        <p:spPr>
          <a:xfrm>
            <a:off x="685800" y="5810250"/>
            <a:ext cx="10820400" cy="304800"/>
          </a:xfrm>
          <a:prstGeom prst="rect">
            <a:avLst/>
          </a:prstGeom>
          <a:noFill/>
          <a:ln w="0">
            <a:noFill/>
          </a:ln>
        </p:spPr>
        <p:txBody>
          <a:bodyPr wrap="none" lIns="0" tIns="0" rIns="0" bIns="0" anchor="ctr">
            <a:noAutofit/>
          </a:bodyPr>
          <a:lstStyle/>
          <a:p>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추가 INT8 단계: 지연 25% 감소, F1 0.006 하락</a:t>
            </a:r>
          </a:p>
        </p:txBody>
      </p:sp>
    </p:spTree>
    <p:extLst>
      <p:ext uri="{BB962C8B-B14F-4D97-AF65-F5344CB8AC3E}">
        <p14:creationId xmlns:p14="http://schemas.microsoft.com/office/powerpoint/2010/main" val="44023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4" name="S05-title">
            <a:extLst>
              <a:ext uri="{FF2B5EF4-FFF2-40B4-BE49-F238E27FC236}">
                <a16:creationId xmlns:a16="http://schemas.microsoft.com/office/drawing/2014/main" id="{4737C698-4CD5-45D5-A0F0-08B9F4769C2A}"/>
              </a:ext>
            </a:extLst>
          </p:cNvPr>
          <p:cNvSpPr>
            <a:spLocks noGrp="1"/>
          </p:cNvSpPr>
          <p:nvPr/>
        </p:nvSpPr>
        <p:spPr>
          <a:xfrm>
            <a:off x="685800" y="895350"/>
            <a:ext cx="10820400" cy="666750"/>
          </a:xfrm>
          <a:prstGeom prst="rect">
            <a:avLst/>
          </a:prstGeom>
          <a:noFill/>
          <a:ln w="0">
            <a:noFill/>
          </a:ln>
        </p:spPr>
        <p:txBody>
          <a:bodyPr wrap="none" lIns="0" tIns="0" rIns="0" bIns="0" anchor="ctr">
            <a:noAutofit/>
          </a:bodyPr>
          <a:lstStyle/>
          <a:p>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배포 기준을 먼저 정해야 합니다</a:t>
            </a:r>
          </a:p>
        </p:txBody>
      </p:sp>
      <p:sp>
        <p:nvSpPr>
          <p:cNvPr id="2" name="S05-disclosure">
            <a:extLst>
              <a:ext uri="{FF2B5EF4-FFF2-40B4-BE49-F238E27FC236}">
                <a16:creationId xmlns:a16="http://schemas.microsoft.com/office/drawing/2014/main" id="{42639841-CE3F-42F4-949D-BF2F8033C43C}"/>
              </a:ext>
            </a:extLst>
          </p:cNvPr>
          <p:cNvSpPr>
            <a:spLocks noGrp="1"/>
          </p:cNvSpPr>
          <p:nvPr/>
        </p:nvSpPr>
        <p:spPr>
          <a:xfrm>
            <a:off x="685800" y="6372225"/>
            <a:ext cx="952500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 · 실제 실험 결과가 아닙니다</a:t>
            </a:r>
          </a:p>
        </p:txBody>
      </p:sp>
      <p:sp>
        <p:nvSpPr>
          <p:cNvPr id="3" name="S05-number">
            <a:extLst>
              <a:ext uri="{FF2B5EF4-FFF2-40B4-BE49-F238E27FC236}">
                <a16:creationId xmlns:a16="http://schemas.microsoft.com/office/drawing/2014/main" id="{7F9FAA97-72BE-4A4E-B53B-2FCD5772A653}"/>
              </a:ext>
            </a:extLst>
          </p:cNvPr>
          <p:cNvSpPr>
            <a:spLocks noGrp="1"/>
          </p:cNvSpPr>
          <p:nvPr/>
        </p:nvSpPr>
        <p:spPr>
          <a:xfrm>
            <a:off x="11144250" y="6372225"/>
            <a:ext cx="361950" cy="219075"/>
          </a:xfrm>
          <a:prstGeom prst="rect">
            <a:avLst/>
          </a:prstGeom>
          <a:noFill/>
          <a:ln w="0">
            <a:noFill/>
          </a:ln>
        </p:spPr>
        <p:txBody>
          <a:bodyPr wrap="none" lIns="0" tIns="0" rIns="0" bIns="0" anchor="ctr">
            <a:noAutofit/>
          </a:bodyPr>
          <a:lstStyle/>
          <a:p>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05</a:t>
            </a:r>
          </a:p>
        </p:txBody>
      </p:sp>
      <p:sp>
        <p:nvSpPr>
          <p:cNvPr id="4" name="S05-main">
            <a:extLst>
              <a:ext uri="{FF2B5EF4-FFF2-40B4-BE49-F238E27FC236}">
                <a16:creationId xmlns:a16="http://schemas.microsoft.com/office/drawing/2014/main" id="{DC2100DC-2E95-4332-B2A6-3029477C105A}"/>
              </a:ext>
            </a:extLst>
          </p:cNvPr>
          <p:cNvSpPr>
            <a:spLocks noGrp="1"/>
          </p:cNvSpPr>
          <p:nvPr/>
        </p:nvSpPr>
        <p:spPr>
          <a:xfrm>
            <a:off x="685800" y="1990725"/>
            <a:ext cx="10820400" cy="723900"/>
          </a:xfrm>
          <a:prstGeom prst="rect">
            <a:avLst/>
          </a:prstGeom>
          <a:noFill/>
          <a:ln w="0">
            <a:noFill/>
          </a:ln>
        </p:spPr>
        <p:txBody>
          <a:bodyPr wrap="none" lIns="0" tIns="0" rIns="0" bIns="0" anchor="ctr">
            <a:noAutofit/>
          </a:bodyPr>
          <a:lstStyle/>
          <a:p>
            <a:pPr>
              <a:defRPr sz="3450" b="0">
                <a:solidFill>
                  <a:srgbClr val="287D78"/>
                </a:solidFill>
                <a:latin typeface="Noto Sans KR"/>
                <a:ea typeface="Noto Sans KR"/>
                <a:cs typeface="Noto Sans KR"/>
              </a:defRPr>
            </a:pPr>
            <a:r>
              <a:rPr sz="3450" b="0">
                <a:solidFill>
                  <a:srgbClr val="287D78"/>
                </a:solidFill>
                <a:latin typeface="Noto Sans KR"/>
                <a:ea typeface="Noto Sans KR"/>
                <a:cs typeface="Noto Sans KR"/>
              </a:rPr>
              <a:t>효율 개선에는 F1 저하가 따릅니다</a:t>
            </a:r>
          </a:p>
        </p:txBody>
      </p:sp>
      <p:sp>
        <p:nvSpPr>
          <p:cNvPr id="5" name="S05-rule-1">
            <a:extLst>
              <a:ext uri="{FF2B5EF4-FFF2-40B4-BE49-F238E27FC236}">
                <a16:creationId xmlns:a16="http://schemas.microsoft.com/office/drawing/2014/main" id="{E698A027-85A2-4EA9-BF8A-7E2544EAEFF4}"/>
              </a:ext>
            </a:extLst>
          </p:cNvPr>
          <p:cNvSpPr>
            <a:spLocks noGrp="1"/>
          </p:cNvSpPr>
          <p:nvPr/>
        </p:nvSpPr>
        <p:spPr>
          <a:xfrm>
            <a:off x="685800" y="3124200"/>
            <a:ext cx="10820400" cy="0"/>
          </a:xfrm>
          <a:prstGeom prst="line">
            <a:avLst/>
          </a:prstGeom>
          <a:ln w="9525">
            <a:solidFill>
              <a:srgbClr val="CFD8D1"/>
            </a:solidFill>
          </a:ln>
        </p:spPr>
      </p:sp>
      <p:sp>
        <p:nvSpPr>
          <p:cNvPr id="6" name="S05-label1">
            <a:extLst>
              <a:ext uri="{FF2B5EF4-FFF2-40B4-BE49-F238E27FC236}">
                <a16:creationId xmlns:a16="http://schemas.microsoft.com/office/drawing/2014/main" id="{9D6977D7-6C65-42C3-9741-CB1C7DDDB054}"/>
              </a:ext>
            </a:extLst>
          </p:cNvPr>
          <p:cNvSpPr>
            <a:spLocks noGrp="1"/>
          </p:cNvSpPr>
          <p:nvPr/>
        </p:nvSpPr>
        <p:spPr>
          <a:xfrm>
            <a:off x="685800" y="3257550"/>
            <a:ext cx="2914650" cy="495300"/>
          </a:xfrm>
          <a:prstGeom prst="rect">
            <a:avLst/>
          </a:prstGeom>
          <a:noFill/>
          <a:ln w="0">
            <a:noFill/>
          </a:ln>
        </p:spPr>
        <p:txBody>
          <a:bodyPr wrap="none" lIns="0" tIns="0" rIns="0" bIns="0" anchor="ctr">
            <a:noAutofit/>
          </a:bodyPr>
          <a:lstStyle/>
          <a:p>
            <a:pPr>
              <a:defRPr sz="1950" b="0">
                <a:solidFill>
                  <a:srgbClr val="1E302F"/>
                </a:solidFill>
                <a:latin typeface="Noto Sans KR"/>
                <a:ea typeface="Noto Sans KR"/>
                <a:cs typeface="Noto Sans KR"/>
              </a:defRPr>
            </a:pPr>
            <a:r>
              <a:rPr sz="1950" b="0">
                <a:solidFill>
                  <a:srgbClr val="1E302F"/>
                </a:solidFill>
                <a:latin typeface="Noto Sans KR"/>
                <a:ea typeface="Noto Sans KR"/>
                <a:cs typeface="Noto Sans KR"/>
              </a:rPr>
              <a:t>먼저 정할 기준</a:t>
            </a:r>
          </a:p>
        </p:txBody>
      </p:sp>
      <p:sp>
        <p:nvSpPr>
          <p:cNvPr id="7" name="S05-body1">
            <a:extLst>
              <a:ext uri="{FF2B5EF4-FFF2-40B4-BE49-F238E27FC236}">
                <a16:creationId xmlns:a16="http://schemas.microsoft.com/office/drawing/2014/main" id="{89842C62-B6C5-48A9-B4F9-68744343FF74}"/>
              </a:ext>
            </a:extLst>
          </p:cNvPr>
          <p:cNvSpPr>
            <a:spLocks noGrp="1"/>
          </p:cNvSpPr>
          <p:nvPr/>
        </p:nvSpPr>
        <p:spPr>
          <a:xfrm>
            <a:off x="3829050" y="3257550"/>
            <a:ext cx="7677150" cy="495300"/>
          </a:xfrm>
          <a:prstGeom prst="rect">
            <a:avLst/>
          </a:prstGeom>
          <a:noFill/>
          <a:ln w="0">
            <a:noFill/>
          </a:ln>
        </p:spPr>
        <p:txBody>
          <a:bodyPr wrap="none" lIns="0" tIns="0" rIns="0" bIns="0" anchor="ctr">
            <a:noAutofit/>
          </a:bodyPr>
          <a:lstStyle/>
          <a:p>
            <a:pPr>
              <a:defRPr sz="1950" b="0">
                <a:solidFill>
                  <a:srgbClr val="586C68"/>
                </a:solidFill>
                <a:latin typeface="Noto Sans KR"/>
                <a:ea typeface="Noto Sans KR"/>
                <a:cs typeface="Noto Sans KR"/>
              </a:defRPr>
            </a:pPr>
            <a:r>
              <a:rPr sz="1950" b="0">
                <a:solidFill>
                  <a:srgbClr val="586C68"/>
                </a:solidFill>
                <a:latin typeface="Noto Sans KR"/>
                <a:ea typeface="Noto Sans KR"/>
                <a:cs typeface="Noto Sans KR"/>
              </a:rPr>
              <a:t>허용 가능한 F1 저하와 지연 한도</a:t>
            </a:r>
          </a:p>
        </p:txBody>
      </p:sp>
      <p:sp>
        <p:nvSpPr>
          <p:cNvPr id="8" name="S05-rule-2">
            <a:extLst>
              <a:ext uri="{FF2B5EF4-FFF2-40B4-BE49-F238E27FC236}">
                <a16:creationId xmlns:a16="http://schemas.microsoft.com/office/drawing/2014/main" id="{50ED2E59-FBD9-49CE-A222-F071A2C1C335}"/>
              </a:ext>
            </a:extLst>
          </p:cNvPr>
          <p:cNvSpPr>
            <a:spLocks noGrp="1"/>
          </p:cNvSpPr>
          <p:nvPr/>
        </p:nvSpPr>
        <p:spPr>
          <a:xfrm>
            <a:off x="685800" y="3962400"/>
            <a:ext cx="10820400" cy="0"/>
          </a:xfrm>
          <a:prstGeom prst="line">
            <a:avLst/>
          </a:prstGeom>
          <a:ln w="9525">
            <a:solidFill>
              <a:srgbClr val="CFD8D1"/>
            </a:solidFill>
          </a:ln>
        </p:spPr>
      </p:sp>
      <p:sp>
        <p:nvSpPr>
          <p:cNvPr id="9" name="S05-label2">
            <a:extLst>
              <a:ext uri="{FF2B5EF4-FFF2-40B4-BE49-F238E27FC236}">
                <a16:creationId xmlns:a16="http://schemas.microsoft.com/office/drawing/2014/main" id="{2E44F1E7-3F37-4F6D-9BA9-8A10DD3586F6}"/>
              </a:ext>
            </a:extLst>
          </p:cNvPr>
          <p:cNvSpPr>
            <a:spLocks noGrp="1"/>
          </p:cNvSpPr>
          <p:nvPr/>
        </p:nvSpPr>
        <p:spPr>
          <a:xfrm>
            <a:off x="685800" y="4095750"/>
            <a:ext cx="2914650" cy="495300"/>
          </a:xfrm>
          <a:prstGeom prst="rect">
            <a:avLst/>
          </a:prstGeom>
          <a:noFill/>
          <a:ln w="0">
            <a:noFill/>
          </a:ln>
        </p:spPr>
        <p:txBody>
          <a:bodyPr wrap="none" lIns="0" tIns="0" rIns="0" bIns="0" anchor="ctr">
            <a:noAutofit/>
          </a:bodyPr>
          <a:lstStyle/>
          <a:p>
            <a:pPr>
              <a:defRPr sz="1950" b="0">
                <a:solidFill>
                  <a:srgbClr val="1E302F"/>
                </a:solidFill>
                <a:latin typeface="Noto Sans KR"/>
                <a:ea typeface="Noto Sans KR"/>
                <a:cs typeface="Noto Sans KR"/>
              </a:defRPr>
            </a:pPr>
            <a:r>
              <a:rPr sz="1950" b="0">
                <a:solidFill>
                  <a:srgbClr val="1E302F"/>
                </a:solidFill>
                <a:latin typeface="Noto Sans KR"/>
                <a:ea typeface="Noto Sans KR"/>
                <a:cs typeface="Noto Sans KR"/>
              </a:rPr>
              <a:t>다음 검증</a:t>
            </a:r>
          </a:p>
        </p:txBody>
      </p:sp>
      <p:sp>
        <p:nvSpPr>
          <p:cNvPr id="10" name="S05-body2">
            <a:extLst>
              <a:ext uri="{FF2B5EF4-FFF2-40B4-BE49-F238E27FC236}">
                <a16:creationId xmlns:a16="http://schemas.microsoft.com/office/drawing/2014/main" id="{605E1C97-5A36-412E-ABEA-A69DA6BB455C}"/>
              </a:ext>
            </a:extLst>
          </p:cNvPr>
          <p:cNvSpPr>
            <a:spLocks noGrp="1"/>
          </p:cNvSpPr>
          <p:nvPr/>
        </p:nvSpPr>
        <p:spPr>
          <a:xfrm>
            <a:off x="3829050" y="4095750"/>
            <a:ext cx="7677150" cy="495300"/>
          </a:xfrm>
          <a:prstGeom prst="rect">
            <a:avLst/>
          </a:prstGeom>
          <a:noFill/>
          <a:ln w="0">
            <a:noFill/>
          </a:ln>
        </p:spPr>
        <p:txBody>
          <a:bodyPr wrap="none" lIns="0" tIns="0" rIns="0" bIns="0" anchor="ctr">
            <a:noAutofit/>
          </a:bodyPr>
          <a:lstStyle/>
          <a:p>
            <a:pPr>
              <a:defRPr sz="1950" b="0">
                <a:solidFill>
                  <a:srgbClr val="586C68"/>
                </a:solidFill>
                <a:latin typeface="Noto Sans KR"/>
                <a:ea typeface="Noto Sans KR"/>
                <a:cs typeface="Noto Sans KR"/>
              </a:defRPr>
            </a:pPr>
            <a:r>
              <a:rPr sz="1950" b="0">
                <a:solidFill>
                  <a:srgbClr val="586C68"/>
                </a:solidFill>
                <a:latin typeface="Noto Sans KR"/>
                <a:ea typeface="Noto Sans KR"/>
                <a:cs typeface="Noto Sans KR"/>
              </a:rPr>
              <a:t>반복 측정의 분산과 이상 유형별 실패 사례</a:t>
            </a:r>
          </a:p>
        </p:txBody>
      </p:sp>
      <p:sp>
        <p:nvSpPr>
          <p:cNvPr id="11" name="S05-rule-3">
            <a:extLst>
              <a:ext uri="{FF2B5EF4-FFF2-40B4-BE49-F238E27FC236}">
                <a16:creationId xmlns:a16="http://schemas.microsoft.com/office/drawing/2014/main" id="{ADD61140-B570-4E07-A12B-810D670CF658}"/>
              </a:ext>
            </a:extLst>
          </p:cNvPr>
          <p:cNvSpPr>
            <a:spLocks noGrp="1"/>
          </p:cNvSpPr>
          <p:nvPr/>
        </p:nvSpPr>
        <p:spPr>
          <a:xfrm>
            <a:off x="685800" y="4800600"/>
            <a:ext cx="10820400" cy="0"/>
          </a:xfrm>
          <a:prstGeom prst="line">
            <a:avLst/>
          </a:prstGeom>
          <a:ln w="9525">
            <a:solidFill>
              <a:srgbClr val="CFD8D1"/>
            </a:solidFill>
          </a:ln>
        </p:spPr>
      </p:sp>
      <p:sp>
        <p:nvSpPr>
          <p:cNvPr id="12" name="S05-label3">
            <a:extLst>
              <a:ext uri="{FF2B5EF4-FFF2-40B4-BE49-F238E27FC236}">
                <a16:creationId xmlns:a16="http://schemas.microsoft.com/office/drawing/2014/main" id="{BE3AA318-48A1-4234-B7BE-05EFBFD78697}"/>
              </a:ext>
            </a:extLst>
          </p:cNvPr>
          <p:cNvSpPr>
            <a:spLocks noGrp="1"/>
          </p:cNvSpPr>
          <p:nvPr/>
        </p:nvSpPr>
        <p:spPr>
          <a:xfrm>
            <a:off x="685800" y="4933950"/>
            <a:ext cx="2914650" cy="495300"/>
          </a:xfrm>
          <a:prstGeom prst="rect">
            <a:avLst/>
          </a:prstGeom>
          <a:noFill/>
          <a:ln w="0">
            <a:noFill/>
          </a:ln>
        </p:spPr>
        <p:txBody>
          <a:bodyPr wrap="none" lIns="0" tIns="0" rIns="0" bIns="0" anchor="ctr">
            <a:noAutofit/>
          </a:bodyPr>
          <a:lstStyle/>
          <a:p>
            <a:pPr>
              <a:defRPr sz="1950" b="0">
                <a:solidFill>
                  <a:srgbClr val="1E302F"/>
                </a:solidFill>
                <a:latin typeface="Noto Sans KR"/>
                <a:ea typeface="Noto Sans KR"/>
                <a:cs typeface="Noto Sans KR"/>
              </a:defRPr>
            </a:pPr>
            <a:r>
              <a:rPr sz="1950" b="0">
                <a:solidFill>
                  <a:srgbClr val="1E302F"/>
                </a:solidFill>
                <a:latin typeface="Noto Sans KR"/>
                <a:ea typeface="Noto Sans KR"/>
                <a:cs typeface="Noto Sans KR"/>
              </a:rPr>
              <a:t>현재의 한계</a:t>
            </a:r>
          </a:p>
        </p:txBody>
      </p:sp>
      <p:sp>
        <p:nvSpPr>
          <p:cNvPr id="13" name="S05-body3">
            <a:extLst>
              <a:ext uri="{FF2B5EF4-FFF2-40B4-BE49-F238E27FC236}">
                <a16:creationId xmlns:a16="http://schemas.microsoft.com/office/drawing/2014/main" id="{B7CA930B-B241-480F-9CC0-727D9BCFAE49}"/>
              </a:ext>
            </a:extLst>
          </p:cNvPr>
          <p:cNvSpPr>
            <a:spLocks noGrp="1"/>
          </p:cNvSpPr>
          <p:nvPr/>
        </p:nvSpPr>
        <p:spPr>
          <a:xfrm>
            <a:off x="3829050" y="4933950"/>
            <a:ext cx="7677150" cy="495300"/>
          </a:xfrm>
          <a:prstGeom prst="rect">
            <a:avLst/>
          </a:prstGeom>
          <a:noFill/>
          <a:ln w="0">
            <a:noFill/>
          </a:ln>
        </p:spPr>
        <p:txBody>
          <a:bodyPr wrap="none" lIns="0" tIns="0" rIns="0" bIns="0" anchor="ctr">
            <a:noAutofit/>
          </a:bodyPr>
          <a:lstStyle/>
          <a:p>
            <a:pPr>
              <a:defRPr sz="1950" b="0">
                <a:solidFill>
                  <a:srgbClr val="586C68"/>
                </a:solidFill>
                <a:latin typeface="Noto Sans KR"/>
                <a:ea typeface="Noto Sans KR"/>
                <a:cs typeface="Noto Sans KR"/>
              </a:defRPr>
            </a:pPr>
            <a:r>
              <a:rPr sz="1950" b="0">
                <a:solidFill>
                  <a:srgbClr val="586C68"/>
                </a:solidFill>
                <a:latin typeface="Noto Sans KR"/>
                <a:ea typeface="Noto Sans KR"/>
                <a:cs typeface="Noto Sans KR"/>
              </a:rPr>
              <a:t>실제 데이터셋·표본수가 없어 일반화 판단 불가</a:t>
            </a:r>
          </a:p>
        </p:txBody>
      </p:sp>
    </p:spTree>
    <p:extLst>
      <p:ext uri="{BB962C8B-B14F-4D97-AF65-F5344CB8AC3E}">
        <p14:creationId xmlns:p14="http://schemas.microsoft.com/office/powerpoint/2010/main" val="9070486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636</Words>
  <Application>Microsoft Office PowerPoint</Application>
  <DocSecurity>0</DocSecurity>
  <PresentationFormat>와이드스크린</PresentationFormat>
  <Paragraphs>86</Paragraphs>
  <Slides>5</Slides>
  <Notes>5</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5</vt:i4>
      </vt:variant>
    </vt:vector>
  </HeadingPairs>
  <TitlesOfParts>
    <vt:vector size="8" baseType="lpstr">
      <vt:lpstr>Noto Sans KR</vt:lpstr>
      <vt:lpstr>Calibri</vt:lpstr>
      <vt:lpstr>ChatGPT</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ns0:coreProperties xmlns:dc="http://purl.org/dc/elements/1.1/" xmlns:ns0="http://schemas.openxmlformats.org/package/2006/metadata/core-properties" xmlns:ns2="http://purl.org/dc/terms/" xmlns:xsi="http://www.w3.org/2001/XMLSchema-instance">
  <dc:title>Presentation</dc:title>
  <dc:creator>Walnut Exporter</dc:creator>
  <ns0:revision>1</ns0:revision>
  <ns2:created xsi:type="dcterms:W3CDTF">2026-10-02T07:41:06Z</ns2:created>
  <ns2:modified xsi:type="dcterms:W3CDTF">2026-10-02T07:43:17Z</ns2:modified>
</ns0:coreProperties>
</file>