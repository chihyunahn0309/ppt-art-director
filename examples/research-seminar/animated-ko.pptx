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charts/chart1.xml" ContentType="application/vnd.openxmlformats-officedocument.drawingml.chart+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7"/>
  </p:notesMasterIdLst>
  <p:sldIdLst>
    <p:sldId id="256" r:id="rId2"/>
    <p:sldId id="257" r:id="rId3"/>
    <p:sldId id="258" r:id="rId4"/>
    <p:sldId id="259" r:id="rId5"/>
    <p:sldId id="260" r:id="rId6"/>
  </p:sldIdLst>
  <p:sldSz cx="12192000" cy="6858000"/>
  <p:notesSz cx="6858000" cy="9144000"/>
  <p:defaultTex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2008" cy="72008"/>
</p:viewPr>
</file>

<file path=ppt/_rels/presentation.xml.rels><?xml version="1.0" encoding="UTF-8" standalone="yes"?>
<Relationships xmlns="http://schemas.openxmlformats.org/package/2006/relationships"><Relationship Id="rId8"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notesMaster" Target="notesMasters/notesMaster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tableStyles" Target="tableStyles.xml"/><Relationship Id="rId5" Type="http://schemas.openxmlformats.org/officeDocument/2006/relationships/slide" Target="slides/slide4.xml"/><Relationship Id="rId10"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viewProps" Target="viewProp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ko-KR"/>
  <c:roundedCorners val="1"/>
  <c:style val="2"/>
  <c:chart>
    <c:autoTitleDeleted val="1"/>
    <c:plotArea>
      <c:layout/>
      <c:barChart>
        <c:barDir val="col"/>
        <c:grouping val="clustered"/>
        <c:varyColors val="0"/>
        <c:ser>
          <c:idx val="0"/>
          <c:order val="0"/>
          <c:tx>
            <c:v>지연 (ms)</c:v>
          </c:tx>
          <c:spPr>
            <a:solidFill>
              <a:srgbClr val="287D78"/>
            </a:solidFill>
          </c:spPr>
          <c:invertIfNegative val="1"/>
          <c:dPt>
            <c:idx val="0"/>
            <c:invertIfNegative val="0"/>
            <c:bubble3D val="0"/>
            <c:spPr>
              <a:solidFill>
                <a:srgbClr val="9EADA5"/>
              </a:solidFill>
            </c:spPr>
            <c:extLst>
              <c:ext xmlns:c16="http://schemas.microsoft.com/office/drawing/2014/chart" uri="{C3380CC4-5D6E-409C-BE32-E72D297353CC}">
                <c16:uniqueId val="{00000001-42F6-4757-868A-53025752E36A}"/>
              </c:ext>
            </c:extLst>
          </c:dPt>
          <c:dPt>
            <c:idx val="1"/>
            <c:invertIfNegative val="0"/>
            <c:bubble3D val="0"/>
            <c:spPr>
              <a:solidFill>
                <a:srgbClr val="639D90"/>
              </a:solidFill>
            </c:spPr>
            <c:extLst>
              <c:ext xmlns:c16="http://schemas.microsoft.com/office/drawing/2014/chart" uri="{C3380CC4-5D6E-409C-BE32-E72D297353CC}">
                <c16:uniqueId val="{00000003-42F6-4757-868A-53025752E36A}"/>
              </c:ext>
            </c:extLst>
          </c:dPt>
          <c:dPt>
            <c:idx val="2"/>
            <c:invertIfNegative val="0"/>
            <c:bubble3D val="0"/>
            <c:extLst>
              <c:ext xmlns:c16="http://schemas.microsoft.com/office/drawing/2014/chart" uri="{C3380CC4-5D6E-409C-BE32-E72D297353CC}">
                <c16:uniqueId val="{00000005-42F6-4757-868A-53025752E36A}"/>
              </c:ext>
            </c:extLst>
          </c:dPt>
          <c:dLbls>
            <c:spPr>
              <a:noFill/>
              <a:ln>
                <a:noFill/>
              </a:ln>
              <a:effectLst/>
            </c:spPr>
            <c:txPr>
              <a:bodyPr anchorCtr="1"/>
              <a:lstStyle/>
              <a:p>
                <a:pPr>
                  <a:defRPr sz="2025">
                    <a:solidFill>
                      <a:srgbClr val="1E302F"/>
                    </a:solidFill>
                    <a:latin typeface="Noto Sans KR"/>
                    <a:ea typeface="Noto Sans KR"/>
                    <a:cs typeface="Noto Sans KR"/>
                  </a:defRPr>
                </a:pPr>
                <a:endParaRPr lang="ko-KR"/>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'Chart Data'!$A$2:$A$4</c:f>
              <c:strCache>
                <c:ptCount val="3"/>
                <c:pt idx="0">
                  <c:v>baseline</c:v>
                </c:pt>
                <c:pt idx="1">
                  <c:v>distilled</c:v>
                </c:pt>
                <c:pt idx="2">
                  <c:v>int8</c:v>
                </c:pt>
              </c:strCache>
            </c:strRef>
          </c:cat>
          <c:val>
            <c:numRef>
              <c:f>'Chart Data'!$B$2:$B$4</c:f>
              <c:numCache>
                <c:formatCode>0</c:formatCode>
                <c:ptCount val="3"/>
                <c:pt idx="0">
                  <c:v>120</c:v>
                </c:pt>
                <c:pt idx="1">
                  <c:v>72</c:v>
                </c:pt>
                <c:pt idx="2">
                  <c:v>54</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6-42F6-4757-868A-53025752E36A}"/>
            </c:ext>
          </c:extLst>
        </c:ser>
        <c:dLbls>
          <c:dLblPos val="outEnd"/>
          <c:showLegendKey val="0"/>
          <c:showVal val="1"/>
          <c:showCatName val="0"/>
          <c:showSerName val="0"/>
          <c:showPercent val="0"/>
          <c:showBubbleSize val="0"/>
        </c:dLbls>
        <c:gapWidth val="130"/>
        <c:axId val="48650112"/>
        <c:axId val="48672768"/>
      </c:barChart>
      <c:catAx>
        <c:axId val="48650112"/>
        <c:scaling>
          <c:orientation val="minMax"/>
        </c:scaling>
        <c:delete val="0"/>
        <c:axPos val="b"/>
        <c:numFmt formatCode="General" sourceLinked="1"/>
        <c:majorTickMark val="none"/>
        <c:minorTickMark val="none"/>
        <c:tickLblPos val="nextTo"/>
        <c:spPr>
          <a:ln w="9525">
            <a:solidFill>
              <a:srgbClr val="CFD8D1"/>
            </a:solidFill>
          </a:ln>
        </c:spPr>
        <c:txPr>
          <a:bodyPr anchorCtr="1"/>
          <a:lstStyle/>
          <a:p>
            <a:pPr>
              <a:defRPr sz="1725">
                <a:solidFill>
                  <a:srgbClr val="1E302F"/>
                </a:solidFill>
                <a:latin typeface="Noto Sans KR"/>
                <a:ea typeface="Noto Sans KR"/>
                <a:cs typeface="Noto Sans KR"/>
              </a:defRPr>
            </a:pPr>
            <a:endParaRPr lang="ko-KR"/>
          </a:p>
        </c:txPr>
        <c:crossAx val="48672768"/>
        <c:crosses val="autoZero"/>
        <c:auto val="1"/>
        <c:lblAlgn val="ctr"/>
        <c:lblOffset val="100"/>
        <c:noMultiLvlLbl val="1"/>
      </c:catAx>
      <c:valAx>
        <c:axId val="48672768"/>
        <c:scaling>
          <c:orientation val="minMax"/>
          <c:max val="140"/>
          <c:min val="0"/>
        </c:scaling>
        <c:delete val="0"/>
        <c:axPos val="l"/>
        <c:majorGridlines>
          <c:spPr>
            <a:ln w="6668">
              <a:solidFill>
                <a:srgbClr val="CFD8D1"/>
              </a:solidFill>
            </a:ln>
          </c:spPr>
        </c:majorGridlines>
        <c:numFmt formatCode="0" sourceLinked="1"/>
        <c:majorTickMark val="none"/>
        <c:minorTickMark val="none"/>
        <c:tickLblPos val="nextTo"/>
        <c:spPr>
          <a:ln w="9525">
            <a:solidFill>
              <a:srgbClr val="D4D4D4"/>
            </a:solidFill>
            <a:prstDash val="solid"/>
          </a:ln>
        </c:spPr>
        <c:txPr>
          <a:bodyPr anchorCtr="1"/>
          <a:lstStyle/>
          <a:p>
            <a:pPr>
              <a:defRPr sz="1425">
                <a:solidFill>
                  <a:srgbClr val="586C68"/>
                </a:solidFill>
                <a:latin typeface="Noto Sans KR"/>
                <a:ea typeface="Noto Sans KR"/>
                <a:cs typeface="Noto Sans KR"/>
              </a:defRPr>
            </a:pPr>
            <a:endParaRPr lang="ko-KR"/>
          </a:p>
        </c:txPr>
        <c:crossAx val="48650112"/>
        <c:crosses val="autoZero"/>
        <c:crossBetween val="between"/>
        <c:majorUnit val="40"/>
      </c:valAx>
      <c:spPr>
        <a:solidFill>
          <a:srgbClr val="F6F4EE"/>
        </a:solidFill>
      </c:spPr>
    </c:plotArea>
    <c:plotVisOnly val="1"/>
    <c:dispBlanksAs val="zero"/>
    <c:showDLblsOverMax val="1"/>
  </c:chart>
  <c:spPr>
    <a:solidFill>
      <a:srgbClr val="F6F4EE"/>
    </a:solidFill>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30초. 모든 성능 수치는 사용자가 제공한 가상 예시이며 실험 결과가 아니다. 동일 장치와 데이터에서 비교한다는 조건만 주어졌으며 구체적인 장치와 데이터셋은 미제공이다. 표지는 AI가 만든 개념 이미지이며 모델 구조나 측정값이 아니다.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90초. 교사의 예측을 학생 학습에 활용하는 지식 증류와 8비트 정수 표현을 개념적으로 설명한다. 모델 구조, 손실함수, 양자화 범위, PTQ/QAT는 미제공이다. 교사의 지식이 모두 보존된다고 주장하지 않는다. 애니메이션판은 첫 클릭에 증류, 둘째 클릭에 INT8 단계를 표시한다. 개념 출처: Hinton et al. (2015), https://arxiv.org/abs/1503.02531 ; Jacob et al. (2017), https://arxiv.org/abs/1712.05877 . 문헌의 성능 수치를 사용하지 않았다.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60초. 가상 수치: baseline 120ms / F1 0.910 / 48MB; distilled 72ms / 0.902 / 18MB; int8 54ms / 0.896 / 12MB. 동일 장치와 데이터를 가정한다. 표본수, 분산, 데이터셋명, 데이터 분할, 장치 사양, 지연 통계량 정의, F1 집계 방법은 미제공이다. 산술 비교이며 통계적 유의성이나 일반화를 판단할 수 없다.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65초. 전체 지연 감소율 (120−54)/120 = 55%; 크기 감소율 (48−12)/48 = 75%; F1 절대 차이 0.896−0.910 = −0.014. 증류 지연 감소율 (120−72)/120 = 40%, F1 차이 −0.008. 추가 INT8 지연 감소율 (72−54)/72 = 25%, F1 차이 −0.006. 분모가 달라 40%와 25%를 더하지 않는다. 가상 요약값으로 통계적 판단을 할 수 없다.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55초. 이 가상 예시는 효율과 F1의 교환관계를 보여준다. 모든 환경에서 가장 좋은 모델을 정할 수는 없다. 사용 환경에 맞는 허용 F1 저하와 지연 한도를 먼저 정한다. 실제 데이터에서 반복 측정의 분산과 이상 유형별 실패 사례를 확인한다. 데이터셋명과 표본수가 없어 일반화 판단은 불가하다. 총 발표 시간 300초.</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6F4EE"/>
        </a:solidFill>
        <a:effectLst/>
      </p:bgPr>
    </p:bg>
    <p:spTree>
      <p:nvGrpSpPr>
        <p:cNvPr id="1" name=""/>
        <p:cNvGrpSpPr/>
        <p:nvPr/>
      </p:nvGrpSpPr>
      <p:grpSpPr>
        <a:xfrm>
          <a:off x="0" y="0"/>
          <a:ext cx="0" cy="0"/>
          <a:chOff x="0" y="0"/>
          <a:chExt cx="0" cy="0"/>
        </a:xfrm>
      </p:grpSpPr>
      <p:pic>
        <p:nvPicPr>
          <p:cNvPr id="7" name="그림 6"/>
          <p:cNvPicPr>
            <a:picLocks noChangeAspect="1"/>
          </p:cNvPicPr>
          <p:nvPr/>
        </p:nvPicPr>
        <p:blipFill>
          <a:blip r:embed="rId3"/>
          <a:srcRect l="6092" r="6092"/>
          <a:stretch>
            <a:fillRect/>
          </a:stretch>
        </p:blipFill>
        <p:spPr>
          <a:xfrm>
            <a:off x="7372350" y="0"/>
            <a:ext cx="4819650" cy="6858000"/>
          </a:xfrm>
          <a:prstGeom prst="rect">
            <a:avLst/>
          </a:prstGeom>
        </p:spPr>
      </p:pic>
      <p:sp>
        <p:nvSpPr>
          <p:cNvPr id="2" name="S01-section">
            <a:extLst>
              <a:ext uri="{FF2B5EF4-FFF2-40B4-BE49-F238E27FC236}">
                <a16:creationId xmlns:a16="http://schemas.microsoft.com/office/drawing/2014/main" id="{EBE84B50-18DB-4993-8AEE-D88BC16297AD}"/>
              </a:ext>
            </a:extLst>
          </p:cNvPr>
          <p:cNvSpPr>
            <a:spLocks noGrp="1"/>
          </p:cNvSpPr>
          <p:nvPr/>
        </p:nvSpPr>
        <p:spPr>
          <a:xfrm>
            <a:off x="685800" y="590550"/>
            <a:ext cx="6191250" cy="285750"/>
          </a:xfrm>
          <a:prstGeom prst="rect">
            <a:avLst/>
          </a:prstGeom>
          <a:noFill/>
          <a:ln w="0">
            <a:noFill/>
          </a:ln>
        </p:spPr>
        <p:txBody>
          <a:bodyPr wrap="none" lIns="0" tIns="0" rIns="0" bIns="0" anchor="ctr">
            <a:noAutofit/>
          </a:bodyPr>
          <a:lstStyle/>
          <a:p>
            <a:pPr>
              <a:defRPr sz="1425" b="0">
                <a:solidFill>
                  <a:srgbClr val="287D78"/>
                </a:solidFill>
                <a:latin typeface="Noto Sans KR"/>
                <a:ea typeface="Noto Sans KR"/>
                <a:cs typeface="Noto Sans KR"/>
              </a:defRPr>
            </a:pPr>
            <a:r>
              <a:rPr sz="1425" b="0">
                <a:solidFill>
                  <a:srgbClr val="287D78"/>
                </a:solidFill>
                <a:latin typeface="Noto Sans KR"/>
                <a:ea typeface="Noto Sans KR"/>
                <a:cs typeface="Noto Sans KR"/>
              </a:rPr>
              <a:t>연구 노트 / 01</a:t>
            </a:r>
          </a:p>
        </p:txBody>
      </p:sp>
      <p:sp>
        <p:nvSpPr>
          <p:cNvPr id="3" name="S01-title">
            <a:extLst>
              <a:ext uri="{FF2B5EF4-FFF2-40B4-BE49-F238E27FC236}">
                <a16:creationId xmlns:a16="http://schemas.microsoft.com/office/drawing/2014/main" id="{1658625D-B341-4C6F-9392-4E85E4C9B858}"/>
              </a:ext>
            </a:extLst>
          </p:cNvPr>
          <p:cNvSpPr>
            <a:spLocks noGrp="1"/>
          </p:cNvSpPr>
          <p:nvPr/>
        </p:nvSpPr>
        <p:spPr>
          <a:xfrm>
            <a:off x="685800" y="1895475"/>
            <a:ext cx="6591300" cy="1600200"/>
          </a:xfrm>
          <a:prstGeom prst="rect">
            <a:avLst/>
          </a:prstGeom>
          <a:noFill/>
          <a:ln w="0">
            <a:noFill/>
          </a:ln>
        </p:spPr>
        <p:txBody>
          <a:bodyPr wrap="none" lIns="0" tIns="0" rIns="0" bIns="0" anchor="ctr">
            <a:noAutofit/>
          </a:bodyPr>
          <a:lstStyle/>
          <a:p>
            <a:pPr>
              <a:defRPr sz="4125" b="0">
                <a:solidFill>
                  <a:srgbClr val="1E302F"/>
                </a:solidFill>
                <a:latin typeface="Noto Sans KR"/>
                <a:ea typeface="Noto Sans KR"/>
                <a:cs typeface="Noto Sans KR"/>
              </a:defRPr>
            </a:pPr>
            <a:r>
              <a:rPr sz="4125" b="0">
                <a:solidFill>
                  <a:srgbClr val="1E302F"/>
                </a:solidFill>
                <a:latin typeface="Noto Sans KR"/>
                <a:ea typeface="Noto Sans KR"/>
                <a:cs typeface="Noto Sans KR"/>
              </a:rPr>
              <a:t>센서 이상 탐지,</a:t>
            </a:r>
          </a:p>
          <a:p>
            <a:pPr>
              <a:defRPr sz="4125" b="0">
                <a:solidFill>
                  <a:srgbClr val="1E302F"/>
                </a:solidFill>
                <a:latin typeface="Noto Sans KR"/>
                <a:ea typeface="Noto Sans KR"/>
                <a:cs typeface="Noto Sans KR"/>
              </a:defRPr>
            </a:pPr>
            <a:r>
              <a:rPr sz="4125" b="0">
                <a:solidFill>
                  <a:srgbClr val="1E302F"/>
                </a:solidFill>
                <a:latin typeface="Noto Sans KR"/>
                <a:ea typeface="Noto Sans KR"/>
                <a:cs typeface="Noto Sans KR"/>
              </a:rPr>
              <a:t>더 가벼운 모델로</a:t>
            </a:r>
          </a:p>
        </p:txBody>
      </p:sp>
      <p:sp>
        <p:nvSpPr>
          <p:cNvPr id="4" name="S01-subtitle">
            <a:extLst>
              <a:ext uri="{FF2B5EF4-FFF2-40B4-BE49-F238E27FC236}">
                <a16:creationId xmlns:a16="http://schemas.microsoft.com/office/drawing/2014/main" id="{0CB11D18-532D-40C1-B28C-28A674766489}"/>
              </a:ext>
            </a:extLst>
          </p:cNvPr>
          <p:cNvSpPr>
            <a:spLocks noGrp="1"/>
          </p:cNvSpPr>
          <p:nvPr/>
        </p:nvSpPr>
        <p:spPr>
          <a:xfrm>
            <a:off x="723900" y="3905250"/>
            <a:ext cx="6048375" cy="781050"/>
          </a:xfrm>
          <a:prstGeom prst="rect">
            <a:avLst/>
          </a:prstGeom>
          <a:noFill/>
          <a:ln w="0">
            <a:noFill/>
          </a:ln>
        </p:spPr>
        <p:txBody>
          <a:bodyPr wrap="none" lIns="0" tIns="0" rIns="0" bIns="0" anchor="ctr">
            <a:noAutofit/>
          </a:bodyPr>
          <a:lstStyle/>
          <a:p>
            <a:pPr>
              <a:defRPr sz="2025" b="0">
                <a:solidFill>
                  <a:srgbClr val="586C68"/>
                </a:solidFill>
                <a:latin typeface="Noto Sans KR"/>
                <a:ea typeface="Noto Sans KR"/>
                <a:cs typeface="Noto Sans KR"/>
              </a:defRPr>
            </a:pPr>
            <a:r>
              <a:rPr sz="2025" b="0">
                <a:solidFill>
                  <a:srgbClr val="586C68"/>
                </a:solidFill>
                <a:latin typeface="Noto Sans KR"/>
                <a:ea typeface="Noto Sans KR"/>
                <a:cs typeface="Noto Sans KR"/>
              </a:rPr>
              <a:t>지식 증류와 INT8 양자화의</a:t>
            </a:r>
          </a:p>
          <a:p>
            <a:pPr>
              <a:defRPr sz="2025" b="0">
                <a:solidFill>
                  <a:srgbClr val="586C68"/>
                </a:solidFill>
                <a:latin typeface="Noto Sans KR"/>
                <a:ea typeface="Noto Sans KR"/>
                <a:cs typeface="Noto Sans KR"/>
              </a:defRPr>
            </a:pPr>
            <a:r>
              <a:rPr sz="2025" b="0">
                <a:solidFill>
                  <a:srgbClr val="586C68"/>
                </a:solidFill>
                <a:latin typeface="Noto Sans KR"/>
                <a:ea typeface="Noto Sans KR"/>
                <a:cs typeface="Noto Sans KR"/>
              </a:rPr>
              <a:t>성능 교환관계</a:t>
            </a:r>
          </a:p>
        </p:txBody>
      </p:sp>
      <p:sp>
        <p:nvSpPr>
          <p:cNvPr id="5" name="S01-context">
            <a:extLst>
              <a:ext uri="{FF2B5EF4-FFF2-40B4-BE49-F238E27FC236}">
                <a16:creationId xmlns:a16="http://schemas.microsoft.com/office/drawing/2014/main" id="{2585B41B-2836-4641-9358-2FE41FFBA81C}"/>
              </a:ext>
            </a:extLst>
          </p:cNvPr>
          <p:cNvSpPr>
            <a:spLocks noGrp="1"/>
          </p:cNvSpPr>
          <p:nvPr/>
        </p:nvSpPr>
        <p:spPr>
          <a:xfrm>
            <a:off x="723900" y="5410200"/>
            <a:ext cx="5905500" cy="333375"/>
          </a:xfrm>
          <a:prstGeom prst="rect">
            <a:avLst/>
          </a:prstGeom>
          <a:noFill/>
          <a:ln w="0">
            <a:noFill/>
          </a:ln>
        </p:spPr>
        <p:txBody>
          <a:bodyPr wrap="none" lIns="0" tIns="0" rIns="0" bIns="0" anchor="ctr">
            <a:noAutofit/>
          </a:bodyPr>
          <a:lstStyle/>
          <a:p>
            <a:pPr>
              <a:defRPr sz="1725" b="0">
                <a:solidFill>
                  <a:srgbClr val="1E302F"/>
                </a:solidFill>
                <a:latin typeface="Noto Sans KR"/>
                <a:ea typeface="Noto Sans KR"/>
                <a:cs typeface="Noto Sans KR"/>
              </a:defRPr>
            </a:pPr>
            <a:r>
              <a:rPr sz="1725" b="0">
                <a:solidFill>
                  <a:srgbClr val="1E302F"/>
                </a:solidFill>
                <a:latin typeface="Noto Sans KR"/>
                <a:ea typeface="Noto Sans KR"/>
                <a:cs typeface="Noto Sans KR"/>
              </a:rPr>
              <a:t>연구실 세미나 · 5분</a:t>
            </a:r>
          </a:p>
        </p:txBody>
      </p:sp>
      <p:sp>
        <p:nvSpPr>
          <p:cNvPr id="6" name="S01-disclosure">
            <a:extLst>
              <a:ext uri="{FF2B5EF4-FFF2-40B4-BE49-F238E27FC236}">
                <a16:creationId xmlns:a16="http://schemas.microsoft.com/office/drawing/2014/main" id="{714D5C9C-708A-4478-AA3C-5216D23BF917}"/>
              </a:ext>
            </a:extLst>
          </p:cNvPr>
          <p:cNvSpPr>
            <a:spLocks noGrp="1"/>
          </p:cNvSpPr>
          <p:nvPr/>
        </p:nvSpPr>
        <p:spPr>
          <a:xfrm>
            <a:off x="723900" y="6343650"/>
            <a:ext cx="6191250" cy="247650"/>
          </a:xfrm>
          <a:prstGeom prst="rect">
            <a:avLst/>
          </a:prstGeom>
          <a:noFill/>
          <a:ln w="0">
            <a:noFill/>
          </a:ln>
        </p:spPr>
        <p:txBody>
          <a:bodyPr wrap="none" lIns="0" tIns="0" rIns="0" bIns="0" anchor="ctr">
            <a:noAutofit/>
          </a:bodyPr>
          <a:lstStyle/>
          <a:p>
            <a:pPr>
              <a:defRPr sz="1275" b="0">
                <a:solidFill>
                  <a:srgbClr val="586C68"/>
                </a:solidFill>
                <a:latin typeface="Noto Sans KR"/>
                <a:ea typeface="Noto Sans KR"/>
                <a:cs typeface="Noto Sans KR"/>
              </a:defRPr>
            </a:pPr>
            <a:r>
              <a:rPr sz="1275" b="0">
                <a:solidFill>
                  <a:srgbClr val="586C68"/>
                </a:solidFill>
                <a:latin typeface="Noto Sans KR"/>
                <a:ea typeface="Noto Sans KR"/>
                <a:cs typeface="Noto Sans KR"/>
              </a:rPr>
              <a:t>가상 데이터 · 실제 실험 결과가 아닙니다</a:t>
            </a:r>
          </a:p>
        </p:txBody>
      </p:sp>
    </p:spTree>
    <p:extLst>
      <p:ext uri="{BB962C8B-B14F-4D97-AF65-F5344CB8AC3E}">
        <p14:creationId xmlns:p14="http://schemas.microsoft.com/office/powerpoint/2010/main" val="87579911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6F4EE"/>
        </a:solidFill>
        <a:effectLst/>
      </p:bgPr>
    </p:bg>
    <p:spTree>
      <p:nvGrpSpPr>
        <p:cNvPr id="1" name=""/>
        <p:cNvGrpSpPr/>
        <p:nvPr/>
      </p:nvGrpSpPr>
      <p:grpSpPr>
        <a:xfrm>
          <a:off x="0" y="0"/>
          <a:ext cx="0" cy="0"/>
          <a:chOff x="0" y="0"/>
          <a:chExt cx="0" cy="0"/>
        </a:xfrm>
      </p:grpSpPr>
      <p:sp>
        <p:nvSpPr>
          <p:cNvPr id="22" name="S02-section">
            <a:extLst>
              <a:ext uri="{FF2B5EF4-FFF2-40B4-BE49-F238E27FC236}">
                <a16:creationId xmlns:a16="http://schemas.microsoft.com/office/drawing/2014/main" id="{D477D5D5-7C51-4D1F-9754-6FD07C13BF92}"/>
              </a:ext>
            </a:extLst>
          </p:cNvPr>
          <p:cNvSpPr>
            <a:spLocks noGrp="1"/>
          </p:cNvSpPr>
          <p:nvPr/>
        </p:nvSpPr>
        <p:spPr>
          <a:xfrm>
            <a:off x="685800" y="400050"/>
            <a:ext cx="10744200" cy="257175"/>
          </a:xfrm>
          <a:prstGeom prst="rect">
            <a:avLst/>
          </a:prstGeom>
          <a:noFill/>
          <a:ln w="0">
            <a:noFill/>
          </a:ln>
        </p:spPr>
        <p:txBody>
          <a:bodyPr wrap="none" lIns="0" tIns="0" rIns="0" bIns="0" anchor="ctr">
            <a:noAutofit/>
          </a:bodyPr>
          <a:lstStyle/>
          <a:p>
            <a:pPr>
              <a:defRPr sz="1425" b="0">
                <a:solidFill>
                  <a:srgbClr val="287D78"/>
                </a:solidFill>
                <a:latin typeface="Noto Sans KR"/>
                <a:ea typeface="Noto Sans KR"/>
                <a:cs typeface="Noto Sans KR"/>
              </a:defRPr>
            </a:pPr>
            <a:r>
              <a:rPr sz="1425" b="0">
                <a:solidFill>
                  <a:srgbClr val="287D78"/>
                </a:solidFill>
                <a:latin typeface="Noto Sans KR"/>
                <a:ea typeface="Noto Sans KR"/>
                <a:cs typeface="Noto Sans KR"/>
              </a:rPr>
              <a:t>방법 / 두 단계의 경량화</a:t>
            </a:r>
          </a:p>
        </p:txBody>
      </p:sp>
      <p:sp>
        <p:nvSpPr>
          <p:cNvPr id="2" name="S02-title">
            <a:extLst>
              <a:ext uri="{FF2B5EF4-FFF2-40B4-BE49-F238E27FC236}">
                <a16:creationId xmlns:a16="http://schemas.microsoft.com/office/drawing/2014/main" id="{F70F26EA-EAF1-45D1-B0D0-60E534FFD159}"/>
              </a:ext>
            </a:extLst>
          </p:cNvPr>
          <p:cNvSpPr>
            <a:spLocks noGrp="1"/>
          </p:cNvSpPr>
          <p:nvPr/>
        </p:nvSpPr>
        <p:spPr>
          <a:xfrm>
            <a:off x="685800" y="895350"/>
            <a:ext cx="10820400" cy="666750"/>
          </a:xfrm>
          <a:prstGeom prst="rect">
            <a:avLst/>
          </a:prstGeom>
          <a:noFill/>
          <a:ln w="0">
            <a:noFill/>
          </a:ln>
        </p:spPr>
        <p:txBody>
          <a:bodyPr wrap="none" lIns="0" tIns="0" rIns="0" bIns="0" anchor="ctr">
            <a:noAutofit/>
          </a:bodyPr>
          <a:lstStyle/>
          <a:p>
            <a:pPr>
              <a:defRPr sz="3000" b="0">
                <a:solidFill>
                  <a:srgbClr val="1E302F"/>
                </a:solidFill>
                <a:latin typeface="Noto Sans KR"/>
                <a:ea typeface="Noto Sans KR"/>
                <a:cs typeface="Noto Sans KR"/>
              </a:defRPr>
            </a:pPr>
            <a:r>
              <a:rPr sz="3000" b="0">
                <a:solidFill>
                  <a:srgbClr val="1E302F"/>
                </a:solidFill>
                <a:latin typeface="Noto Sans KR"/>
                <a:ea typeface="Noto Sans KR"/>
                <a:cs typeface="Noto Sans KR"/>
              </a:rPr>
              <a:t>교사 모델에서 경량 학생 모델로</a:t>
            </a:r>
          </a:p>
        </p:txBody>
      </p:sp>
      <p:sp>
        <p:nvSpPr>
          <p:cNvPr id="3" name="S02-disclosure">
            <a:extLst>
              <a:ext uri="{FF2B5EF4-FFF2-40B4-BE49-F238E27FC236}">
                <a16:creationId xmlns:a16="http://schemas.microsoft.com/office/drawing/2014/main" id="{91B307CD-364F-433B-B440-B52C40D46A23}"/>
              </a:ext>
            </a:extLst>
          </p:cNvPr>
          <p:cNvSpPr>
            <a:spLocks noGrp="1"/>
          </p:cNvSpPr>
          <p:nvPr/>
        </p:nvSpPr>
        <p:spPr>
          <a:xfrm>
            <a:off x="685800" y="6372225"/>
            <a:ext cx="9525000" cy="219075"/>
          </a:xfrm>
          <a:prstGeom prst="rect">
            <a:avLst/>
          </a:prstGeom>
          <a:noFill/>
          <a:ln w="0">
            <a:noFill/>
          </a:ln>
        </p:spPr>
        <p:txBody>
          <a:bodyPr wrap="none" lIns="0" tIns="0" rIns="0" bIns="0" anchor="ctr">
            <a:noAutofit/>
          </a:bodyPr>
          <a:lstStyle/>
          <a:p>
            <a:pPr>
              <a:defRPr sz="1275" b="0">
                <a:solidFill>
                  <a:srgbClr val="586C68"/>
                </a:solidFill>
                <a:latin typeface="Noto Sans KR"/>
                <a:ea typeface="Noto Sans KR"/>
                <a:cs typeface="Noto Sans KR"/>
              </a:defRPr>
            </a:pPr>
            <a:r>
              <a:rPr sz="1275" b="0">
                <a:solidFill>
                  <a:srgbClr val="586C68"/>
                </a:solidFill>
                <a:latin typeface="Noto Sans KR"/>
                <a:ea typeface="Noto Sans KR"/>
                <a:cs typeface="Noto Sans KR"/>
              </a:rPr>
              <a:t>가상 데이터 · 실제 실험 결과가 아닙니다</a:t>
            </a:r>
          </a:p>
        </p:txBody>
      </p:sp>
      <p:sp>
        <p:nvSpPr>
          <p:cNvPr id="4" name="S02-number">
            <a:extLst>
              <a:ext uri="{FF2B5EF4-FFF2-40B4-BE49-F238E27FC236}">
                <a16:creationId xmlns:a16="http://schemas.microsoft.com/office/drawing/2014/main" id="{285D16D6-8E97-4EB5-9082-C7619E498210}"/>
              </a:ext>
            </a:extLst>
          </p:cNvPr>
          <p:cNvSpPr>
            <a:spLocks noGrp="1"/>
          </p:cNvSpPr>
          <p:nvPr/>
        </p:nvSpPr>
        <p:spPr>
          <a:xfrm>
            <a:off x="11144250" y="6372225"/>
            <a:ext cx="361950" cy="219075"/>
          </a:xfrm>
          <a:prstGeom prst="rect">
            <a:avLst/>
          </a:prstGeom>
          <a:noFill/>
          <a:ln w="0">
            <a:noFill/>
          </a:ln>
        </p:spPr>
        <p:txBody>
          <a:bodyPr wrap="none" lIns="0" tIns="0" rIns="0" bIns="0" anchor="ctr">
            <a:noAutofit/>
          </a:bodyPr>
          <a:lstStyle/>
          <a:p>
            <a:pPr>
              <a:defRPr sz="1275" b="0">
                <a:solidFill>
                  <a:srgbClr val="586C68"/>
                </a:solidFill>
                <a:latin typeface="Noto Sans KR"/>
                <a:ea typeface="Noto Sans KR"/>
                <a:cs typeface="Noto Sans KR"/>
              </a:defRPr>
            </a:pPr>
            <a:r>
              <a:rPr sz="1275" b="0">
                <a:solidFill>
                  <a:srgbClr val="586C68"/>
                </a:solidFill>
                <a:latin typeface="Noto Sans KR"/>
                <a:ea typeface="Noto Sans KR"/>
                <a:cs typeface="Noto Sans KR"/>
              </a:rPr>
              <a:t>02</a:t>
            </a:r>
          </a:p>
        </p:txBody>
      </p:sp>
      <p:sp>
        <p:nvSpPr>
          <p:cNvPr id="5" name="S02-marker-1">
            <a:extLst>
              <a:ext uri="{FF2B5EF4-FFF2-40B4-BE49-F238E27FC236}">
                <a16:creationId xmlns:a16="http://schemas.microsoft.com/office/drawing/2014/main" id="{3E0BA238-CE3C-4056-B282-F070E4F0B9D4}"/>
              </a:ext>
            </a:extLst>
          </p:cNvPr>
          <p:cNvSpPr>
            <a:spLocks noGrp="1"/>
          </p:cNvSpPr>
          <p:nvPr/>
        </p:nvSpPr>
        <p:spPr>
          <a:xfrm>
            <a:off x="685800" y="2333625"/>
            <a:ext cx="533400" cy="533400"/>
          </a:xfrm>
          <a:prstGeom prst="ellipse">
            <a:avLst/>
          </a:prstGeom>
          <a:solidFill>
            <a:srgbClr val="E8EDE5"/>
          </a:solidFill>
          <a:ln w="0">
            <a:noFill/>
          </a:ln>
        </p:spPr>
        <p:txBody>
          <a:bodyPr lIns="0" tIns="0" rIns="0" bIns="0" anchor="ctr"/>
          <a:lstStyle/>
          <a:p>
            <a:pPr algn="ctr">
              <a:defRPr sz="1650">
                <a:solidFill>
                  <a:srgbClr val="287D78"/>
                </a:solidFill>
                <a:latin typeface="Noto Sans KR"/>
                <a:ea typeface="Noto Sans KR"/>
                <a:cs typeface="Noto Sans KR"/>
              </a:defRPr>
            </a:pPr>
            <a:r>
              <a:rPr sz="1650">
                <a:solidFill>
                  <a:srgbClr val="287D78"/>
                </a:solidFill>
                <a:latin typeface="Noto Sans KR"/>
                <a:ea typeface="Noto Sans KR"/>
                <a:cs typeface="Noto Sans KR"/>
              </a:rPr>
              <a:t>01</a:t>
            </a:r>
          </a:p>
        </p:txBody>
      </p:sp>
      <p:sp>
        <p:nvSpPr>
          <p:cNvPr id="6" name="S02-marker-2">
            <a:extLst>
              <a:ext uri="{FF2B5EF4-FFF2-40B4-BE49-F238E27FC236}">
                <a16:creationId xmlns:a16="http://schemas.microsoft.com/office/drawing/2014/main" id="{16330369-0975-4DCE-BC13-78492A169E3E}"/>
              </a:ext>
            </a:extLst>
          </p:cNvPr>
          <p:cNvSpPr>
            <a:spLocks noGrp="1"/>
          </p:cNvSpPr>
          <p:nvPr/>
        </p:nvSpPr>
        <p:spPr>
          <a:xfrm>
            <a:off x="4648200" y="2333625"/>
            <a:ext cx="533400" cy="533400"/>
          </a:xfrm>
          <a:prstGeom prst="ellipse">
            <a:avLst/>
          </a:prstGeom>
          <a:solidFill>
            <a:srgbClr val="E8EDE5"/>
          </a:solidFill>
          <a:ln w="0">
            <a:noFill/>
          </a:ln>
        </p:spPr>
        <p:txBody>
          <a:bodyPr lIns="0" tIns="0" rIns="0" bIns="0" anchor="ctr"/>
          <a:lstStyle/>
          <a:p>
            <a:pPr algn="ctr">
              <a:defRPr sz="1650">
                <a:solidFill>
                  <a:srgbClr val="287D78"/>
                </a:solidFill>
                <a:latin typeface="Noto Sans KR"/>
                <a:ea typeface="Noto Sans KR"/>
                <a:cs typeface="Noto Sans KR"/>
              </a:defRPr>
            </a:pPr>
            <a:r>
              <a:rPr sz="1650">
                <a:solidFill>
                  <a:srgbClr val="287D78"/>
                </a:solidFill>
                <a:latin typeface="Noto Sans KR"/>
                <a:ea typeface="Noto Sans KR"/>
                <a:cs typeface="Noto Sans KR"/>
              </a:rPr>
              <a:t>02</a:t>
            </a:r>
          </a:p>
        </p:txBody>
      </p:sp>
      <p:sp>
        <p:nvSpPr>
          <p:cNvPr id="7" name="S02-marker-3">
            <a:extLst>
              <a:ext uri="{FF2B5EF4-FFF2-40B4-BE49-F238E27FC236}">
                <a16:creationId xmlns:a16="http://schemas.microsoft.com/office/drawing/2014/main" id="{F5CBCF1D-B475-4DE5-BC7B-D92543D7B69D}"/>
              </a:ext>
            </a:extLst>
          </p:cNvPr>
          <p:cNvSpPr>
            <a:spLocks noGrp="1"/>
          </p:cNvSpPr>
          <p:nvPr/>
        </p:nvSpPr>
        <p:spPr>
          <a:xfrm>
            <a:off x="8610600" y="2333625"/>
            <a:ext cx="533400" cy="533400"/>
          </a:xfrm>
          <a:prstGeom prst="ellipse">
            <a:avLst/>
          </a:prstGeom>
          <a:solidFill>
            <a:srgbClr val="287D78"/>
          </a:solidFill>
          <a:ln w="0">
            <a:noFill/>
          </a:ln>
        </p:spPr>
        <p:txBody>
          <a:bodyPr lIns="0" tIns="0" rIns="0" bIns="0" anchor="ctr"/>
          <a:lstStyle/>
          <a:p>
            <a:pPr algn="ctr">
              <a:defRPr sz="1650">
                <a:solidFill>
                  <a:srgbClr val="FFFFFF"/>
                </a:solidFill>
                <a:latin typeface="Noto Sans KR"/>
                <a:ea typeface="Noto Sans KR"/>
                <a:cs typeface="Noto Sans KR"/>
              </a:defRPr>
            </a:pPr>
            <a:r>
              <a:rPr sz="1650">
                <a:solidFill>
                  <a:srgbClr val="FFFFFF"/>
                </a:solidFill>
                <a:latin typeface="Noto Sans KR"/>
                <a:ea typeface="Noto Sans KR"/>
                <a:cs typeface="Noto Sans KR"/>
              </a:rPr>
              <a:t>03</a:t>
            </a:r>
          </a:p>
        </p:txBody>
      </p:sp>
      <p:cxnSp>
        <p:nvCxnSpPr>
          <p:cNvPr id="29" name="S02-link-2"/>
          <p:cNvCxnSpPr>
            <a:stCxn id="5" idx="6"/>
            <a:endCxn id="6" idx="2"/>
          </p:cNvCxnSpPr>
          <p:nvPr/>
        </p:nvCxnSpPr>
        <p:spPr>
          <a:xfrm>
            <a:off x="1219200" y="2600325"/>
            <a:ext cx="3429000" cy="0"/>
          </a:xfrm>
          <a:prstGeom prst="straightConnector1">
            <a:avLst/>
          </a:prstGeom>
          <a:ln w="17145">
            <a:solidFill>
              <a:srgbClr val="9EADA5"/>
            </a:solidFill>
            <a:tailEnd type="triangle" w="sm" len="sm"/>
          </a:ln>
        </p:spPr>
      </p:cxnSp>
      <p:cxnSp>
        <p:nvCxnSpPr>
          <p:cNvPr id="30" name="S02-link-3"/>
          <p:cNvCxnSpPr>
            <a:stCxn id="6" idx="6"/>
            <a:endCxn id="7" idx="2"/>
          </p:cNvCxnSpPr>
          <p:nvPr/>
        </p:nvCxnSpPr>
        <p:spPr>
          <a:xfrm>
            <a:off x="5181600" y="2600325"/>
            <a:ext cx="3429000" cy="0"/>
          </a:xfrm>
          <a:prstGeom prst="straightConnector1">
            <a:avLst/>
          </a:prstGeom>
          <a:ln w="17145">
            <a:solidFill>
              <a:srgbClr val="9EADA5"/>
            </a:solidFill>
            <a:tailEnd type="triangle" w="sm" len="sm"/>
          </a:ln>
        </p:spPr>
      </p:cxnSp>
      <p:sp>
        <p:nvSpPr>
          <p:cNvPr id="10" name="S02-flow-2">
            <a:extLst>
              <a:ext uri="{FF2B5EF4-FFF2-40B4-BE49-F238E27FC236}">
                <a16:creationId xmlns:a16="http://schemas.microsoft.com/office/drawing/2014/main" id="{639AEF92-B0AE-4D7D-A8A9-D6C507E72098}"/>
              </a:ext>
            </a:extLst>
          </p:cNvPr>
          <p:cNvSpPr>
            <a:spLocks noGrp="1"/>
          </p:cNvSpPr>
          <p:nvPr/>
        </p:nvSpPr>
        <p:spPr>
          <a:xfrm>
            <a:off x="1466850" y="2076450"/>
            <a:ext cx="2971800" cy="352425"/>
          </a:xfrm>
          <a:prstGeom prst="rect">
            <a:avLst/>
          </a:prstGeom>
          <a:noFill/>
          <a:ln w="0">
            <a:noFill/>
          </a:ln>
        </p:spPr>
        <p:txBody>
          <a:bodyPr wrap="none" lIns="0" tIns="0" rIns="0" bIns="0" anchor="ctr">
            <a:noAutofit/>
          </a:bodyPr>
          <a:lstStyle/>
          <a:p>
            <a:pPr>
              <a:defRPr sz="1575" b="0">
                <a:solidFill>
                  <a:srgbClr val="586C68"/>
                </a:solidFill>
                <a:latin typeface="Noto Sans KR"/>
                <a:ea typeface="Noto Sans KR"/>
                <a:cs typeface="Noto Sans KR"/>
              </a:defRPr>
            </a:pPr>
            <a:r>
              <a:rPr sz="1575" b="0">
                <a:solidFill>
                  <a:srgbClr val="586C68"/>
                </a:solidFill>
                <a:latin typeface="Noto Sans KR"/>
                <a:ea typeface="Noto Sans KR"/>
                <a:cs typeface="Noto Sans KR"/>
              </a:rPr>
              <a:t>예측 지식 전달</a:t>
            </a:r>
          </a:p>
        </p:txBody>
      </p:sp>
      <p:sp>
        <p:nvSpPr>
          <p:cNvPr id="11" name="S02-flow-3">
            <a:extLst>
              <a:ext uri="{FF2B5EF4-FFF2-40B4-BE49-F238E27FC236}">
                <a16:creationId xmlns:a16="http://schemas.microsoft.com/office/drawing/2014/main" id="{F213E77E-B619-44BC-ADE6-7FACCCDE1E40}"/>
              </a:ext>
            </a:extLst>
          </p:cNvPr>
          <p:cNvSpPr>
            <a:spLocks noGrp="1"/>
          </p:cNvSpPr>
          <p:nvPr/>
        </p:nvSpPr>
        <p:spPr>
          <a:xfrm>
            <a:off x="5429250" y="2076450"/>
            <a:ext cx="2971800" cy="352425"/>
          </a:xfrm>
          <a:prstGeom prst="rect">
            <a:avLst/>
          </a:prstGeom>
          <a:noFill/>
          <a:ln w="0">
            <a:noFill/>
          </a:ln>
        </p:spPr>
        <p:txBody>
          <a:bodyPr wrap="none" lIns="0" tIns="0" rIns="0" bIns="0" anchor="ctr">
            <a:noAutofit/>
          </a:bodyPr>
          <a:lstStyle/>
          <a:p>
            <a:pPr>
              <a:defRPr sz="1575" b="0">
                <a:solidFill>
                  <a:srgbClr val="586C68"/>
                </a:solidFill>
                <a:latin typeface="Noto Sans KR"/>
                <a:ea typeface="Noto Sans KR"/>
                <a:cs typeface="Noto Sans KR"/>
              </a:defRPr>
            </a:pPr>
            <a:r>
              <a:rPr sz="1575" b="0">
                <a:solidFill>
                  <a:srgbClr val="586C68"/>
                </a:solidFill>
                <a:latin typeface="Noto Sans KR"/>
                <a:ea typeface="Noto Sans KR"/>
                <a:cs typeface="Noto Sans KR"/>
              </a:rPr>
              <a:t>수치 표현 변환</a:t>
            </a:r>
          </a:p>
        </p:txBody>
      </p:sp>
      <p:sp>
        <p:nvSpPr>
          <p:cNvPr id="12" name="S02-stage-1">
            <a:extLst>
              <a:ext uri="{FF2B5EF4-FFF2-40B4-BE49-F238E27FC236}">
                <a16:creationId xmlns:a16="http://schemas.microsoft.com/office/drawing/2014/main" id="{3B255748-8C92-4116-80C5-4B5E2609D900}"/>
              </a:ext>
            </a:extLst>
          </p:cNvPr>
          <p:cNvSpPr>
            <a:spLocks noGrp="1"/>
          </p:cNvSpPr>
          <p:nvPr/>
        </p:nvSpPr>
        <p:spPr>
          <a:xfrm>
            <a:off x="685800" y="3152775"/>
            <a:ext cx="3181350" cy="457200"/>
          </a:xfrm>
          <a:prstGeom prst="rect">
            <a:avLst/>
          </a:prstGeom>
          <a:noFill/>
          <a:ln w="0">
            <a:noFill/>
          </a:ln>
        </p:spPr>
        <p:txBody>
          <a:bodyPr wrap="none" lIns="0" tIns="0" rIns="0" bIns="0" anchor="ctr">
            <a:noAutofit/>
          </a:bodyPr>
          <a:lstStyle/>
          <a:p>
            <a:pPr>
              <a:defRPr sz="2325" b="0">
                <a:solidFill>
                  <a:srgbClr val="1E302F"/>
                </a:solidFill>
                <a:latin typeface="Noto Sans KR"/>
                <a:ea typeface="Noto Sans KR"/>
                <a:cs typeface="Noto Sans KR"/>
              </a:defRPr>
            </a:pPr>
            <a:r>
              <a:rPr sz="2325" b="0">
                <a:solidFill>
                  <a:srgbClr val="1E302F"/>
                </a:solidFill>
                <a:latin typeface="Noto Sans KR"/>
                <a:ea typeface="Noto Sans KR"/>
                <a:cs typeface="Noto Sans KR"/>
              </a:rPr>
              <a:t>원본 모델</a:t>
            </a:r>
          </a:p>
        </p:txBody>
      </p:sp>
      <p:sp>
        <p:nvSpPr>
          <p:cNvPr id="13" name="S02-name-1">
            <a:extLst>
              <a:ext uri="{FF2B5EF4-FFF2-40B4-BE49-F238E27FC236}">
                <a16:creationId xmlns:a16="http://schemas.microsoft.com/office/drawing/2014/main" id="{A0B32358-522A-4BA5-BCDC-B4E517EE2F5A}"/>
              </a:ext>
            </a:extLst>
          </p:cNvPr>
          <p:cNvSpPr>
            <a:spLocks noGrp="1"/>
          </p:cNvSpPr>
          <p:nvPr/>
        </p:nvSpPr>
        <p:spPr>
          <a:xfrm>
            <a:off x="685800" y="3724275"/>
            <a:ext cx="3095625" cy="304800"/>
          </a:xfrm>
          <a:prstGeom prst="rect">
            <a:avLst/>
          </a:prstGeom>
          <a:noFill/>
          <a:ln w="0">
            <a:noFill/>
          </a:ln>
        </p:spPr>
        <p:txBody>
          <a:bodyPr wrap="none" lIns="0" tIns="0" rIns="0" bIns="0" anchor="ctr">
            <a:noAutofit/>
          </a:bodyPr>
          <a:lstStyle/>
          <a:p>
            <a:pPr>
              <a:defRPr sz="1575" b="0">
                <a:solidFill>
                  <a:srgbClr val="287D78"/>
                </a:solidFill>
                <a:latin typeface="Noto Sans KR"/>
                <a:ea typeface="Noto Sans KR"/>
                <a:cs typeface="Noto Sans KR"/>
              </a:defRPr>
            </a:pPr>
            <a:r>
              <a:rPr sz="1575" b="0">
                <a:solidFill>
                  <a:srgbClr val="287D78"/>
                </a:solidFill>
                <a:latin typeface="Noto Sans KR"/>
                <a:ea typeface="Noto Sans KR"/>
                <a:cs typeface="Noto Sans KR"/>
              </a:rPr>
              <a:t>baseline</a:t>
            </a:r>
          </a:p>
        </p:txBody>
      </p:sp>
      <p:sp>
        <p:nvSpPr>
          <p:cNvPr id="14" name="S02-detail-1">
            <a:extLst>
              <a:ext uri="{FF2B5EF4-FFF2-40B4-BE49-F238E27FC236}">
                <a16:creationId xmlns:a16="http://schemas.microsoft.com/office/drawing/2014/main" id="{8163D1DC-96EF-4ED4-8579-637CFF611AFD}"/>
              </a:ext>
            </a:extLst>
          </p:cNvPr>
          <p:cNvSpPr>
            <a:spLocks noGrp="1"/>
          </p:cNvSpPr>
          <p:nvPr/>
        </p:nvSpPr>
        <p:spPr>
          <a:xfrm>
            <a:off x="685800" y="4295775"/>
            <a:ext cx="3181350" cy="771525"/>
          </a:xfrm>
          <a:prstGeom prst="rect">
            <a:avLst/>
          </a:prstGeom>
          <a:noFill/>
          <a:ln w="0">
            <a:noFill/>
          </a:ln>
        </p:spPr>
        <p:txBody>
          <a:bodyPr wrap="none" lIns="0" tIns="0" rIns="0" bIns="0" anchor="ctr">
            <a:noAutofit/>
          </a:bodyPr>
          <a:lstStyle/>
          <a:p>
            <a:pPr>
              <a:defRPr sz="1875" b="0">
                <a:solidFill>
                  <a:srgbClr val="586C68"/>
                </a:solidFill>
                <a:latin typeface="Noto Sans KR"/>
                <a:ea typeface="Noto Sans KR"/>
                <a:cs typeface="Noto Sans KR"/>
              </a:defRPr>
            </a:pPr>
            <a:r>
              <a:rPr sz="1875" b="0">
                <a:solidFill>
                  <a:srgbClr val="586C68"/>
                </a:solidFill>
                <a:latin typeface="Noto Sans KR"/>
                <a:ea typeface="Noto Sans KR"/>
                <a:cs typeface="Noto Sans KR"/>
              </a:rPr>
              <a:t>성능 비교의 기준이자</a:t>
            </a:r>
          </a:p>
          <a:p>
            <a:pPr>
              <a:defRPr sz="1875" b="0">
                <a:solidFill>
                  <a:srgbClr val="586C68"/>
                </a:solidFill>
                <a:latin typeface="Noto Sans KR"/>
                <a:ea typeface="Noto Sans KR"/>
                <a:cs typeface="Noto Sans KR"/>
              </a:defRPr>
            </a:pPr>
            <a:r>
              <a:rPr sz="1875" b="0">
                <a:solidFill>
                  <a:srgbClr val="586C68"/>
                </a:solidFill>
                <a:latin typeface="Noto Sans KR"/>
                <a:ea typeface="Noto Sans KR"/>
                <a:cs typeface="Noto Sans KR"/>
              </a:rPr>
              <a:t>지식을 전달하는 교사</a:t>
            </a:r>
          </a:p>
        </p:txBody>
      </p:sp>
      <p:sp>
        <p:nvSpPr>
          <p:cNvPr id="15" name="S02-stage-2">
            <a:extLst>
              <a:ext uri="{FF2B5EF4-FFF2-40B4-BE49-F238E27FC236}">
                <a16:creationId xmlns:a16="http://schemas.microsoft.com/office/drawing/2014/main" id="{EC6DF5DA-CB92-447B-824F-1136A9473C88}"/>
              </a:ext>
            </a:extLst>
          </p:cNvPr>
          <p:cNvSpPr>
            <a:spLocks noGrp="1"/>
          </p:cNvSpPr>
          <p:nvPr/>
        </p:nvSpPr>
        <p:spPr>
          <a:xfrm>
            <a:off x="4648200" y="3152775"/>
            <a:ext cx="3181350" cy="457200"/>
          </a:xfrm>
          <a:prstGeom prst="rect">
            <a:avLst/>
          </a:prstGeom>
          <a:noFill/>
          <a:ln w="0">
            <a:noFill/>
          </a:ln>
        </p:spPr>
        <p:txBody>
          <a:bodyPr wrap="none" lIns="0" tIns="0" rIns="0" bIns="0" anchor="ctr">
            <a:noAutofit/>
          </a:bodyPr>
          <a:lstStyle/>
          <a:p>
            <a:pPr>
              <a:defRPr sz="2325" b="0">
                <a:solidFill>
                  <a:srgbClr val="1E302F"/>
                </a:solidFill>
                <a:latin typeface="Noto Sans KR"/>
                <a:ea typeface="Noto Sans KR"/>
                <a:cs typeface="Noto Sans KR"/>
              </a:defRPr>
            </a:pPr>
            <a:r>
              <a:rPr sz="2325" b="0">
                <a:solidFill>
                  <a:srgbClr val="1E302F"/>
                </a:solidFill>
                <a:latin typeface="Noto Sans KR"/>
                <a:ea typeface="Noto Sans KR"/>
                <a:cs typeface="Noto Sans KR"/>
              </a:rPr>
              <a:t>지식 증류</a:t>
            </a:r>
          </a:p>
        </p:txBody>
      </p:sp>
      <p:sp>
        <p:nvSpPr>
          <p:cNvPr id="16" name="S02-name-2">
            <a:extLst>
              <a:ext uri="{FF2B5EF4-FFF2-40B4-BE49-F238E27FC236}">
                <a16:creationId xmlns:a16="http://schemas.microsoft.com/office/drawing/2014/main" id="{3F995C22-AFC7-4DFD-908B-E11D787E3A71}"/>
              </a:ext>
            </a:extLst>
          </p:cNvPr>
          <p:cNvSpPr>
            <a:spLocks noGrp="1"/>
          </p:cNvSpPr>
          <p:nvPr/>
        </p:nvSpPr>
        <p:spPr>
          <a:xfrm>
            <a:off x="4648200" y="3724275"/>
            <a:ext cx="3095625" cy="304800"/>
          </a:xfrm>
          <a:prstGeom prst="rect">
            <a:avLst/>
          </a:prstGeom>
          <a:noFill/>
          <a:ln w="0">
            <a:noFill/>
          </a:ln>
        </p:spPr>
        <p:txBody>
          <a:bodyPr wrap="none" lIns="0" tIns="0" rIns="0" bIns="0" anchor="ctr">
            <a:noAutofit/>
          </a:bodyPr>
          <a:lstStyle/>
          <a:p>
            <a:pPr>
              <a:defRPr sz="1575" b="0">
                <a:solidFill>
                  <a:srgbClr val="287D78"/>
                </a:solidFill>
                <a:latin typeface="Noto Sans KR"/>
                <a:ea typeface="Noto Sans KR"/>
                <a:cs typeface="Noto Sans KR"/>
              </a:defRPr>
            </a:pPr>
            <a:r>
              <a:rPr sz="1575" b="0">
                <a:solidFill>
                  <a:srgbClr val="287D78"/>
                </a:solidFill>
                <a:latin typeface="Noto Sans KR"/>
                <a:ea typeface="Noto Sans KR"/>
                <a:cs typeface="Noto Sans KR"/>
              </a:rPr>
              <a:t>distilled</a:t>
            </a:r>
          </a:p>
        </p:txBody>
      </p:sp>
      <p:sp>
        <p:nvSpPr>
          <p:cNvPr id="17" name="S02-detail-2">
            <a:extLst>
              <a:ext uri="{FF2B5EF4-FFF2-40B4-BE49-F238E27FC236}">
                <a16:creationId xmlns:a16="http://schemas.microsoft.com/office/drawing/2014/main" id="{3CBB847B-6A61-4C2B-9AB9-6D2F44CD338B}"/>
              </a:ext>
            </a:extLst>
          </p:cNvPr>
          <p:cNvSpPr>
            <a:spLocks noGrp="1"/>
          </p:cNvSpPr>
          <p:nvPr/>
        </p:nvSpPr>
        <p:spPr>
          <a:xfrm>
            <a:off x="4648200" y="4295775"/>
            <a:ext cx="3181350" cy="771525"/>
          </a:xfrm>
          <a:prstGeom prst="rect">
            <a:avLst/>
          </a:prstGeom>
          <a:noFill/>
          <a:ln w="0">
            <a:noFill/>
          </a:ln>
        </p:spPr>
        <p:txBody>
          <a:bodyPr wrap="none" lIns="0" tIns="0" rIns="0" bIns="0" anchor="ctr">
            <a:noAutofit/>
          </a:bodyPr>
          <a:lstStyle/>
          <a:p>
            <a:pPr>
              <a:defRPr sz="1875" b="0">
                <a:solidFill>
                  <a:srgbClr val="586C68"/>
                </a:solidFill>
                <a:latin typeface="Noto Sans KR"/>
                <a:ea typeface="Noto Sans KR"/>
                <a:cs typeface="Noto Sans KR"/>
              </a:defRPr>
            </a:pPr>
            <a:r>
              <a:rPr sz="1875" b="0">
                <a:solidFill>
                  <a:srgbClr val="586C68"/>
                </a:solidFill>
                <a:latin typeface="Noto Sans KR"/>
                <a:ea typeface="Noto Sans KR"/>
                <a:cs typeface="Noto Sans KR"/>
              </a:rPr>
              <a:t>교사의 예측을 활용해</a:t>
            </a:r>
          </a:p>
          <a:p>
            <a:pPr>
              <a:defRPr sz="1875" b="0">
                <a:solidFill>
                  <a:srgbClr val="586C68"/>
                </a:solidFill>
                <a:latin typeface="Noto Sans KR"/>
                <a:ea typeface="Noto Sans KR"/>
                <a:cs typeface="Noto Sans KR"/>
              </a:defRPr>
            </a:pPr>
            <a:r>
              <a:rPr sz="1875" b="0">
                <a:solidFill>
                  <a:srgbClr val="586C68"/>
                </a:solidFill>
                <a:latin typeface="Noto Sans KR"/>
                <a:ea typeface="Noto Sans KR"/>
                <a:cs typeface="Noto Sans KR"/>
              </a:rPr>
              <a:t>작은 학생 모델을 학습</a:t>
            </a:r>
          </a:p>
        </p:txBody>
      </p:sp>
      <p:sp>
        <p:nvSpPr>
          <p:cNvPr id="18" name="S02-stage-3">
            <a:extLst>
              <a:ext uri="{FF2B5EF4-FFF2-40B4-BE49-F238E27FC236}">
                <a16:creationId xmlns:a16="http://schemas.microsoft.com/office/drawing/2014/main" id="{82B7BC8E-9832-48D3-8016-25E9CB8E30CA}"/>
              </a:ext>
            </a:extLst>
          </p:cNvPr>
          <p:cNvSpPr>
            <a:spLocks noGrp="1"/>
          </p:cNvSpPr>
          <p:nvPr/>
        </p:nvSpPr>
        <p:spPr>
          <a:xfrm>
            <a:off x="8610600" y="3152775"/>
            <a:ext cx="3181350" cy="457200"/>
          </a:xfrm>
          <a:prstGeom prst="rect">
            <a:avLst/>
          </a:prstGeom>
          <a:noFill/>
          <a:ln w="0">
            <a:noFill/>
          </a:ln>
        </p:spPr>
        <p:txBody>
          <a:bodyPr wrap="none" lIns="0" tIns="0" rIns="0" bIns="0" anchor="ctr">
            <a:noAutofit/>
          </a:bodyPr>
          <a:lstStyle/>
          <a:p>
            <a:pPr>
              <a:defRPr sz="2325" b="0">
                <a:solidFill>
                  <a:srgbClr val="1E302F"/>
                </a:solidFill>
                <a:latin typeface="Noto Sans KR"/>
                <a:ea typeface="Noto Sans KR"/>
                <a:cs typeface="Noto Sans KR"/>
              </a:defRPr>
            </a:pPr>
            <a:r>
              <a:rPr sz="2325" b="0">
                <a:solidFill>
                  <a:srgbClr val="1E302F"/>
                </a:solidFill>
                <a:latin typeface="Noto Sans KR"/>
                <a:ea typeface="Noto Sans KR"/>
                <a:cs typeface="Noto Sans KR"/>
              </a:rPr>
              <a:t>INT8 양자화</a:t>
            </a:r>
          </a:p>
        </p:txBody>
      </p:sp>
      <p:sp>
        <p:nvSpPr>
          <p:cNvPr id="19" name="S02-name-3">
            <a:extLst>
              <a:ext uri="{FF2B5EF4-FFF2-40B4-BE49-F238E27FC236}">
                <a16:creationId xmlns:a16="http://schemas.microsoft.com/office/drawing/2014/main" id="{820F9FF6-F9F0-419F-80D6-D18FDA8EA6BE}"/>
              </a:ext>
            </a:extLst>
          </p:cNvPr>
          <p:cNvSpPr>
            <a:spLocks noGrp="1"/>
          </p:cNvSpPr>
          <p:nvPr/>
        </p:nvSpPr>
        <p:spPr>
          <a:xfrm>
            <a:off x="8610600" y="3724275"/>
            <a:ext cx="3095625" cy="304800"/>
          </a:xfrm>
          <a:prstGeom prst="rect">
            <a:avLst/>
          </a:prstGeom>
          <a:noFill/>
          <a:ln w="0">
            <a:noFill/>
          </a:ln>
        </p:spPr>
        <p:txBody>
          <a:bodyPr wrap="none" lIns="0" tIns="0" rIns="0" bIns="0" anchor="ctr">
            <a:noAutofit/>
          </a:bodyPr>
          <a:lstStyle/>
          <a:p>
            <a:pPr>
              <a:defRPr sz="1575" b="0">
                <a:solidFill>
                  <a:srgbClr val="287D78"/>
                </a:solidFill>
                <a:latin typeface="Noto Sans KR"/>
                <a:ea typeface="Noto Sans KR"/>
                <a:cs typeface="Noto Sans KR"/>
              </a:defRPr>
            </a:pPr>
            <a:r>
              <a:rPr sz="1575" b="0">
                <a:solidFill>
                  <a:srgbClr val="287D78"/>
                </a:solidFill>
                <a:latin typeface="Noto Sans KR"/>
                <a:ea typeface="Noto Sans KR"/>
                <a:cs typeface="Noto Sans KR"/>
              </a:rPr>
              <a:t>int8</a:t>
            </a:r>
          </a:p>
        </p:txBody>
      </p:sp>
      <p:sp>
        <p:nvSpPr>
          <p:cNvPr id="20" name="S02-detail-3">
            <a:extLst>
              <a:ext uri="{FF2B5EF4-FFF2-40B4-BE49-F238E27FC236}">
                <a16:creationId xmlns:a16="http://schemas.microsoft.com/office/drawing/2014/main" id="{B0B51D7C-49A5-4EE0-AC3E-15CA075CCD37}"/>
              </a:ext>
            </a:extLst>
          </p:cNvPr>
          <p:cNvSpPr>
            <a:spLocks noGrp="1"/>
          </p:cNvSpPr>
          <p:nvPr/>
        </p:nvSpPr>
        <p:spPr>
          <a:xfrm>
            <a:off x="8610600" y="4295775"/>
            <a:ext cx="3181350" cy="771525"/>
          </a:xfrm>
          <a:prstGeom prst="rect">
            <a:avLst/>
          </a:prstGeom>
          <a:noFill/>
          <a:ln w="0">
            <a:noFill/>
          </a:ln>
        </p:spPr>
        <p:txBody>
          <a:bodyPr wrap="none" lIns="0" tIns="0" rIns="0" bIns="0" anchor="ctr">
            <a:noAutofit/>
          </a:bodyPr>
          <a:lstStyle/>
          <a:p>
            <a:pPr>
              <a:defRPr sz="1875" b="0">
                <a:solidFill>
                  <a:srgbClr val="586C68"/>
                </a:solidFill>
                <a:latin typeface="Noto Sans KR"/>
                <a:ea typeface="Noto Sans KR"/>
                <a:cs typeface="Noto Sans KR"/>
              </a:defRPr>
            </a:pPr>
            <a:r>
              <a:rPr sz="1875" b="0">
                <a:solidFill>
                  <a:srgbClr val="586C68"/>
                </a:solidFill>
                <a:latin typeface="Noto Sans KR"/>
                <a:ea typeface="Noto Sans KR"/>
                <a:cs typeface="Noto Sans KR"/>
              </a:rPr>
              <a:t>학생 모델의 수치를</a:t>
            </a:r>
          </a:p>
          <a:p>
            <a:pPr>
              <a:defRPr sz="1875" b="0">
                <a:solidFill>
                  <a:srgbClr val="586C68"/>
                </a:solidFill>
                <a:latin typeface="Noto Sans KR"/>
                <a:ea typeface="Noto Sans KR"/>
                <a:cs typeface="Noto Sans KR"/>
              </a:defRPr>
            </a:pPr>
            <a:r>
              <a:rPr sz="1875" b="0">
                <a:solidFill>
                  <a:srgbClr val="586C68"/>
                </a:solidFill>
                <a:latin typeface="Noto Sans KR"/>
                <a:ea typeface="Noto Sans KR"/>
                <a:cs typeface="Noto Sans KR"/>
              </a:rPr>
              <a:t>8비트 정수로 표현</a:t>
            </a:r>
          </a:p>
        </p:txBody>
      </p:sp>
      <p:sp>
        <p:nvSpPr>
          <p:cNvPr id="21" name="S02-caveat">
            <a:extLst>
              <a:ext uri="{FF2B5EF4-FFF2-40B4-BE49-F238E27FC236}">
                <a16:creationId xmlns:a16="http://schemas.microsoft.com/office/drawing/2014/main" id="{DFB475F4-CA07-4E35-8D1A-33D2E166A989}"/>
              </a:ext>
            </a:extLst>
          </p:cNvPr>
          <p:cNvSpPr>
            <a:spLocks noGrp="1"/>
          </p:cNvSpPr>
          <p:nvPr/>
        </p:nvSpPr>
        <p:spPr>
          <a:xfrm>
            <a:off x="685800" y="5657850"/>
            <a:ext cx="10820400" cy="361950"/>
          </a:xfrm>
          <a:prstGeom prst="rect">
            <a:avLst/>
          </a:prstGeom>
          <a:noFill/>
          <a:ln w="0">
            <a:noFill/>
          </a:ln>
        </p:spPr>
        <p:txBody>
          <a:bodyPr wrap="none" lIns="0" tIns="0" rIns="0" bIns="0" anchor="ctr">
            <a:noAutofit/>
          </a:bodyPr>
          <a:lstStyle/>
          <a:p>
            <a:pPr>
              <a:defRPr sz="1575" b="0">
                <a:solidFill>
                  <a:srgbClr val="586C68"/>
                </a:solidFill>
                <a:latin typeface="Noto Sans KR"/>
                <a:ea typeface="Noto Sans KR"/>
                <a:cs typeface="Noto Sans KR"/>
              </a:defRPr>
            </a:pPr>
            <a:r>
              <a:rPr sz="1575" b="0">
                <a:solidFill>
                  <a:srgbClr val="586C68"/>
                </a:solidFill>
                <a:latin typeface="Noto Sans KR"/>
                <a:ea typeface="Noto Sans KR"/>
                <a:cs typeface="Noto Sans KR"/>
              </a:rPr>
              <a:t>개념도입니다. 모델 구조와 구체적인 양자화 범위는 미제공입니다.</a:t>
            </a:r>
          </a:p>
        </p:txBody>
      </p:sp>
    </p:spTree>
    <p:extLst>
      <p:ext uri="{BB962C8B-B14F-4D97-AF65-F5344CB8AC3E}">
        <p14:creationId xmlns:p14="http://schemas.microsoft.com/office/powerpoint/2010/main" val="17308070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350"/>
                                        <p:tgtEl>
                                          <p:spTgt spid="6"/>
                                        </p:tgtEl>
                                      </p:cBhvr>
                                    </p:animEffect>
                                  </p:childTnLst>
                                </p:cTn>
                              </p:par>
                              <p:par>
                                <p:cTn id="8" presetID="10" presetClass="entr" presetSubtype="0" fill="hold" nodeType="withEffect">
                                  <p:stCondLst>
                                    <p:cond delay="0"/>
                                  </p:stCondLst>
                                  <p:childTnLst>
                                    <p:set>
                                      <p:cBhvr>
                                        <p:cTn id="9" dur="1" fill="hold">
                                          <p:stCondLst>
                                            <p:cond delay="0"/>
                                          </p:stCondLst>
                                        </p:cTn>
                                        <p:tgtEl>
                                          <p:spTgt spid="29"/>
                                        </p:tgtEl>
                                        <p:attrNameLst>
                                          <p:attrName>style.visibility</p:attrName>
                                        </p:attrNameLst>
                                      </p:cBhvr>
                                      <p:to>
                                        <p:strVal val="visible"/>
                                      </p:to>
                                    </p:set>
                                    <p:animEffect transition="in" filter="fade">
                                      <p:cBhvr>
                                        <p:cTn id="10" dur="350"/>
                                        <p:tgtEl>
                                          <p:spTgt spid="29"/>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0"/>
                                        </p:tgtEl>
                                        <p:attrNameLst>
                                          <p:attrName>style.visibility</p:attrName>
                                        </p:attrNameLst>
                                      </p:cBhvr>
                                      <p:to>
                                        <p:strVal val="visible"/>
                                      </p:to>
                                    </p:set>
                                    <p:animEffect transition="in" filter="fade">
                                      <p:cBhvr>
                                        <p:cTn id="13" dur="350"/>
                                        <p:tgtEl>
                                          <p:spTgt spid="10"/>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5"/>
                                        </p:tgtEl>
                                        <p:attrNameLst>
                                          <p:attrName>style.visibility</p:attrName>
                                        </p:attrNameLst>
                                      </p:cBhvr>
                                      <p:to>
                                        <p:strVal val="visible"/>
                                      </p:to>
                                    </p:set>
                                    <p:animEffect transition="in" filter="fade">
                                      <p:cBhvr>
                                        <p:cTn id="16" dur="350"/>
                                        <p:tgtEl>
                                          <p:spTgt spid="15"/>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6"/>
                                        </p:tgtEl>
                                        <p:attrNameLst>
                                          <p:attrName>style.visibility</p:attrName>
                                        </p:attrNameLst>
                                      </p:cBhvr>
                                      <p:to>
                                        <p:strVal val="visible"/>
                                      </p:to>
                                    </p:set>
                                    <p:animEffect transition="in" filter="fade">
                                      <p:cBhvr>
                                        <p:cTn id="19" dur="350"/>
                                        <p:tgtEl>
                                          <p:spTgt spid="16"/>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7"/>
                                        </p:tgtEl>
                                        <p:attrNameLst>
                                          <p:attrName>style.visibility</p:attrName>
                                        </p:attrNameLst>
                                      </p:cBhvr>
                                      <p:to>
                                        <p:strVal val="visible"/>
                                      </p:to>
                                    </p:set>
                                    <p:animEffect transition="in" filter="fade">
                                      <p:cBhvr>
                                        <p:cTn id="22" dur="350"/>
                                        <p:tgtEl>
                                          <p:spTgt spid="17"/>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350"/>
                                        <p:tgtEl>
                                          <p:spTgt spid="7"/>
                                        </p:tgtEl>
                                      </p:cBhvr>
                                    </p:animEffect>
                                  </p:childTnLst>
                                </p:cTn>
                              </p:par>
                              <p:par>
                                <p:cTn id="28" presetID="10" presetClass="entr" presetSubtype="0" fill="hold" nodeType="withEffect">
                                  <p:stCondLst>
                                    <p:cond delay="0"/>
                                  </p:stCondLst>
                                  <p:childTnLst>
                                    <p:set>
                                      <p:cBhvr>
                                        <p:cTn id="29" dur="1" fill="hold">
                                          <p:stCondLst>
                                            <p:cond delay="0"/>
                                          </p:stCondLst>
                                        </p:cTn>
                                        <p:tgtEl>
                                          <p:spTgt spid="30"/>
                                        </p:tgtEl>
                                        <p:attrNameLst>
                                          <p:attrName>style.visibility</p:attrName>
                                        </p:attrNameLst>
                                      </p:cBhvr>
                                      <p:to>
                                        <p:strVal val="visible"/>
                                      </p:to>
                                    </p:set>
                                    <p:animEffect transition="in" filter="fade">
                                      <p:cBhvr>
                                        <p:cTn id="30" dur="350"/>
                                        <p:tgtEl>
                                          <p:spTgt spid="30"/>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1"/>
                                        </p:tgtEl>
                                        <p:attrNameLst>
                                          <p:attrName>style.visibility</p:attrName>
                                        </p:attrNameLst>
                                      </p:cBhvr>
                                      <p:to>
                                        <p:strVal val="visible"/>
                                      </p:to>
                                    </p:set>
                                    <p:animEffect transition="in" filter="fade">
                                      <p:cBhvr>
                                        <p:cTn id="33" dur="350"/>
                                        <p:tgtEl>
                                          <p:spTgt spid="11"/>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8"/>
                                        </p:tgtEl>
                                        <p:attrNameLst>
                                          <p:attrName>style.visibility</p:attrName>
                                        </p:attrNameLst>
                                      </p:cBhvr>
                                      <p:to>
                                        <p:strVal val="visible"/>
                                      </p:to>
                                    </p:set>
                                    <p:animEffect transition="in" filter="fade">
                                      <p:cBhvr>
                                        <p:cTn id="36" dur="350"/>
                                        <p:tgtEl>
                                          <p:spTgt spid="18"/>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19"/>
                                        </p:tgtEl>
                                        <p:attrNameLst>
                                          <p:attrName>style.visibility</p:attrName>
                                        </p:attrNameLst>
                                      </p:cBhvr>
                                      <p:to>
                                        <p:strVal val="visible"/>
                                      </p:to>
                                    </p:set>
                                    <p:animEffect transition="in" filter="fade">
                                      <p:cBhvr>
                                        <p:cTn id="39" dur="350"/>
                                        <p:tgtEl>
                                          <p:spTgt spid="19"/>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20"/>
                                        </p:tgtEl>
                                        <p:attrNameLst>
                                          <p:attrName>style.visibility</p:attrName>
                                        </p:attrNameLst>
                                      </p:cBhvr>
                                      <p:to>
                                        <p:strVal val="visible"/>
                                      </p:to>
                                    </p:set>
                                    <p:animEffect transition="in" filter="fade">
                                      <p:cBhvr>
                                        <p:cTn id="42" dur="35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10" grpId="0"/>
      <p:bldP spid="11" grpId="0"/>
      <p:bldP spid="15" grpId="0"/>
      <p:bldP spid="16" grpId="0"/>
      <p:bldP spid="17" grpId="0"/>
      <p:bldP spid="18" grpId="0"/>
      <p:bldP spid="19" grpId="0"/>
      <p:bldP spid="20" grpId="0"/>
    </p:bld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6F4EE"/>
        </a:solidFill>
        <a:effectLst/>
      </p:bgPr>
    </p:bg>
    <p:spTree>
      <p:nvGrpSpPr>
        <p:cNvPr id="1" name=""/>
        <p:cNvGrpSpPr/>
        <p:nvPr/>
      </p:nvGrpSpPr>
      <p:grpSpPr>
        <a:xfrm>
          <a:off x="0" y="0"/>
          <a:ext cx="0" cy="0"/>
          <a:chOff x="0" y="0"/>
          <a:chExt cx="0" cy="0"/>
        </a:xfrm>
      </p:grpSpPr>
      <p:sp>
        <p:nvSpPr>
          <p:cNvPr id="9" name="S03-section">
            <a:extLst>
              <a:ext uri="{FF2B5EF4-FFF2-40B4-BE49-F238E27FC236}">
                <a16:creationId xmlns:a16="http://schemas.microsoft.com/office/drawing/2014/main" id="{4A977C47-17CC-4211-8A2E-874B03EB1C9F}"/>
              </a:ext>
            </a:extLst>
          </p:cNvPr>
          <p:cNvSpPr>
            <a:spLocks noGrp="1"/>
          </p:cNvSpPr>
          <p:nvPr/>
        </p:nvSpPr>
        <p:spPr>
          <a:xfrm>
            <a:off x="685800" y="400050"/>
            <a:ext cx="10744200" cy="257175"/>
          </a:xfrm>
          <a:prstGeom prst="rect">
            <a:avLst/>
          </a:prstGeom>
          <a:noFill/>
          <a:ln w="0">
            <a:noFill/>
          </a:ln>
        </p:spPr>
        <p:txBody>
          <a:bodyPr wrap="none" lIns="0" tIns="0" rIns="0" bIns="0" anchor="ctr">
            <a:noAutofit/>
          </a:bodyPr>
          <a:lstStyle/>
          <a:p>
            <a:pPr>
              <a:defRPr sz="1425" b="0">
                <a:solidFill>
                  <a:srgbClr val="287D78"/>
                </a:solidFill>
                <a:latin typeface="Noto Sans KR"/>
                <a:ea typeface="Noto Sans KR"/>
                <a:cs typeface="Noto Sans KR"/>
              </a:defRPr>
            </a:pPr>
            <a:r>
              <a:rPr sz="1425" b="0">
                <a:solidFill>
                  <a:srgbClr val="287D78"/>
                </a:solidFill>
                <a:latin typeface="Noto Sans KR"/>
                <a:ea typeface="Noto Sans KR"/>
                <a:cs typeface="Noto Sans KR"/>
              </a:rPr>
              <a:t>근거 / 가상 성능 비교</a:t>
            </a:r>
          </a:p>
        </p:txBody>
      </p:sp>
      <p:sp>
        <p:nvSpPr>
          <p:cNvPr id="2" name="S03-title">
            <a:extLst>
              <a:ext uri="{FF2B5EF4-FFF2-40B4-BE49-F238E27FC236}">
                <a16:creationId xmlns:a16="http://schemas.microsoft.com/office/drawing/2014/main" id="{637CBAEC-8932-4949-883B-45B915562792}"/>
              </a:ext>
            </a:extLst>
          </p:cNvPr>
          <p:cNvSpPr>
            <a:spLocks noGrp="1"/>
          </p:cNvSpPr>
          <p:nvPr/>
        </p:nvSpPr>
        <p:spPr>
          <a:xfrm>
            <a:off x="685800" y="895350"/>
            <a:ext cx="10820400" cy="666750"/>
          </a:xfrm>
          <a:prstGeom prst="rect">
            <a:avLst/>
          </a:prstGeom>
          <a:noFill/>
          <a:ln w="0">
            <a:noFill/>
          </a:ln>
        </p:spPr>
        <p:txBody>
          <a:bodyPr wrap="none" lIns="0" tIns="0" rIns="0" bIns="0" anchor="ctr">
            <a:noAutofit/>
          </a:bodyPr>
          <a:lstStyle/>
          <a:p>
            <a:pPr>
              <a:defRPr sz="3000" b="0">
                <a:solidFill>
                  <a:srgbClr val="1E302F"/>
                </a:solidFill>
                <a:latin typeface="Noto Sans KR"/>
                <a:ea typeface="Noto Sans KR"/>
                <a:cs typeface="Noto Sans KR"/>
              </a:defRPr>
            </a:pPr>
            <a:r>
              <a:rPr sz="3000" b="0">
                <a:solidFill>
                  <a:srgbClr val="1E302F"/>
                </a:solidFill>
                <a:latin typeface="Noto Sans KR"/>
                <a:ea typeface="Noto Sans KR"/>
                <a:cs typeface="Noto Sans KR"/>
              </a:rPr>
              <a:t>같은 조건에서 비교한 세 모델</a:t>
            </a:r>
          </a:p>
        </p:txBody>
      </p:sp>
      <p:sp>
        <p:nvSpPr>
          <p:cNvPr id="3" name="S03-disclosure">
            <a:extLst>
              <a:ext uri="{FF2B5EF4-FFF2-40B4-BE49-F238E27FC236}">
                <a16:creationId xmlns:a16="http://schemas.microsoft.com/office/drawing/2014/main" id="{FE134A85-4D4D-45CE-A707-FFA2EC007CF9}"/>
              </a:ext>
            </a:extLst>
          </p:cNvPr>
          <p:cNvSpPr>
            <a:spLocks noGrp="1"/>
          </p:cNvSpPr>
          <p:nvPr/>
        </p:nvSpPr>
        <p:spPr>
          <a:xfrm>
            <a:off x="685800" y="6372225"/>
            <a:ext cx="9525000" cy="219075"/>
          </a:xfrm>
          <a:prstGeom prst="rect">
            <a:avLst/>
          </a:prstGeom>
          <a:noFill/>
          <a:ln w="0">
            <a:noFill/>
          </a:ln>
        </p:spPr>
        <p:txBody>
          <a:bodyPr wrap="none" lIns="0" tIns="0" rIns="0" bIns="0" anchor="ctr">
            <a:noAutofit/>
          </a:bodyPr>
          <a:lstStyle/>
          <a:p>
            <a:pPr>
              <a:defRPr sz="1275" b="0">
                <a:solidFill>
                  <a:srgbClr val="586C68"/>
                </a:solidFill>
                <a:latin typeface="Noto Sans KR"/>
                <a:ea typeface="Noto Sans KR"/>
                <a:cs typeface="Noto Sans KR"/>
              </a:defRPr>
            </a:pPr>
            <a:r>
              <a:rPr sz="1275" b="0">
                <a:solidFill>
                  <a:srgbClr val="586C68"/>
                </a:solidFill>
                <a:latin typeface="Noto Sans KR"/>
                <a:ea typeface="Noto Sans KR"/>
                <a:cs typeface="Noto Sans KR"/>
              </a:rPr>
              <a:t>가상 데이터 · 실제 실험 결과가 아닙니다</a:t>
            </a:r>
          </a:p>
        </p:txBody>
      </p:sp>
      <p:sp>
        <p:nvSpPr>
          <p:cNvPr id="4" name="S03-number">
            <a:extLst>
              <a:ext uri="{FF2B5EF4-FFF2-40B4-BE49-F238E27FC236}">
                <a16:creationId xmlns:a16="http://schemas.microsoft.com/office/drawing/2014/main" id="{92A6B5AD-B840-47F5-B622-8D0D07A06E95}"/>
              </a:ext>
            </a:extLst>
          </p:cNvPr>
          <p:cNvSpPr>
            <a:spLocks noGrp="1"/>
          </p:cNvSpPr>
          <p:nvPr/>
        </p:nvSpPr>
        <p:spPr>
          <a:xfrm>
            <a:off x="11144250" y="6372225"/>
            <a:ext cx="361950" cy="219075"/>
          </a:xfrm>
          <a:prstGeom prst="rect">
            <a:avLst/>
          </a:prstGeom>
          <a:noFill/>
          <a:ln w="0">
            <a:noFill/>
          </a:ln>
        </p:spPr>
        <p:txBody>
          <a:bodyPr wrap="none" lIns="0" tIns="0" rIns="0" bIns="0" anchor="ctr">
            <a:noAutofit/>
          </a:bodyPr>
          <a:lstStyle/>
          <a:p>
            <a:pPr>
              <a:defRPr sz="1275" b="0">
                <a:solidFill>
                  <a:srgbClr val="586C68"/>
                </a:solidFill>
                <a:latin typeface="Noto Sans KR"/>
                <a:ea typeface="Noto Sans KR"/>
                <a:cs typeface="Noto Sans KR"/>
              </a:defRPr>
            </a:pPr>
            <a:r>
              <a:rPr sz="1275" b="0">
                <a:solidFill>
                  <a:srgbClr val="586C68"/>
                </a:solidFill>
                <a:latin typeface="Noto Sans KR"/>
                <a:ea typeface="Noto Sans KR"/>
                <a:cs typeface="Noto Sans KR"/>
              </a:rPr>
              <a:t>03</a:t>
            </a:r>
          </a:p>
        </p:txBody>
      </p:sp>
      <p:sp>
        <p:nvSpPr>
          <p:cNvPr id="5" name="S03-direction">
            <a:extLst>
              <a:ext uri="{FF2B5EF4-FFF2-40B4-BE49-F238E27FC236}">
                <a16:creationId xmlns:a16="http://schemas.microsoft.com/office/drawing/2014/main" id="{E2651EEA-DA78-4796-99AD-7D447059044A}"/>
              </a:ext>
            </a:extLst>
          </p:cNvPr>
          <p:cNvSpPr>
            <a:spLocks noGrp="1"/>
          </p:cNvSpPr>
          <p:nvPr/>
        </p:nvSpPr>
        <p:spPr>
          <a:xfrm>
            <a:off x="685800" y="1628775"/>
            <a:ext cx="10820400" cy="381000"/>
          </a:xfrm>
          <a:prstGeom prst="rect">
            <a:avLst/>
          </a:prstGeom>
          <a:noFill/>
          <a:ln w="0">
            <a:noFill/>
          </a:ln>
        </p:spPr>
        <p:txBody>
          <a:bodyPr wrap="none" lIns="0" tIns="0" rIns="0" bIns="0" anchor="ctr">
            <a:noAutofit/>
          </a:bodyPr>
          <a:lstStyle/>
          <a:p>
            <a:pPr>
              <a:defRPr sz="1800" b="0">
                <a:solidFill>
                  <a:srgbClr val="586C68"/>
                </a:solidFill>
                <a:latin typeface="Noto Sans KR"/>
                <a:ea typeface="Noto Sans KR"/>
                <a:cs typeface="Noto Sans KR"/>
              </a:defRPr>
            </a:pPr>
            <a:r>
              <a:rPr sz="1800" b="0">
                <a:solidFill>
                  <a:srgbClr val="586C68"/>
                </a:solidFill>
                <a:latin typeface="Noto Sans KR"/>
                <a:ea typeface="Noto Sans KR"/>
                <a:cs typeface="Noto Sans KR"/>
              </a:rPr>
              <a:t>지연과 모델 크기는 낮을수록, F1은 높을수록 좋습니다.</a:t>
            </a:r>
          </a:p>
        </p:txBody>
      </p:sp>
      <p:graphicFrame>
        <p:nvGraphicFramePr>
          <p:cNvPr id="14" name="표 13"/>
          <p:cNvGraphicFramePr/>
          <p:nvPr/>
        </p:nvGraphicFramePr>
        <p:xfrm>
          <a:off x="609600" y="2314575"/>
          <a:ext cx="10972800" cy="2857500"/>
        </p:xfrm>
        <a:graphic>
          <a:graphicData uri="http://schemas.openxmlformats.org/drawingml/2006/table">
            <a:tbl>
              <a:tblPr/>
              <a:tblGrid>
                <a:gridCol w="3429000">
                  <a:extLst>
                    <a:ext uri="{9D8B030D-6E8A-4147-A177-3AD203B41FA5}">
                      <a16:colId xmlns:a16="http://schemas.microsoft.com/office/drawing/2014/main" val="20000"/>
                    </a:ext>
                  </a:extLst>
                </a:gridCol>
                <a:gridCol w="2667000">
                  <a:extLst>
                    <a:ext uri="{9D8B030D-6E8A-4147-A177-3AD203B41FA5}">
                      <a16:colId xmlns:a16="http://schemas.microsoft.com/office/drawing/2014/main" val="20001"/>
                    </a:ext>
                  </a:extLst>
                </a:gridCol>
                <a:gridCol w="2209800">
                  <a:extLst>
                    <a:ext uri="{9D8B030D-6E8A-4147-A177-3AD203B41FA5}">
                      <a16:colId xmlns:a16="http://schemas.microsoft.com/office/drawing/2014/main" val="20002"/>
                    </a:ext>
                  </a:extLst>
                </a:gridCol>
                <a:gridCol w="2667000">
                  <a:extLst>
                    <a:ext uri="{9D8B030D-6E8A-4147-A177-3AD203B41FA5}">
                      <a16:colId xmlns:a16="http://schemas.microsoft.com/office/drawing/2014/main" val="20003"/>
                    </a:ext>
                  </a:extLst>
                </a:gridCol>
              </a:tblGrid>
              <a:tr h="714375">
                <a:tc>
                  <a:txBody>
                    <a:bodyPr/>
                    <a:lstStyle/>
                    <a:p>
                      <a:pPr algn="l"/>
                      <a:r>
                        <a:rPr sz="1800" b="0">
                          <a:solidFill>
                            <a:srgbClr val="586C68"/>
                          </a:solidFill>
                          <a:latin typeface="Noto Sans KR"/>
                          <a:ea typeface="Noto Sans KR"/>
                          <a:cs typeface="Noto Sans KR"/>
                        </a:rPr>
                        <a:t>모델</a:t>
                      </a:r>
                    </a:p>
                  </a:txBody>
                  <a:tcPr marL="95250" marR="95250" marT="95250" marB="95250" anchor="ctr">
                    <a:lnL w="12700">
                      <a:noFill/>
                    </a:lnL>
                    <a:lnR w="12700">
                      <a:noFill/>
                    </a:lnR>
                    <a:lnT w="12700">
                      <a:noFill/>
                    </a:lnT>
                    <a:lnB w="12700">
                      <a:noFill/>
                    </a:lnB>
                    <a:lnTlToBr w="12700">
                      <a:noFill/>
                    </a:lnTlToBr>
                    <a:lnBlToTr w="12700">
                      <a:noFill/>
                    </a:lnBlToTr>
                    <a:solidFill>
                      <a:srgbClr val="F6F4EE"/>
                    </a:solidFill>
                  </a:tcPr>
                </a:tc>
                <a:tc>
                  <a:txBody>
                    <a:bodyPr/>
                    <a:lstStyle/>
                    <a:p>
                      <a:pPr algn="ctr"/>
                      <a:r>
                        <a:rPr sz="1800" b="0">
                          <a:solidFill>
                            <a:srgbClr val="586C68"/>
                          </a:solidFill>
                          <a:latin typeface="Noto Sans KR"/>
                          <a:ea typeface="Noto Sans KR"/>
                          <a:cs typeface="Noto Sans KR"/>
                        </a:rPr>
                        <a:t>지연 (ms)</a:t>
                      </a:r>
                    </a:p>
                  </a:txBody>
                  <a:tcPr marL="95250" marR="95250" marT="95250" marB="95250" anchor="ctr">
                    <a:lnL w="12700">
                      <a:noFill/>
                    </a:lnL>
                    <a:lnR w="12700">
                      <a:noFill/>
                    </a:lnR>
                    <a:lnT w="12700">
                      <a:noFill/>
                    </a:lnT>
                    <a:lnB w="12700">
                      <a:noFill/>
                    </a:lnB>
                    <a:lnTlToBr w="12700">
                      <a:noFill/>
                    </a:lnTlToBr>
                    <a:lnBlToTr w="12700">
                      <a:noFill/>
                    </a:lnBlToTr>
                    <a:solidFill>
                      <a:srgbClr val="F6F4EE"/>
                    </a:solidFill>
                  </a:tcPr>
                </a:tc>
                <a:tc>
                  <a:txBody>
                    <a:bodyPr/>
                    <a:lstStyle/>
                    <a:p>
                      <a:pPr algn="ctr"/>
                      <a:r>
                        <a:rPr sz="1800" b="0">
                          <a:solidFill>
                            <a:srgbClr val="586C68"/>
                          </a:solidFill>
                          <a:latin typeface="Noto Sans KR"/>
                          <a:ea typeface="Noto Sans KR"/>
                          <a:cs typeface="Noto Sans KR"/>
                        </a:rPr>
                        <a:t>F1</a:t>
                      </a:r>
                    </a:p>
                  </a:txBody>
                  <a:tcPr marL="95250" marR="95250" marT="95250" marB="95250" anchor="ctr">
                    <a:lnL w="12700">
                      <a:noFill/>
                    </a:lnL>
                    <a:lnR w="12700">
                      <a:noFill/>
                    </a:lnR>
                    <a:lnT w="12700">
                      <a:noFill/>
                    </a:lnT>
                    <a:lnB w="12700">
                      <a:noFill/>
                    </a:lnB>
                    <a:lnTlToBr w="12700">
                      <a:noFill/>
                    </a:lnTlToBr>
                    <a:lnBlToTr w="12700">
                      <a:noFill/>
                    </a:lnBlToTr>
                    <a:solidFill>
                      <a:srgbClr val="F6F4EE"/>
                    </a:solidFill>
                  </a:tcPr>
                </a:tc>
                <a:tc>
                  <a:txBody>
                    <a:bodyPr/>
                    <a:lstStyle/>
                    <a:p>
                      <a:pPr algn="ctr"/>
                      <a:r>
                        <a:rPr sz="1800" b="0">
                          <a:solidFill>
                            <a:srgbClr val="586C68"/>
                          </a:solidFill>
                          <a:latin typeface="Noto Sans KR"/>
                          <a:ea typeface="Noto Sans KR"/>
                          <a:cs typeface="Noto Sans KR"/>
                        </a:rPr>
                        <a:t>크기 (MB)</a:t>
                      </a:r>
                    </a:p>
                  </a:txBody>
                  <a:tcPr marL="95250" marR="95250" marT="95250" marB="95250" anchor="ctr">
                    <a:lnL w="12700">
                      <a:noFill/>
                    </a:lnL>
                    <a:lnR w="12700">
                      <a:noFill/>
                    </a:lnR>
                    <a:lnT w="12700">
                      <a:noFill/>
                    </a:lnT>
                    <a:lnB w="12700">
                      <a:noFill/>
                    </a:lnB>
                    <a:lnTlToBr w="12700">
                      <a:noFill/>
                    </a:lnTlToBr>
                    <a:lnBlToTr w="12700">
                      <a:noFill/>
                    </a:lnBlToTr>
                    <a:solidFill>
                      <a:srgbClr val="F6F4EE"/>
                    </a:solidFill>
                  </a:tcPr>
                </a:tc>
                <a:extLst>
                  <a:ext uri="{0D108BD9-81ED-4DB2-BD59-A6C34878D82A}">
                    <a16:rowId xmlns:a16="http://schemas.microsoft.com/office/drawing/2014/main" val="10000"/>
                  </a:ext>
                </a:extLst>
              </a:tr>
              <a:tr h="714375">
                <a:tc>
                  <a:txBody>
                    <a:bodyPr/>
                    <a:lstStyle/>
                    <a:p>
                      <a:pPr algn="l"/>
                      <a:r>
                        <a:rPr sz="2400" b="0">
                          <a:solidFill>
                            <a:srgbClr val="1E302F"/>
                          </a:solidFill>
                          <a:latin typeface="Noto Sans KR"/>
                          <a:ea typeface="Noto Sans KR"/>
                          <a:cs typeface="Noto Sans KR"/>
                        </a:rPr>
                        <a:t>baseline</a:t>
                      </a:r>
                    </a:p>
                  </a:txBody>
                  <a:tcPr marL="95250" marR="95250" marT="95250" marB="95250" anchor="ctr">
                    <a:lnL w="12700">
                      <a:noFill/>
                    </a:lnL>
                    <a:lnR w="12700">
                      <a:noFill/>
                    </a:lnR>
                    <a:lnT w="12700">
                      <a:noFill/>
                    </a:lnT>
                    <a:lnB w="12700">
                      <a:noFill/>
                    </a:lnB>
                    <a:lnTlToBr w="12700">
                      <a:noFill/>
                    </a:lnTlToBr>
                    <a:lnBlToTr w="12700">
                      <a:noFill/>
                    </a:lnBlToTr>
                    <a:solidFill>
                      <a:srgbClr val="F6F4EE"/>
                    </a:solidFill>
                  </a:tcPr>
                </a:tc>
                <a:tc>
                  <a:txBody>
                    <a:bodyPr/>
                    <a:lstStyle/>
                    <a:p>
                      <a:pPr algn="ctr"/>
                      <a:r>
                        <a:rPr sz="2400" b="0">
                          <a:solidFill>
                            <a:srgbClr val="1E302F"/>
                          </a:solidFill>
                          <a:latin typeface="Noto Sans KR"/>
                          <a:ea typeface="Noto Sans KR"/>
                          <a:cs typeface="Noto Sans KR"/>
                        </a:rPr>
                        <a:t>120</a:t>
                      </a:r>
                    </a:p>
                  </a:txBody>
                  <a:tcPr marL="95250" marR="95250" marT="95250" marB="95250" anchor="ctr">
                    <a:lnL w="12700">
                      <a:noFill/>
                    </a:lnL>
                    <a:lnR w="12700">
                      <a:noFill/>
                    </a:lnR>
                    <a:lnT w="12700">
                      <a:noFill/>
                    </a:lnT>
                    <a:lnB w="12700">
                      <a:noFill/>
                    </a:lnB>
                    <a:lnTlToBr w="12700">
                      <a:noFill/>
                    </a:lnTlToBr>
                    <a:lnBlToTr w="12700">
                      <a:noFill/>
                    </a:lnBlToTr>
                    <a:solidFill>
                      <a:srgbClr val="F6F4EE"/>
                    </a:solidFill>
                  </a:tcPr>
                </a:tc>
                <a:tc>
                  <a:txBody>
                    <a:bodyPr/>
                    <a:lstStyle/>
                    <a:p>
                      <a:pPr algn="ctr"/>
                      <a:r>
                        <a:rPr sz="2400" b="0">
                          <a:solidFill>
                            <a:srgbClr val="1E302F"/>
                          </a:solidFill>
                          <a:latin typeface="Noto Sans KR"/>
                          <a:ea typeface="Noto Sans KR"/>
                          <a:cs typeface="Noto Sans KR"/>
                        </a:rPr>
                        <a:t>0.910</a:t>
                      </a:r>
                    </a:p>
                  </a:txBody>
                  <a:tcPr marL="95250" marR="95250" marT="95250" marB="95250" anchor="ctr">
                    <a:lnL w="12700">
                      <a:noFill/>
                    </a:lnL>
                    <a:lnR w="12700">
                      <a:noFill/>
                    </a:lnR>
                    <a:lnT w="12700">
                      <a:noFill/>
                    </a:lnT>
                    <a:lnB w="12700">
                      <a:noFill/>
                    </a:lnB>
                    <a:lnTlToBr w="12700">
                      <a:noFill/>
                    </a:lnTlToBr>
                    <a:lnBlToTr w="12700">
                      <a:noFill/>
                    </a:lnBlToTr>
                    <a:solidFill>
                      <a:srgbClr val="F6F4EE"/>
                    </a:solidFill>
                  </a:tcPr>
                </a:tc>
                <a:tc>
                  <a:txBody>
                    <a:bodyPr/>
                    <a:lstStyle/>
                    <a:p>
                      <a:pPr algn="ctr"/>
                      <a:r>
                        <a:rPr sz="2400" b="0">
                          <a:solidFill>
                            <a:srgbClr val="1E302F"/>
                          </a:solidFill>
                          <a:latin typeface="Noto Sans KR"/>
                          <a:ea typeface="Noto Sans KR"/>
                          <a:cs typeface="Noto Sans KR"/>
                        </a:rPr>
                        <a:t>48</a:t>
                      </a:r>
                    </a:p>
                  </a:txBody>
                  <a:tcPr marL="95250" marR="95250" marT="95250" marB="95250" anchor="ctr">
                    <a:lnL w="12700">
                      <a:noFill/>
                    </a:lnL>
                    <a:lnR w="12700">
                      <a:noFill/>
                    </a:lnR>
                    <a:lnT w="12700">
                      <a:noFill/>
                    </a:lnT>
                    <a:lnB w="12700">
                      <a:noFill/>
                    </a:lnB>
                    <a:lnTlToBr w="12700">
                      <a:noFill/>
                    </a:lnTlToBr>
                    <a:lnBlToTr w="12700">
                      <a:noFill/>
                    </a:lnBlToTr>
                    <a:solidFill>
                      <a:srgbClr val="F6F4EE"/>
                    </a:solidFill>
                  </a:tcPr>
                </a:tc>
                <a:extLst>
                  <a:ext uri="{0D108BD9-81ED-4DB2-BD59-A6C34878D82A}">
                    <a16:rowId xmlns:a16="http://schemas.microsoft.com/office/drawing/2014/main" val="10001"/>
                  </a:ext>
                </a:extLst>
              </a:tr>
              <a:tr h="714375">
                <a:tc>
                  <a:txBody>
                    <a:bodyPr/>
                    <a:lstStyle/>
                    <a:p>
                      <a:pPr algn="l"/>
                      <a:r>
                        <a:rPr sz="2400" b="0">
                          <a:solidFill>
                            <a:srgbClr val="1E302F"/>
                          </a:solidFill>
                          <a:latin typeface="Noto Sans KR"/>
                          <a:ea typeface="Noto Sans KR"/>
                          <a:cs typeface="Noto Sans KR"/>
                        </a:rPr>
                        <a:t>distilled</a:t>
                      </a:r>
                    </a:p>
                  </a:txBody>
                  <a:tcPr marL="95250" marR="95250" marT="95250" marB="95250" anchor="ctr">
                    <a:lnL w="12700">
                      <a:noFill/>
                    </a:lnL>
                    <a:lnR w="12700">
                      <a:noFill/>
                    </a:lnR>
                    <a:lnT w="12700">
                      <a:noFill/>
                    </a:lnT>
                    <a:lnB w="12700">
                      <a:noFill/>
                    </a:lnB>
                    <a:lnTlToBr w="12700">
                      <a:noFill/>
                    </a:lnTlToBr>
                    <a:lnBlToTr w="12700">
                      <a:noFill/>
                    </a:lnBlToTr>
                    <a:solidFill>
                      <a:srgbClr val="F6F4EE"/>
                    </a:solidFill>
                  </a:tcPr>
                </a:tc>
                <a:tc>
                  <a:txBody>
                    <a:bodyPr/>
                    <a:lstStyle/>
                    <a:p>
                      <a:pPr algn="ctr"/>
                      <a:r>
                        <a:rPr sz="2400" b="0">
                          <a:solidFill>
                            <a:srgbClr val="1E302F"/>
                          </a:solidFill>
                          <a:latin typeface="Noto Sans KR"/>
                          <a:ea typeface="Noto Sans KR"/>
                          <a:cs typeface="Noto Sans KR"/>
                        </a:rPr>
                        <a:t>72</a:t>
                      </a:r>
                    </a:p>
                  </a:txBody>
                  <a:tcPr marL="95250" marR="95250" marT="95250" marB="95250" anchor="ctr">
                    <a:lnL w="12700">
                      <a:noFill/>
                    </a:lnL>
                    <a:lnR w="12700">
                      <a:noFill/>
                    </a:lnR>
                    <a:lnT w="12700">
                      <a:noFill/>
                    </a:lnT>
                    <a:lnB w="12700">
                      <a:noFill/>
                    </a:lnB>
                    <a:lnTlToBr w="12700">
                      <a:noFill/>
                    </a:lnTlToBr>
                    <a:lnBlToTr w="12700">
                      <a:noFill/>
                    </a:lnBlToTr>
                    <a:solidFill>
                      <a:srgbClr val="F6F4EE"/>
                    </a:solidFill>
                  </a:tcPr>
                </a:tc>
                <a:tc>
                  <a:txBody>
                    <a:bodyPr/>
                    <a:lstStyle/>
                    <a:p>
                      <a:pPr algn="ctr"/>
                      <a:r>
                        <a:rPr sz="2400" b="0">
                          <a:solidFill>
                            <a:srgbClr val="1E302F"/>
                          </a:solidFill>
                          <a:latin typeface="Noto Sans KR"/>
                          <a:ea typeface="Noto Sans KR"/>
                          <a:cs typeface="Noto Sans KR"/>
                        </a:rPr>
                        <a:t>0.902</a:t>
                      </a:r>
                    </a:p>
                  </a:txBody>
                  <a:tcPr marL="95250" marR="95250" marT="95250" marB="95250" anchor="ctr">
                    <a:lnL w="12700">
                      <a:noFill/>
                    </a:lnL>
                    <a:lnR w="12700">
                      <a:noFill/>
                    </a:lnR>
                    <a:lnT w="12700">
                      <a:noFill/>
                    </a:lnT>
                    <a:lnB w="12700">
                      <a:noFill/>
                    </a:lnB>
                    <a:lnTlToBr w="12700">
                      <a:noFill/>
                    </a:lnTlToBr>
                    <a:lnBlToTr w="12700">
                      <a:noFill/>
                    </a:lnBlToTr>
                    <a:solidFill>
                      <a:srgbClr val="F6F4EE"/>
                    </a:solidFill>
                  </a:tcPr>
                </a:tc>
                <a:tc>
                  <a:txBody>
                    <a:bodyPr/>
                    <a:lstStyle/>
                    <a:p>
                      <a:pPr algn="ctr"/>
                      <a:r>
                        <a:rPr sz="2400" b="0">
                          <a:solidFill>
                            <a:srgbClr val="1E302F"/>
                          </a:solidFill>
                          <a:latin typeface="Noto Sans KR"/>
                          <a:ea typeface="Noto Sans KR"/>
                          <a:cs typeface="Noto Sans KR"/>
                        </a:rPr>
                        <a:t>18</a:t>
                      </a:r>
                    </a:p>
                  </a:txBody>
                  <a:tcPr marL="95250" marR="95250" marT="95250" marB="95250" anchor="ctr">
                    <a:lnL w="12700">
                      <a:noFill/>
                    </a:lnL>
                    <a:lnR w="12700">
                      <a:noFill/>
                    </a:lnR>
                    <a:lnT w="12700">
                      <a:noFill/>
                    </a:lnT>
                    <a:lnB w="12700">
                      <a:noFill/>
                    </a:lnB>
                    <a:lnTlToBr w="12700">
                      <a:noFill/>
                    </a:lnTlToBr>
                    <a:lnBlToTr w="12700">
                      <a:noFill/>
                    </a:lnBlToTr>
                    <a:solidFill>
                      <a:srgbClr val="F6F4EE"/>
                    </a:solidFill>
                  </a:tcPr>
                </a:tc>
                <a:extLst>
                  <a:ext uri="{0D108BD9-81ED-4DB2-BD59-A6C34878D82A}">
                    <a16:rowId xmlns:a16="http://schemas.microsoft.com/office/drawing/2014/main" val="10002"/>
                  </a:ext>
                </a:extLst>
              </a:tr>
              <a:tr h="714375">
                <a:tc>
                  <a:txBody>
                    <a:bodyPr/>
                    <a:lstStyle/>
                    <a:p>
                      <a:pPr algn="l"/>
                      <a:r>
                        <a:rPr sz="2400" b="0">
                          <a:solidFill>
                            <a:srgbClr val="287D78"/>
                          </a:solidFill>
                          <a:latin typeface="Noto Sans KR"/>
                          <a:ea typeface="Noto Sans KR"/>
                          <a:cs typeface="Noto Sans KR"/>
                        </a:rPr>
                        <a:t>int8</a:t>
                      </a:r>
                    </a:p>
                  </a:txBody>
                  <a:tcPr marL="95250" marR="95250" marT="95250" marB="95250" anchor="ctr">
                    <a:lnL w="12700">
                      <a:noFill/>
                    </a:lnL>
                    <a:lnR w="12700">
                      <a:noFill/>
                    </a:lnR>
                    <a:lnT w="12700">
                      <a:noFill/>
                    </a:lnT>
                    <a:lnB w="12700">
                      <a:noFill/>
                    </a:lnB>
                    <a:lnTlToBr w="12700">
                      <a:noFill/>
                    </a:lnTlToBr>
                    <a:lnBlToTr w="12700">
                      <a:noFill/>
                    </a:lnBlToTr>
                    <a:solidFill>
                      <a:srgbClr val="E8EDE5"/>
                    </a:solidFill>
                  </a:tcPr>
                </a:tc>
                <a:tc>
                  <a:txBody>
                    <a:bodyPr/>
                    <a:lstStyle/>
                    <a:p>
                      <a:pPr algn="ctr"/>
                      <a:r>
                        <a:rPr sz="2400" b="0">
                          <a:solidFill>
                            <a:srgbClr val="287D78"/>
                          </a:solidFill>
                          <a:latin typeface="Noto Sans KR"/>
                          <a:ea typeface="Noto Sans KR"/>
                          <a:cs typeface="Noto Sans KR"/>
                        </a:rPr>
                        <a:t>54</a:t>
                      </a:r>
                    </a:p>
                  </a:txBody>
                  <a:tcPr marL="95250" marR="95250" marT="95250" marB="95250" anchor="ctr">
                    <a:lnL w="12700">
                      <a:noFill/>
                    </a:lnL>
                    <a:lnR w="12700">
                      <a:noFill/>
                    </a:lnR>
                    <a:lnT w="12700">
                      <a:noFill/>
                    </a:lnT>
                    <a:lnB w="12700">
                      <a:noFill/>
                    </a:lnB>
                    <a:lnTlToBr w="12700">
                      <a:noFill/>
                    </a:lnTlToBr>
                    <a:lnBlToTr w="12700">
                      <a:noFill/>
                    </a:lnBlToTr>
                    <a:solidFill>
                      <a:srgbClr val="E8EDE5"/>
                    </a:solidFill>
                  </a:tcPr>
                </a:tc>
                <a:tc>
                  <a:txBody>
                    <a:bodyPr/>
                    <a:lstStyle/>
                    <a:p>
                      <a:pPr algn="ctr"/>
                      <a:r>
                        <a:rPr sz="2400" b="0">
                          <a:solidFill>
                            <a:srgbClr val="287D78"/>
                          </a:solidFill>
                          <a:latin typeface="Noto Sans KR"/>
                          <a:ea typeface="Noto Sans KR"/>
                          <a:cs typeface="Noto Sans KR"/>
                        </a:rPr>
                        <a:t>0.896</a:t>
                      </a:r>
                    </a:p>
                  </a:txBody>
                  <a:tcPr marL="95250" marR="95250" marT="95250" marB="95250" anchor="ctr">
                    <a:lnL w="12700">
                      <a:noFill/>
                    </a:lnL>
                    <a:lnR w="12700">
                      <a:noFill/>
                    </a:lnR>
                    <a:lnT w="12700">
                      <a:noFill/>
                    </a:lnT>
                    <a:lnB w="12700">
                      <a:noFill/>
                    </a:lnB>
                    <a:lnTlToBr w="12700">
                      <a:noFill/>
                    </a:lnTlToBr>
                    <a:lnBlToTr w="12700">
                      <a:noFill/>
                    </a:lnBlToTr>
                    <a:solidFill>
                      <a:srgbClr val="E8EDE5"/>
                    </a:solidFill>
                  </a:tcPr>
                </a:tc>
                <a:tc>
                  <a:txBody>
                    <a:bodyPr/>
                    <a:lstStyle/>
                    <a:p>
                      <a:pPr algn="ctr"/>
                      <a:r>
                        <a:rPr sz="2400" b="0">
                          <a:solidFill>
                            <a:srgbClr val="287D78"/>
                          </a:solidFill>
                          <a:latin typeface="Noto Sans KR"/>
                          <a:ea typeface="Noto Sans KR"/>
                          <a:cs typeface="Noto Sans KR"/>
                        </a:rPr>
                        <a:t>12</a:t>
                      </a:r>
                    </a:p>
                  </a:txBody>
                  <a:tcPr marL="95250" marR="95250" marT="95250" marB="95250" anchor="ctr">
                    <a:lnL w="12700">
                      <a:noFill/>
                    </a:lnL>
                    <a:lnR w="12700">
                      <a:noFill/>
                    </a:lnR>
                    <a:lnT w="12700">
                      <a:noFill/>
                    </a:lnT>
                    <a:lnB w="12700">
                      <a:noFill/>
                    </a:lnB>
                    <a:lnTlToBr w="12700">
                      <a:noFill/>
                    </a:lnTlToBr>
                    <a:lnBlToTr w="12700">
                      <a:noFill/>
                    </a:lnBlToTr>
                    <a:solidFill>
                      <a:srgbClr val="E8EDE5"/>
                    </a:solidFill>
                  </a:tcPr>
                </a:tc>
                <a:extLst>
                  <a:ext uri="{0D108BD9-81ED-4DB2-BD59-A6C34878D82A}">
                    <a16:rowId xmlns:a16="http://schemas.microsoft.com/office/drawing/2014/main" val="10003"/>
                  </a:ext>
                </a:extLst>
              </a:tr>
            </a:tbl>
          </a:graphicData>
        </a:graphic>
      </p:graphicFrame>
      <p:sp>
        <p:nvSpPr>
          <p:cNvPr id="7" name="S03-header-rule">
            <a:extLst>
              <a:ext uri="{FF2B5EF4-FFF2-40B4-BE49-F238E27FC236}">
                <a16:creationId xmlns:a16="http://schemas.microsoft.com/office/drawing/2014/main" id="{94C32CC6-869D-49B4-A594-1986EF544B0B}"/>
              </a:ext>
            </a:extLst>
          </p:cNvPr>
          <p:cNvSpPr>
            <a:spLocks noGrp="1"/>
          </p:cNvSpPr>
          <p:nvPr/>
        </p:nvSpPr>
        <p:spPr>
          <a:xfrm>
            <a:off x="685800" y="3028950"/>
            <a:ext cx="10820400" cy="0"/>
          </a:xfrm>
          <a:prstGeom prst="line">
            <a:avLst/>
          </a:prstGeom>
          <a:ln w="9525">
            <a:solidFill>
              <a:srgbClr val="CFD8D1"/>
            </a:solidFill>
          </a:ln>
        </p:spPr>
      </p:sp>
      <p:sp>
        <p:nvSpPr>
          <p:cNvPr id="8" name="S03-limit">
            <a:extLst>
              <a:ext uri="{FF2B5EF4-FFF2-40B4-BE49-F238E27FC236}">
                <a16:creationId xmlns:a16="http://schemas.microsoft.com/office/drawing/2014/main" id="{E8B1A52B-4596-4032-B627-1DD543893D98}"/>
              </a:ext>
            </a:extLst>
          </p:cNvPr>
          <p:cNvSpPr>
            <a:spLocks noGrp="1"/>
          </p:cNvSpPr>
          <p:nvPr/>
        </p:nvSpPr>
        <p:spPr>
          <a:xfrm>
            <a:off x="685800" y="5619750"/>
            <a:ext cx="10820400" cy="400050"/>
          </a:xfrm>
          <a:prstGeom prst="rect">
            <a:avLst/>
          </a:prstGeom>
          <a:noFill/>
          <a:ln w="0">
            <a:noFill/>
          </a:ln>
        </p:spPr>
        <p:txBody>
          <a:bodyPr wrap="none" lIns="0" tIns="0" rIns="0" bIns="0" anchor="ctr">
            <a:noAutofit/>
          </a:bodyPr>
          <a:lstStyle/>
          <a:p>
            <a:pPr>
              <a:defRPr sz="1575" b="0">
                <a:solidFill>
                  <a:srgbClr val="586C68"/>
                </a:solidFill>
                <a:latin typeface="Noto Sans KR"/>
                <a:ea typeface="Noto Sans KR"/>
                <a:cs typeface="Noto Sans KR"/>
              </a:defRPr>
            </a:pPr>
            <a:r>
              <a:rPr sz="1575" b="0">
                <a:solidFill>
                  <a:srgbClr val="586C68"/>
                </a:solidFill>
                <a:latin typeface="Noto Sans KR"/>
                <a:ea typeface="Noto Sans KR"/>
                <a:cs typeface="Noto Sans KR"/>
              </a:rPr>
              <a:t>동일 장치·데이터를 가정합니다. 표본수·분산·실제 데이터셋명은 미제공입니다.</a:t>
            </a:r>
          </a:p>
        </p:txBody>
      </p:sp>
    </p:spTree>
    <p:extLst>
      <p:ext uri="{BB962C8B-B14F-4D97-AF65-F5344CB8AC3E}">
        <p14:creationId xmlns:p14="http://schemas.microsoft.com/office/powerpoint/2010/main" val="33403942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6F4EE"/>
        </a:solidFill>
        <a:effectLst/>
      </p:bgPr>
    </p:bg>
    <p:spTree>
      <p:nvGrpSpPr>
        <p:cNvPr id="1" name=""/>
        <p:cNvGrpSpPr/>
        <p:nvPr/>
      </p:nvGrpSpPr>
      <p:grpSpPr>
        <a:xfrm>
          <a:off x="0" y="0"/>
          <a:ext cx="0" cy="0"/>
          <a:chOff x="0" y="0"/>
          <a:chExt cx="0" cy="0"/>
        </a:xfrm>
      </p:grpSpPr>
      <p:sp>
        <p:nvSpPr>
          <p:cNvPr id="17" name="S04-section">
            <a:extLst>
              <a:ext uri="{FF2B5EF4-FFF2-40B4-BE49-F238E27FC236}">
                <a16:creationId xmlns:a16="http://schemas.microsoft.com/office/drawing/2014/main" id="{AB55DE22-9EDD-4B78-8464-1109D65F2D1F}"/>
              </a:ext>
            </a:extLst>
          </p:cNvPr>
          <p:cNvSpPr>
            <a:spLocks noGrp="1"/>
          </p:cNvSpPr>
          <p:nvPr/>
        </p:nvSpPr>
        <p:spPr>
          <a:xfrm>
            <a:off x="685800" y="400050"/>
            <a:ext cx="10744200" cy="257175"/>
          </a:xfrm>
          <a:prstGeom prst="rect">
            <a:avLst/>
          </a:prstGeom>
          <a:noFill/>
          <a:ln w="0">
            <a:noFill/>
          </a:ln>
        </p:spPr>
        <p:txBody>
          <a:bodyPr wrap="none" lIns="0" tIns="0" rIns="0" bIns="0" anchor="ctr">
            <a:noAutofit/>
          </a:bodyPr>
          <a:lstStyle/>
          <a:p>
            <a:pPr>
              <a:defRPr sz="1425" b="0">
                <a:solidFill>
                  <a:srgbClr val="287D78"/>
                </a:solidFill>
                <a:latin typeface="Noto Sans KR"/>
                <a:ea typeface="Noto Sans KR"/>
                <a:cs typeface="Noto Sans KR"/>
              </a:defRPr>
            </a:pPr>
            <a:r>
              <a:rPr sz="1425" b="0">
                <a:solidFill>
                  <a:srgbClr val="287D78"/>
                </a:solidFill>
                <a:latin typeface="Noto Sans KR"/>
                <a:ea typeface="Noto Sans KR"/>
                <a:cs typeface="Noto Sans KR"/>
              </a:rPr>
              <a:t>결과 / 원본 대비 INT8</a:t>
            </a:r>
          </a:p>
        </p:txBody>
      </p:sp>
      <p:sp>
        <p:nvSpPr>
          <p:cNvPr id="2" name="S04-title">
            <a:extLst>
              <a:ext uri="{FF2B5EF4-FFF2-40B4-BE49-F238E27FC236}">
                <a16:creationId xmlns:a16="http://schemas.microsoft.com/office/drawing/2014/main" id="{01DF3C8D-CBC4-4C17-A372-1BB7B90B6A2F}"/>
              </a:ext>
            </a:extLst>
          </p:cNvPr>
          <p:cNvSpPr>
            <a:spLocks noGrp="1"/>
          </p:cNvSpPr>
          <p:nvPr/>
        </p:nvSpPr>
        <p:spPr>
          <a:xfrm>
            <a:off x="685800" y="895350"/>
            <a:ext cx="10820400" cy="666750"/>
          </a:xfrm>
          <a:prstGeom prst="rect">
            <a:avLst/>
          </a:prstGeom>
          <a:noFill/>
          <a:ln w="0">
            <a:noFill/>
          </a:ln>
        </p:spPr>
        <p:txBody>
          <a:bodyPr wrap="none" lIns="0" tIns="0" rIns="0" bIns="0" anchor="ctr">
            <a:noAutofit/>
          </a:bodyPr>
          <a:lstStyle/>
          <a:p>
            <a:pPr>
              <a:defRPr sz="3000" b="0">
                <a:solidFill>
                  <a:srgbClr val="1E302F"/>
                </a:solidFill>
                <a:latin typeface="Noto Sans KR"/>
                <a:ea typeface="Noto Sans KR"/>
                <a:cs typeface="Noto Sans KR"/>
              </a:defRPr>
            </a:pPr>
            <a:r>
              <a:rPr sz="3000" b="0">
                <a:solidFill>
                  <a:srgbClr val="1E302F"/>
                </a:solidFill>
                <a:latin typeface="Noto Sans KR"/>
                <a:ea typeface="Noto Sans KR"/>
                <a:cs typeface="Noto Sans KR"/>
              </a:rPr>
              <a:t>지연은 줄고, F1도 낮아집니다</a:t>
            </a:r>
          </a:p>
        </p:txBody>
      </p:sp>
      <p:sp>
        <p:nvSpPr>
          <p:cNvPr id="3" name="S04-disclosure">
            <a:extLst>
              <a:ext uri="{FF2B5EF4-FFF2-40B4-BE49-F238E27FC236}">
                <a16:creationId xmlns:a16="http://schemas.microsoft.com/office/drawing/2014/main" id="{ADB47203-11D5-4D1A-B437-07D14ECB7352}"/>
              </a:ext>
            </a:extLst>
          </p:cNvPr>
          <p:cNvSpPr>
            <a:spLocks noGrp="1"/>
          </p:cNvSpPr>
          <p:nvPr/>
        </p:nvSpPr>
        <p:spPr>
          <a:xfrm>
            <a:off x="685800" y="6372225"/>
            <a:ext cx="9525000" cy="219075"/>
          </a:xfrm>
          <a:prstGeom prst="rect">
            <a:avLst/>
          </a:prstGeom>
          <a:noFill/>
          <a:ln w="0">
            <a:noFill/>
          </a:ln>
        </p:spPr>
        <p:txBody>
          <a:bodyPr wrap="none" lIns="0" tIns="0" rIns="0" bIns="0" anchor="ctr">
            <a:noAutofit/>
          </a:bodyPr>
          <a:lstStyle/>
          <a:p>
            <a:pPr>
              <a:defRPr sz="1275" b="0">
                <a:solidFill>
                  <a:srgbClr val="586C68"/>
                </a:solidFill>
                <a:latin typeface="Noto Sans KR"/>
                <a:ea typeface="Noto Sans KR"/>
                <a:cs typeface="Noto Sans KR"/>
              </a:defRPr>
            </a:pPr>
            <a:r>
              <a:rPr sz="1275" b="0">
                <a:solidFill>
                  <a:srgbClr val="586C68"/>
                </a:solidFill>
                <a:latin typeface="Noto Sans KR"/>
                <a:ea typeface="Noto Sans KR"/>
                <a:cs typeface="Noto Sans KR"/>
              </a:rPr>
              <a:t>가상 데이터 · 실제 실험 결과가 아닙니다</a:t>
            </a:r>
          </a:p>
        </p:txBody>
      </p:sp>
      <p:sp>
        <p:nvSpPr>
          <p:cNvPr id="4" name="S04-number">
            <a:extLst>
              <a:ext uri="{FF2B5EF4-FFF2-40B4-BE49-F238E27FC236}">
                <a16:creationId xmlns:a16="http://schemas.microsoft.com/office/drawing/2014/main" id="{6033E9C5-62E2-421A-A066-6873BCD5BD20}"/>
              </a:ext>
            </a:extLst>
          </p:cNvPr>
          <p:cNvSpPr>
            <a:spLocks noGrp="1"/>
          </p:cNvSpPr>
          <p:nvPr/>
        </p:nvSpPr>
        <p:spPr>
          <a:xfrm>
            <a:off x="11144250" y="6372225"/>
            <a:ext cx="361950" cy="219075"/>
          </a:xfrm>
          <a:prstGeom prst="rect">
            <a:avLst/>
          </a:prstGeom>
          <a:noFill/>
          <a:ln w="0">
            <a:noFill/>
          </a:ln>
        </p:spPr>
        <p:txBody>
          <a:bodyPr wrap="none" lIns="0" tIns="0" rIns="0" bIns="0" anchor="ctr">
            <a:noAutofit/>
          </a:bodyPr>
          <a:lstStyle/>
          <a:p>
            <a:pPr>
              <a:defRPr sz="1275" b="0">
                <a:solidFill>
                  <a:srgbClr val="586C68"/>
                </a:solidFill>
                <a:latin typeface="Noto Sans KR"/>
                <a:ea typeface="Noto Sans KR"/>
                <a:cs typeface="Noto Sans KR"/>
              </a:defRPr>
            </a:pPr>
            <a:r>
              <a:rPr sz="1275" b="0">
                <a:solidFill>
                  <a:srgbClr val="586C68"/>
                </a:solidFill>
                <a:latin typeface="Noto Sans KR"/>
                <a:ea typeface="Noto Sans KR"/>
                <a:cs typeface="Noto Sans KR"/>
              </a:rPr>
              <a:t>04</a:t>
            </a:r>
          </a:p>
        </p:txBody>
      </p:sp>
      <p:sp>
        <p:nvSpPr>
          <p:cNvPr id="5" name="S04-chart-unit">
            <a:extLst>
              <a:ext uri="{FF2B5EF4-FFF2-40B4-BE49-F238E27FC236}">
                <a16:creationId xmlns:a16="http://schemas.microsoft.com/office/drawing/2014/main" id="{FDF6A871-28E6-4F76-AAC5-FC66D7A7650B}"/>
              </a:ext>
            </a:extLst>
          </p:cNvPr>
          <p:cNvSpPr>
            <a:spLocks noGrp="1"/>
          </p:cNvSpPr>
          <p:nvPr/>
        </p:nvSpPr>
        <p:spPr>
          <a:xfrm>
            <a:off x="685800" y="1828800"/>
            <a:ext cx="6000750" cy="352425"/>
          </a:xfrm>
          <a:prstGeom prst="rect">
            <a:avLst/>
          </a:prstGeom>
          <a:noFill/>
          <a:ln w="0">
            <a:noFill/>
          </a:ln>
        </p:spPr>
        <p:txBody>
          <a:bodyPr wrap="none" lIns="0" tIns="0" rIns="0" bIns="0" anchor="ctr">
            <a:noAutofit/>
          </a:bodyPr>
          <a:lstStyle/>
          <a:p>
            <a:pPr>
              <a:defRPr sz="1800" b="0">
                <a:solidFill>
                  <a:srgbClr val="586C68"/>
                </a:solidFill>
                <a:latin typeface="Noto Sans KR"/>
                <a:ea typeface="Noto Sans KR"/>
                <a:cs typeface="Noto Sans KR"/>
              </a:defRPr>
            </a:pPr>
            <a:r>
              <a:rPr sz="1800" b="0">
                <a:solidFill>
                  <a:srgbClr val="586C68"/>
                </a:solidFill>
                <a:latin typeface="Noto Sans KR"/>
                <a:ea typeface="Noto Sans KR"/>
                <a:cs typeface="Noto Sans KR"/>
              </a:rPr>
              <a:t>지연 (ms)</a:t>
            </a:r>
          </a:p>
        </p:txBody>
      </p:sp>
      <p:graphicFrame>
        <p:nvGraphicFramePr>
          <p:cNvPr id="22" name="Chart"/>
          <p:cNvGraphicFramePr/>
          <p:nvPr/>
        </p:nvGraphicFramePr>
        <p:xfrm>
          <a:off x="552450" y="2343150"/>
          <a:ext cx="6810375" cy="2857500"/>
        </p:xfrm>
        <a:graphic>
          <a:graphicData uri="http://schemas.openxmlformats.org/drawingml/2006/chart">
            <c:chart xmlns:c="http://schemas.openxmlformats.org/drawingml/2006/chart" xmlns:r="http://schemas.openxmlformats.org/officeDocument/2006/relationships" r:id="rId3"/>
          </a:graphicData>
        </a:graphic>
      </p:graphicFrame>
      <p:sp>
        <p:nvSpPr>
          <p:cNvPr id="7" name="S04-latency">
            <a:extLst>
              <a:ext uri="{FF2B5EF4-FFF2-40B4-BE49-F238E27FC236}">
                <a16:creationId xmlns:a16="http://schemas.microsoft.com/office/drawing/2014/main" id="{8EF5A9B4-099C-4EE7-BE2A-5BA19C0A1B21}"/>
              </a:ext>
            </a:extLst>
          </p:cNvPr>
          <p:cNvSpPr>
            <a:spLocks noGrp="1"/>
          </p:cNvSpPr>
          <p:nvPr/>
        </p:nvSpPr>
        <p:spPr>
          <a:xfrm>
            <a:off x="8058150" y="1885950"/>
            <a:ext cx="3276600" cy="809625"/>
          </a:xfrm>
          <a:prstGeom prst="rect">
            <a:avLst/>
          </a:prstGeom>
          <a:noFill/>
          <a:ln w="0">
            <a:noFill/>
          </a:ln>
        </p:spPr>
        <p:txBody>
          <a:bodyPr wrap="none" lIns="0" tIns="0" rIns="0" bIns="0" anchor="ctr">
            <a:noAutofit/>
          </a:bodyPr>
          <a:lstStyle/>
          <a:p>
            <a:pPr>
              <a:defRPr sz="5325" b="0">
                <a:solidFill>
                  <a:srgbClr val="287D78"/>
                </a:solidFill>
                <a:latin typeface="Noto Sans KR"/>
                <a:ea typeface="Noto Sans KR"/>
                <a:cs typeface="Noto Sans KR"/>
              </a:defRPr>
            </a:pPr>
            <a:r>
              <a:rPr sz="5325" b="0">
                <a:solidFill>
                  <a:srgbClr val="287D78"/>
                </a:solidFill>
                <a:latin typeface="Noto Sans KR"/>
                <a:ea typeface="Noto Sans KR"/>
                <a:cs typeface="Noto Sans KR"/>
              </a:rPr>
              <a:t>55%</a:t>
            </a:r>
          </a:p>
        </p:txBody>
      </p:sp>
      <p:sp>
        <p:nvSpPr>
          <p:cNvPr id="8" name="S04-latency-label">
            <a:extLst>
              <a:ext uri="{FF2B5EF4-FFF2-40B4-BE49-F238E27FC236}">
                <a16:creationId xmlns:a16="http://schemas.microsoft.com/office/drawing/2014/main" id="{09D6CBEA-E9F5-4D60-930A-3B74471F42F7}"/>
              </a:ext>
            </a:extLst>
          </p:cNvPr>
          <p:cNvSpPr>
            <a:spLocks noGrp="1"/>
          </p:cNvSpPr>
          <p:nvPr/>
        </p:nvSpPr>
        <p:spPr>
          <a:xfrm>
            <a:off x="8058150" y="2714625"/>
            <a:ext cx="3448050" cy="342900"/>
          </a:xfrm>
          <a:prstGeom prst="rect">
            <a:avLst/>
          </a:prstGeom>
          <a:noFill/>
          <a:ln w="0">
            <a:noFill/>
          </a:ln>
        </p:spPr>
        <p:txBody>
          <a:bodyPr wrap="none" lIns="0" tIns="0" rIns="0" bIns="0" anchor="ctr">
            <a:noAutofit/>
          </a:bodyPr>
          <a:lstStyle/>
          <a:p>
            <a:pPr>
              <a:defRPr sz="1725" b="0">
                <a:solidFill>
                  <a:srgbClr val="586C68"/>
                </a:solidFill>
                <a:latin typeface="Noto Sans KR"/>
                <a:ea typeface="Noto Sans KR"/>
                <a:cs typeface="Noto Sans KR"/>
              </a:defRPr>
            </a:pPr>
            <a:r>
              <a:rPr sz="1725" b="0">
                <a:solidFill>
                  <a:srgbClr val="586C68"/>
                </a:solidFill>
                <a:latin typeface="Noto Sans KR"/>
                <a:ea typeface="Noto Sans KR"/>
                <a:cs typeface="Noto Sans KR"/>
              </a:rPr>
              <a:t>지연 감소 · 120 → 54 ms</a:t>
            </a:r>
          </a:p>
        </p:txBody>
      </p:sp>
      <p:sp>
        <p:nvSpPr>
          <p:cNvPr id="9" name="S04-size">
            <a:extLst>
              <a:ext uri="{FF2B5EF4-FFF2-40B4-BE49-F238E27FC236}">
                <a16:creationId xmlns:a16="http://schemas.microsoft.com/office/drawing/2014/main" id="{F68D9B54-AB44-48F3-8FBB-D0A50EC55A5E}"/>
              </a:ext>
            </a:extLst>
          </p:cNvPr>
          <p:cNvSpPr>
            <a:spLocks noGrp="1"/>
          </p:cNvSpPr>
          <p:nvPr/>
        </p:nvSpPr>
        <p:spPr>
          <a:xfrm>
            <a:off x="8058150" y="3352800"/>
            <a:ext cx="1524000" cy="647700"/>
          </a:xfrm>
          <a:prstGeom prst="rect">
            <a:avLst/>
          </a:prstGeom>
          <a:noFill/>
          <a:ln w="0">
            <a:noFill/>
          </a:ln>
        </p:spPr>
        <p:txBody>
          <a:bodyPr wrap="none" lIns="0" tIns="0" rIns="0" bIns="0" anchor="ctr">
            <a:noAutofit/>
          </a:bodyPr>
          <a:lstStyle/>
          <a:p>
            <a:pPr>
              <a:defRPr sz="3975" b="0">
                <a:solidFill>
                  <a:srgbClr val="1E302F"/>
                </a:solidFill>
                <a:latin typeface="Noto Sans KR"/>
                <a:ea typeface="Noto Sans KR"/>
                <a:cs typeface="Noto Sans KR"/>
              </a:defRPr>
            </a:pPr>
            <a:r>
              <a:rPr sz="3975" b="0">
                <a:solidFill>
                  <a:srgbClr val="1E302F"/>
                </a:solidFill>
                <a:latin typeface="Noto Sans KR"/>
                <a:ea typeface="Noto Sans KR"/>
                <a:cs typeface="Noto Sans KR"/>
              </a:rPr>
              <a:t>75%</a:t>
            </a:r>
          </a:p>
        </p:txBody>
      </p:sp>
      <p:sp>
        <p:nvSpPr>
          <p:cNvPr id="10" name="S04-f1">
            <a:extLst>
              <a:ext uri="{FF2B5EF4-FFF2-40B4-BE49-F238E27FC236}">
                <a16:creationId xmlns:a16="http://schemas.microsoft.com/office/drawing/2014/main" id="{46ED6933-E2DD-4116-AE03-73C52FC0D02A}"/>
              </a:ext>
            </a:extLst>
          </p:cNvPr>
          <p:cNvSpPr>
            <a:spLocks noGrp="1"/>
          </p:cNvSpPr>
          <p:nvPr/>
        </p:nvSpPr>
        <p:spPr>
          <a:xfrm>
            <a:off x="9906000" y="3352800"/>
            <a:ext cx="1657350" cy="647700"/>
          </a:xfrm>
          <a:prstGeom prst="rect">
            <a:avLst/>
          </a:prstGeom>
          <a:noFill/>
          <a:ln w="0">
            <a:noFill/>
          </a:ln>
        </p:spPr>
        <p:txBody>
          <a:bodyPr wrap="none" lIns="0" tIns="0" rIns="0" bIns="0" anchor="ctr">
            <a:noAutofit/>
          </a:bodyPr>
          <a:lstStyle/>
          <a:p>
            <a:pPr>
              <a:defRPr sz="3525" b="0">
                <a:solidFill>
                  <a:srgbClr val="A3563E"/>
                </a:solidFill>
                <a:latin typeface="Noto Sans KR"/>
                <a:ea typeface="Noto Sans KR"/>
                <a:cs typeface="Noto Sans KR"/>
              </a:defRPr>
            </a:pPr>
            <a:r>
              <a:rPr sz="3525" b="0">
                <a:solidFill>
                  <a:srgbClr val="A3563E"/>
                </a:solidFill>
                <a:latin typeface="Noto Sans KR"/>
                <a:ea typeface="Noto Sans KR"/>
                <a:cs typeface="Noto Sans KR"/>
              </a:rPr>
              <a:t>−0.014</a:t>
            </a:r>
          </a:p>
        </p:txBody>
      </p:sp>
      <p:sp>
        <p:nvSpPr>
          <p:cNvPr id="11" name="S04-size-label">
            <a:extLst>
              <a:ext uri="{FF2B5EF4-FFF2-40B4-BE49-F238E27FC236}">
                <a16:creationId xmlns:a16="http://schemas.microsoft.com/office/drawing/2014/main" id="{B1A18398-2695-49B2-AEA1-932FB59F78CB}"/>
              </a:ext>
            </a:extLst>
          </p:cNvPr>
          <p:cNvSpPr>
            <a:spLocks noGrp="1"/>
          </p:cNvSpPr>
          <p:nvPr/>
        </p:nvSpPr>
        <p:spPr>
          <a:xfrm>
            <a:off x="8058150" y="4076700"/>
            <a:ext cx="1752600" cy="314325"/>
          </a:xfrm>
          <a:prstGeom prst="rect">
            <a:avLst/>
          </a:prstGeom>
          <a:noFill/>
          <a:ln w="0">
            <a:noFill/>
          </a:ln>
        </p:spPr>
        <p:txBody>
          <a:bodyPr wrap="none" lIns="0" tIns="0" rIns="0" bIns="0" anchor="ctr">
            <a:noAutofit/>
          </a:bodyPr>
          <a:lstStyle/>
          <a:p>
            <a:pPr>
              <a:defRPr sz="1575" b="0">
                <a:solidFill>
                  <a:srgbClr val="586C68"/>
                </a:solidFill>
                <a:latin typeface="Noto Sans KR"/>
                <a:ea typeface="Noto Sans KR"/>
                <a:cs typeface="Noto Sans KR"/>
              </a:defRPr>
            </a:pPr>
            <a:r>
              <a:rPr sz="1575" b="0">
                <a:solidFill>
                  <a:srgbClr val="586C68"/>
                </a:solidFill>
                <a:latin typeface="Noto Sans KR"/>
                <a:ea typeface="Noto Sans KR"/>
                <a:cs typeface="Noto Sans KR"/>
              </a:rPr>
              <a:t>모델 크기 감소</a:t>
            </a:r>
          </a:p>
        </p:txBody>
      </p:sp>
      <p:sp>
        <p:nvSpPr>
          <p:cNvPr id="12" name="S04-f1-label">
            <a:extLst>
              <a:ext uri="{FF2B5EF4-FFF2-40B4-BE49-F238E27FC236}">
                <a16:creationId xmlns:a16="http://schemas.microsoft.com/office/drawing/2014/main" id="{4283194A-65D9-48D4-B5EA-2299B4D0F0F3}"/>
              </a:ext>
            </a:extLst>
          </p:cNvPr>
          <p:cNvSpPr>
            <a:spLocks noGrp="1"/>
          </p:cNvSpPr>
          <p:nvPr/>
        </p:nvSpPr>
        <p:spPr>
          <a:xfrm>
            <a:off x="9906000" y="4076700"/>
            <a:ext cx="1657350" cy="314325"/>
          </a:xfrm>
          <a:prstGeom prst="rect">
            <a:avLst/>
          </a:prstGeom>
          <a:noFill/>
          <a:ln w="0">
            <a:noFill/>
          </a:ln>
        </p:spPr>
        <p:txBody>
          <a:bodyPr wrap="none" lIns="0" tIns="0" rIns="0" bIns="0" anchor="ctr">
            <a:noAutofit/>
          </a:bodyPr>
          <a:lstStyle/>
          <a:p>
            <a:pPr>
              <a:defRPr sz="1575" b="0">
                <a:solidFill>
                  <a:srgbClr val="586C68"/>
                </a:solidFill>
                <a:latin typeface="Noto Sans KR"/>
                <a:ea typeface="Noto Sans KR"/>
                <a:cs typeface="Noto Sans KR"/>
              </a:defRPr>
            </a:pPr>
            <a:r>
              <a:rPr sz="1575" b="0">
                <a:solidFill>
                  <a:srgbClr val="586C68"/>
                </a:solidFill>
                <a:latin typeface="Noto Sans KR"/>
                <a:ea typeface="Noto Sans KR"/>
                <a:cs typeface="Noto Sans KR"/>
              </a:rPr>
              <a:t>F1 절대 차이</a:t>
            </a:r>
          </a:p>
        </p:txBody>
      </p:sp>
      <p:sp>
        <p:nvSpPr>
          <p:cNvPr id="13" name="S04-size-values">
            <a:extLst>
              <a:ext uri="{FF2B5EF4-FFF2-40B4-BE49-F238E27FC236}">
                <a16:creationId xmlns:a16="http://schemas.microsoft.com/office/drawing/2014/main" id="{711807CA-912D-40CF-9E5C-159205477147}"/>
              </a:ext>
            </a:extLst>
          </p:cNvPr>
          <p:cNvSpPr>
            <a:spLocks noGrp="1"/>
          </p:cNvSpPr>
          <p:nvPr/>
        </p:nvSpPr>
        <p:spPr>
          <a:xfrm>
            <a:off x="8058150" y="4524375"/>
            <a:ext cx="1762125" cy="323850"/>
          </a:xfrm>
          <a:prstGeom prst="rect">
            <a:avLst/>
          </a:prstGeom>
          <a:noFill/>
          <a:ln w="0">
            <a:noFill/>
          </a:ln>
        </p:spPr>
        <p:txBody>
          <a:bodyPr wrap="none" lIns="0" tIns="0" rIns="0" bIns="0" anchor="ctr">
            <a:noAutofit/>
          </a:bodyPr>
          <a:lstStyle/>
          <a:p>
            <a:pPr>
              <a:defRPr sz="1650" b="0">
                <a:solidFill>
                  <a:srgbClr val="1E302F"/>
                </a:solidFill>
                <a:latin typeface="Noto Sans KR"/>
                <a:ea typeface="Noto Sans KR"/>
                <a:cs typeface="Noto Sans KR"/>
              </a:defRPr>
            </a:pPr>
            <a:r>
              <a:rPr sz="1650" b="0">
                <a:solidFill>
                  <a:srgbClr val="1E302F"/>
                </a:solidFill>
                <a:latin typeface="Noto Sans KR"/>
                <a:ea typeface="Noto Sans KR"/>
                <a:cs typeface="Noto Sans KR"/>
              </a:rPr>
              <a:t>48 → 12 MB</a:t>
            </a:r>
          </a:p>
        </p:txBody>
      </p:sp>
      <p:sp>
        <p:nvSpPr>
          <p:cNvPr id="14" name="S04-f1-values">
            <a:extLst>
              <a:ext uri="{FF2B5EF4-FFF2-40B4-BE49-F238E27FC236}">
                <a16:creationId xmlns:a16="http://schemas.microsoft.com/office/drawing/2014/main" id="{838B903E-1ED7-4096-8F97-D3A8A2CE3C51}"/>
              </a:ext>
            </a:extLst>
          </p:cNvPr>
          <p:cNvSpPr>
            <a:spLocks noGrp="1"/>
          </p:cNvSpPr>
          <p:nvPr/>
        </p:nvSpPr>
        <p:spPr>
          <a:xfrm>
            <a:off x="9906000" y="4524375"/>
            <a:ext cx="1657350" cy="323850"/>
          </a:xfrm>
          <a:prstGeom prst="rect">
            <a:avLst/>
          </a:prstGeom>
          <a:noFill/>
          <a:ln w="0">
            <a:noFill/>
          </a:ln>
        </p:spPr>
        <p:txBody>
          <a:bodyPr wrap="none" lIns="0" tIns="0" rIns="0" bIns="0" anchor="ctr">
            <a:noAutofit/>
          </a:bodyPr>
          <a:lstStyle/>
          <a:p>
            <a:pPr>
              <a:defRPr sz="1575" b="0">
                <a:solidFill>
                  <a:srgbClr val="1E302F"/>
                </a:solidFill>
                <a:latin typeface="Noto Sans KR"/>
                <a:ea typeface="Noto Sans KR"/>
                <a:cs typeface="Noto Sans KR"/>
              </a:defRPr>
            </a:pPr>
            <a:r>
              <a:rPr sz="1575" b="0">
                <a:solidFill>
                  <a:srgbClr val="1E302F"/>
                </a:solidFill>
                <a:latin typeface="Noto Sans KR"/>
                <a:ea typeface="Noto Sans KR"/>
                <a:cs typeface="Noto Sans KR"/>
              </a:rPr>
              <a:t>0.910 → 0.896</a:t>
            </a:r>
          </a:p>
        </p:txBody>
      </p:sp>
      <p:sp>
        <p:nvSpPr>
          <p:cNvPr id="15" name="S04-stage1">
            <a:extLst>
              <a:ext uri="{FF2B5EF4-FFF2-40B4-BE49-F238E27FC236}">
                <a16:creationId xmlns:a16="http://schemas.microsoft.com/office/drawing/2014/main" id="{65A8E73D-5E69-41F3-AE05-2DC131139E5E}"/>
              </a:ext>
            </a:extLst>
          </p:cNvPr>
          <p:cNvSpPr>
            <a:spLocks noGrp="1"/>
          </p:cNvSpPr>
          <p:nvPr/>
        </p:nvSpPr>
        <p:spPr>
          <a:xfrm>
            <a:off x="685800" y="5467350"/>
            <a:ext cx="10820400" cy="304800"/>
          </a:xfrm>
          <a:prstGeom prst="rect">
            <a:avLst/>
          </a:prstGeom>
          <a:noFill/>
          <a:ln w="0">
            <a:noFill/>
          </a:ln>
        </p:spPr>
        <p:txBody>
          <a:bodyPr wrap="none" lIns="0" tIns="0" rIns="0" bIns="0" anchor="ctr">
            <a:noAutofit/>
          </a:bodyPr>
          <a:lstStyle/>
          <a:p>
            <a:pPr>
              <a:defRPr sz="1650" b="0">
                <a:solidFill>
                  <a:srgbClr val="586C68"/>
                </a:solidFill>
                <a:latin typeface="Noto Sans KR"/>
                <a:ea typeface="Noto Sans KR"/>
                <a:cs typeface="Noto Sans KR"/>
              </a:defRPr>
            </a:pPr>
            <a:r>
              <a:rPr sz="1650" b="0">
                <a:solidFill>
                  <a:srgbClr val="586C68"/>
                </a:solidFill>
                <a:latin typeface="Noto Sans KR"/>
                <a:ea typeface="Noto Sans KR"/>
                <a:cs typeface="Noto Sans KR"/>
              </a:rPr>
              <a:t>증류: 지연 40% 감소, F1 0.008 하락</a:t>
            </a:r>
          </a:p>
        </p:txBody>
      </p:sp>
      <p:sp>
        <p:nvSpPr>
          <p:cNvPr id="16" name="S04-stage2">
            <a:extLst>
              <a:ext uri="{FF2B5EF4-FFF2-40B4-BE49-F238E27FC236}">
                <a16:creationId xmlns:a16="http://schemas.microsoft.com/office/drawing/2014/main" id="{08403758-3D47-4C96-A8E1-5EEBEBAD0046}"/>
              </a:ext>
            </a:extLst>
          </p:cNvPr>
          <p:cNvSpPr>
            <a:spLocks noGrp="1"/>
          </p:cNvSpPr>
          <p:nvPr/>
        </p:nvSpPr>
        <p:spPr>
          <a:xfrm>
            <a:off x="685800" y="5810250"/>
            <a:ext cx="10820400" cy="304800"/>
          </a:xfrm>
          <a:prstGeom prst="rect">
            <a:avLst/>
          </a:prstGeom>
          <a:noFill/>
          <a:ln w="0">
            <a:noFill/>
          </a:ln>
        </p:spPr>
        <p:txBody>
          <a:bodyPr wrap="none" lIns="0" tIns="0" rIns="0" bIns="0" anchor="ctr">
            <a:noAutofit/>
          </a:bodyPr>
          <a:lstStyle/>
          <a:p>
            <a:pPr>
              <a:defRPr sz="1650" b="0">
                <a:solidFill>
                  <a:srgbClr val="586C68"/>
                </a:solidFill>
                <a:latin typeface="Noto Sans KR"/>
                <a:ea typeface="Noto Sans KR"/>
                <a:cs typeface="Noto Sans KR"/>
              </a:defRPr>
            </a:pPr>
            <a:r>
              <a:rPr sz="1650" b="0">
                <a:solidFill>
                  <a:srgbClr val="586C68"/>
                </a:solidFill>
                <a:latin typeface="Noto Sans KR"/>
                <a:ea typeface="Noto Sans KR"/>
                <a:cs typeface="Noto Sans KR"/>
              </a:rPr>
              <a:t>추가 INT8 단계: 지연 25% 감소, F1 0.006 하락</a:t>
            </a:r>
          </a:p>
        </p:txBody>
      </p:sp>
    </p:spTree>
    <p:extLst>
      <p:ext uri="{BB962C8B-B14F-4D97-AF65-F5344CB8AC3E}">
        <p14:creationId xmlns:p14="http://schemas.microsoft.com/office/powerpoint/2010/main" val="127821220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6F4EE"/>
        </a:solidFill>
        <a:effectLst/>
      </p:bgPr>
    </p:bg>
    <p:spTree>
      <p:nvGrpSpPr>
        <p:cNvPr id="1" name=""/>
        <p:cNvGrpSpPr/>
        <p:nvPr/>
      </p:nvGrpSpPr>
      <p:grpSpPr>
        <a:xfrm>
          <a:off x="0" y="0"/>
          <a:ext cx="0" cy="0"/>
          <a:chOff x="0" y="0"/>
          <a:chExt cx="0" cy="0"/>
        </a:xfrm>
      </p:grpSpPr>
      <p:sp>
        <p:nvSpPr>
          <p:cNvPr id="15" name="S05-section">
            <a:extLst>
              <a:ext uri="{FF2B5EF4-FFF2-40B4-BE49-F238E27FC236}">
                <a16:creationId xmlns:a16="http://schemas.microsoft.com/office/drawing/2014/main" id="{42D7F998-FF55-410F-BD42-814C71530E18}"/>
              </a:ext>
            </a:extLst>
          </p:cNvPr>
          <p:cNvSpPr>
            <a:spLocks noGrp="1"/>
          </p:cNvSpPr>
          <p:nvPr/>
        </p:nvSpPr>
        <p:spPr>
          <a:xfrm>
            <a:off x="685800" y="400050"/>
            <a:ext cx="10744200" cy="257175"/>
          </a:xfrm>
          <a:prstGeom prst="rect">
            <a:avLst/>
          </a:prstGeom>
          <a:noFill/>
          <a:ln w="0">
            <a:noFill/>
          </a:ln>
        </p:spPr>
        <p:txBody>
          <a:bodyPr wrap="none" lIns="0" tIns="0" rIns="0" bIns="0" anchor="ctr">
            <a:noAutofit/>
          </a:bodyPr>
          <a:lstStyle/>
          <a:p>
            <a:pPr>
              <a:defRPr sz="1425" b="0">
                <a:solidFill>
                  <a:srgbClr val="287D78"/>
                </a:solidFill>
                <a:latin typeface="Noto Sans KR"/>
                <a:ea typeface="Noto Sans KR"/>
                <a:cs typeface="Noto Sans KR"/>
              </a:defRPr>
            </a:pPr>
            <a:r>
              <a:rPr sz="1425" b="0">
                <a:solidFill>
                  <a:srgbClr val="287D78"/>
                </a:solidFill>
                <a:latin typeface="Noto Sans KR"/>
                <a:ea typeface="Noto Sans KR"/>
                <a:cs typeface="Noto Sans KR"/>
              </a:rPr>
              <a:t>다음 / 허용할 성능 교환관계</a:t>
            </a:r>
          </a:p>
        </p:txBody>
      </p:sp>
      <p:sp>
        <p:nvSpPr>
          <p:cNvPr id="2" name="S05-title">
            <a:extLst>
              <a:ext uri="{FF2B5EF4-FFF2-40B4-BE49-F238E27FC236}">
                <a16:creationId xmlns:a16="http://schemas.microsoft.com/office/drawing/2014/main" id="{C6BEBF20-3320-409C-B961-791221FD798B}"/>
              </a:ext>
            </a:extLst>
          </p:cNvPr>
          <p:cNvSpPr>
            <a:spLocks noGrp="1"/>
          </p:cNvSpPr>
          <p:nvPr/>
        </p:nvSpPr>
        <p:spPr>
          <a:xfrm>
            <a:off x="685800" y="895350"/>
            <a:ext cx="10820400" cy="666750"/>
          </a:xfrm>
          <a:prstGeom prst="rect">
            <a:avLst/>
          </a:prstGeom>
          <a:noFill/>
          <a:ln w="0">
            <a:noFill/>
          </a:ln>
        </p:spPr>
        <p:txBody>
          <a:bodyPr wrap="none" lIns="0" tIns="0" rIns="0" bIns="0" anchor="ctr">
            <a:noAutofit/>
          </a:bodyPr>
          <a:lstStyle/>
          <a:p>
            <a:pPr>
              <a:defRPr sz="3000" b="0">
                <a:solidFill>
                  <a:srgbClr val="1E302F"/>
                </a:solidFill>
                <a:latin typeface="Noto Sans KR"/>
                <a:ea typeface="Noto Sans KR"/>
                <a:cs typeface="Noto Sans KR"/>
              </a:defRPr>
            </a:pPr>
            <a:r>
              <a:rPr sz="3000" b="0">
                <a:solidFill>
                  <a:srgbClr val="1E302F"/>
                </a:solidFill>
                <a:latin typeface="Noto Sans KR"/>
                <a:ea typeface="Noto Sans KR"/>
                <a:cs typeface="Noto Sans KR"/>
              </a:rPr>
              <a:t>배포 기준을 먼저 정해야 합니다</a:t>
            </a:r>
          </a:p>
        </p:txBody>
      </p:sp>
      <p:sp>
        <p:nvSpPr>
          <p:cNvPr id="3" name="S05-disclosure">
            <a:extLst>
              <a:ext uri="{FF2B5EF4-FFF2-40B4-BE49-F238E27FC236}">
                <a16:creationId xmlns:a16="http://schemas.microsoft.com/office/drawing/2014/main" id="{F6A842F9-7F84-4563-A02D-5D5E2D699178}"/>
              </a:ext>
            </a:extLst>
          </p:cNvPr>
          <p:cNvSpPr>
            <a:spLocks noGrp="1"/>
          </p:cNvSpPr>
          <p:nvPr/>
        </p:nvSpPr>
        <p:spPr>
          <a:xfrm>
            <a:off x="685800" y="6372225"/>
            <a:ext cx="9525000" cy="219075"/>
          </a:xfrm>
          <a:prstGeom prst="rect">
            <a:avLst/>
          </a:prstGeom>
          <a:noFill/>
          <a:ln w="0">
            <a:noFill/>
          </a:ln>
        </p:spPr>
        <p:txBody>
          <a:bodyPr wrap="none" lIns="0" tIns="0" rIns="0" bIns="0" anchor="ctr">
            <a:noAutofit/>
          </a:bodyPr>
          <a:lstStyle/>
          <a:p>
            <a:pPr>
              <a:defRPr sz="1275" b="0">
                <a:solidFill>
                  <a:srgbClr val="586C68"/>
                </a:solidFill>
                <a:latin typeface="Noto Sans KR"/>
                <a:ea typeface="Noto Sans KR"/>
                <a:cs typeface="Noto Sans KR"/>
              </a:defRPr>
            </a:pPr>
            <a:r>
              <a:rPr sz="1275" b="0">
                <a:solidFill>
                  <a:srgbClr val="586C68"/>
                </a:solidFill>
                <a:latin typeface="Noto Sans KR"/>
                <a:ea typeface="Noto Sans KR"/>
                <a:cs typeface="Noto Sans KR"/>
              </a:rPr>
              <a:t>가상 데이터 · 실제 실험 결과가 아닙니다</a:t>
            </a:r>
          </a:p>
        </p:txBody>
      </p:sp>
      <p:sp>
        <p:nvSpPr>
          <p:cNvPr id="4" name="S05-number">
            <a:extLst>
              <a:ext uri="{FF2B5EF4-FFF2-40B4-BE49-F238E27FC236}">
                <a16:creationId xmlns:a16="http://schemas.microsoft.com/office/drawing/2014/main" id="{6A248280-4317-4916-A553-C473233BC3BD}"/>
              </a:ext>
            </a:extLst>
          </p:cNvPr>
          <p:cNvSpPr>
            <a:spLocks noGrp="1"/>
          </p:cNvSpPr>
          <p:nvPr/>
        </p:nvSpPr>
        <p:spPr>
          <a:xfrm>
            <a:off x="11144250" y="6372225"/>
            <a:ext cx="361950" cy="219075"/>
          </a:xfrm>
          <a:prstGeom prst="rect">
            <a:avLst/>
          </a:prstGeom>
          <a:noFill/>
          <a:ln w="0">
            <a:noFill/>
          </a:ln>
        </p:spPr>
        <p:txBody>
          <a:bodyPr wrap="none" lIns="0" tIns="0" rIns="0" bIns="0" anchor="ctr">
            <a:noAutofit/>
          </a:bodyPr>
          <a:lstStyle/>
          <a:p>
            <a:pPr>
              <a:defRPr sz="1275" b="0">
                <a:solidFill>
                  <a:srgbClr val="586C68"/>
                </a:solidFill>
                <a:latin typeface="Noto Sans KR"/>
                <a:ea typeface="Noto Sans KR"/>
                <a:cs typeface="Noto Sans KR"/>
              </a:defRPr>
            </a:pPr>
            <a:r>
              <a:rPr sz="1275" b="0">
                <a:solidFill>
                  <a:srgbClr val="586C68"/>
                </a:solidFill>
                <a:latin typeface="Noto Sans KR"/>
                <a:ea typeface="Noto Sans KR"/>
                <a:cs typeface="Noto Sans KR"/>
              </a:rPr>
              <a:t>05</a:t>
            </a:r>
          </a:p>
        </p:txBody>
      </p:sp>
      <p:sp>
        <p:nvSpPr>
          <p:cNvPr id="5" name="S05-main">
            <a:extLst>
              <a:ext uri="{FF2B5EF4-FFF2-40B4-BE49-F238E27FC236}">
                <a16:creationId xmlns:a16="http://schemas.microsoft.com/office/drawing/2014/main" id="{EA556279-94B2-48B1-A83F-52925F04EBC4}"/>
              </a:ext>
            </a:extLst>
          </p:cNvPr>
          <p:cNvSpPr>
            <a:spLocks noGrp="1"/>
          </p:cNvSpPr>
          <p:nvPr/>
        </p:nvSpPr>
        <p:spPr>
          <a:xfrm>
            <a:off x="685800" y="1990725"/>
            <a:ext cx="10820400" cy="723900"/>
          </a:xfrm>
          <a:prstGeom prst="rect">
            <a:avLst/>
          </a:prstGeom>
          <a:noFill/>
          <a:ln w="0">
            <a:noFill/>
          </a:ln>
        </p:spPr>
        <p:txBody>
          <a:bodyPr wrap="none" lIns="0" tIns="0" rIns="0" bIns="0" anchor="ctr">
            <a:noAutofit/>
          </a:bodyPr>
          <a:lstStyle/>
          <a:p>
            <a:pPr>
              <a:defRPr sz="3450" b="0">
                <a:solidFill>
                  <a:srgbClr val="287D78"/>
                </a:solidFill>
                <a:latin typeface="Noto Sans KR"/>
                <a:ea typeface="Noto Sans KR"/>
                <a:cs typeface="Noto Sans KR"/>
              </a:defRPr>
            </a:pPr>
            <a:r>
              <a:rPr sz="3450" b="0">
                <a:solidFill>
                  <a:srgbClr val="287D78"/>
                </a:solidFill>
                <a:latin typeface="Noto Sans KR"/>
                <a:ea typeface="Noto Sans KR"/>
                <a:cs typeface="Noto Sans KR"/>
              </a:rPr>
              <a:t>효율 개선에는 F1 저하가 따릅니다</a:t>
            </a:r>
          </a:p>
        </p:txBody>
      </p:sp>
      <p:sp>
        <p:nvSpPr>
          <p:cNvPr id="6" name="S05-rule-1">
            <a:extLst>
              <a:ext uri="{FF2B5EF4-FFF2-40B4-BE49-F238E27FC236}">
                <a16:creationId xmlns:a16="http://schemas.microsoft.com/office/drawing/2014/main" id="{E5F53197-433B-472F-8D82-C6B19CB332C8}"/>
              </a:ext>
            </a:extLst>
          </p:cNvPr>
          <p:cNvSpPr>
            <a:spLocks noGrp="1"/>
          </p:cNvSpPr>
          <p:nvPr/>
        </p:nvSpPr>
        <p:spPr>
          <a:xfrm>
            <a:off x="685800" y="3124200"/>
            <a:ext cx="10820400" cy="0"/>
          </a:xfrm>
          <a:prstGeom prst="line">
            <a:avLst/>
          </a:prstGeom>
          <a:ln w="9525">
            <a:solidFill>
              <a:srgbClr val="CFD8D1"/>
            </a:solidFill>
          </a:ln>
        </p:spPr>
      </p:sp>
      <p:sp>
        <p:nvSpPr>
          <p:cNvPr id="7" name="S05-label1">
            <a:extLst>
              <a:ext uri="{FF2B5EF4-FFF2-40B4-BE49-F238E27FC236}">
                <a16:creationId xmlns:a16="http://schemas.microsoft.com/office/drawing/2014/main" id="{B807D6D0-063E-42FB-ABD6-E126C4F785E8}"/>
              </a:ext>
            </a:extLst>
          </p:cNvPr>
          <p:cNvSpPr>
            <a:spLocks noGrp="1"/>
          </p:cNvSpPr>
          <p:nvPr/>
        </p:nvSpPr>
        <p:spPr>
          <a:xfrm>
            <a:off x="685800" y="3257550"/>
            <a:ext cx="2914650" cy="495300"/>
          </a:xfrm>
          <a:prstGeom prst="rect">
            <a:avLst/>
          </a:prstGeom>
          <a:noFill/>
          <a:ln w="0">
            <a:noFill/>
          </a:ln>
        </p:spPr>
        <p:txBody>
          <a:bodyPr wrap="none" lIns="0" tIns="0" rIns="0" bIns="0" anchor="ctr">
            <a:noAutofit/>
          </a:bodyPr>
          <a:lstStyle/>
          <a:p>
            <a:pPr>
              <a:defRPr sz="1950" b="0">
                <a:solidFill>
                  <a:srgbClr val="1E302F"/>
                </a:solidFill>
                <a:latin typeface="Noto Sans KR"/>
                <a:ea typeface="Noto Sans KR"/>
                <a:cs typeface="Noto Sans KR"/>
              </a:defRPr>
            </a:pPr>
            <a:r>
              <a:rPr sz="1950" b="0">
                <a:solidFill>
                  <a:srgbClr val="1E302F"/>
                </a:solidFill>
                <a:latin typeface="Noto Sans KR"/>
                <a:ea typeface="Noto Sans KR"/>
                <a:cs typeface="Noto Sans KR"/>
              </a:rPr>
              <a:t>먼저 정할 기준</a:t>
            </a:r>
          </a:p>
        </p:txBody>
      </p:sp>
      <p:sp>
        <p:nvSpPr>
          <p:cNvPr id="8" name="S05-body1">
            <a:extLst>
              <a:ext uri="{FF2B5EF4-FFF2-40B4-BE49-F238E27FC236}">
                <a16:creationId xmlns:a16="http://schemas.microsoft.com/office/drawing/2014/main" id="{C4C337A0-BC8E-417F-81D2-BF9A93ACFD78}"/>
              </a:ext>
            </a:extLst>
          </p:cNvPr>
          <p:cNvSpPr>
            <a:spLocks noGrp="1"/>
          </p:cNvSpPr>
          <p:nvPr/>
        </p:nvSpPr>
        <p:spPr>
          <a:xfrm>
            <a:off x="3829050" y="3257550"/>
            <a:ext cx="7677150" cy="495300"/>
          </a:xfrm>
          <a:prstGeom prst="rect">
            <a:avLst/>
          </a:prstGeom>
          <a:noFill/>
          <a:ln w="0">
            <a:noFill/>
          </a:ln>
        </p:spPr>
        <p:txBody>
          <a:bodyPr wrap="none" lIns="0" tIns="0" rIns="0" bIns="0" anchor="ctr">
            <a:noAutofit/>
          </a:bodyPr>
          <a:lstStyle/>
          <a:p>
            <a:pPr>
              <a:defRPr sz="1950" b="0">
                <a:solidFill>
                  <a:srgbClr val="586C68"/>
                </a:solidFill>
                <a:latin typeface="Noto Sans KR"/>
                <a:ea typeface="Noto Sans KR"/>
                <a:cs typeface="Noto Sans KR"/>
              </a:defRPr>
            </a:pPr>
            <a:r>
              <a:rPr sz="1950" b="0">
                <a:solidFill>
                  <a:srgbClr val="586C68"/>
                </a:solidFill>
                <a:latin typeface="Noto Sans KR"/>
                <a:ea typeface="Noto Sans KR"/>
                <a:cs typeface="Noto Sans KR"/>
              </a:rPr>
              <a:t>허용 가능한 F1 저하와 지연 한도</a:t>
            </a:r>
          </a:p>
        </p:txBody>
      </p:sp>
      <p:sp>
        <p:nvSpPr>
          <p:cNvPr id="9" name="S05-rule-2">
            <a:extLst>
              <a:ext uri="{FF2B5EF4-FFF2-40B4-BE49-F238E27FC236}">
                <a16:creationId xmlns:a16="http://schemas.microsoft.com/office/drawing/2014/main" id="{42C9FD44-9EDC-4568-8C59-5B9E4737D8D9}"/>
              </a:ext>
            </a:extLst>
          </p:cNvPr>
          <p:cNvSpPr>
            <a:spLocks noGrp="1"/>
          </p:cNvSpPr>
          <p:nvPr/>
        </p:nvSpPr>
        <p:spPr>
          <a:xfrm>
            <a:off x="685800" y="3962400"/>
            <a:ext cx="10820400" cy="0"/>
          </a:xfrm>
          <a:prstGeom prst="line">
            <a:avLst/>
          </a:prstGeom>
          <a:ln w="9525">
            <a:solidFill>
              <a:srgbClr val="CFD8D1"/>
            </a:solidFill>
          </a:ln>
        </p:spPr>
      </p:sp>
      <p:sp>
        <p:nvSpPr>
          <p:cNvPr id="10" name="S05-label2">
            <a:extLst>
              <a:ext uri="{FF2B5EF4-FFF2-40B4-BE49-F238E27FC236}">
                <a16:creationId xmlns:a16="http://schemas.microsoft.com/office/drawing/2014/main" id="{800E607F-00DE-476D-BA11-67246C4B34D4}"/>
              </a:ext>
            </a:extLst>
          </p:cNvPr>
          <p:cNvSpPr>
            <a:spLocks noGrp="1"/>
          </p:cNvSpPr>
          <p:nvPr/>
        </p:nvSpPr>
        <p:spPr>
          <a:xfrm>
            <a:off x="685800" y="4095750"/>
            <a:ext cx="2914650" cy="495300"/>
          </a:xfrm>
          <a:prstGeom prst="rect">
            <a:avLst/>
          </a:prstGeom>
          <a:noFill/>
          <a:ln w="0">
            <a:noFill/>
          </a:ln>
        </p:spPr>
        <p:txBody>
          <a:bodyPr wrap="none" lIns="0" tIns="0" rIns="0" bIns="0" anchor="ctr">
            <a:noAutofit/>
          </a:bodyPr>
          <a:lstStyle/>
          <a:p>
            <a:pPr>
              <a:defRPr sz="1950" b="0">
                <a:solidFill>
                  <a:srgbClr val="1E302F"/>
                </a:solidFill>
                <a:latin typeface="Noto Sans KR"/>
                <a:ea typeface="Noto Sans KR"/>
                <a:cs typeface="Noto Sans KR"/>
              </a:defRPr>
            </a:pPr>
            <a:r>
              <a:rPr sz="1950" b="0">
                <a:solidFill>
                  <a:srgbClr val="1E302F"/>
                </a:solidFill>
                <a:latin typeface="Noto Sans KR"/>
                <a:ea typeface="Noto Sans KR"/>
                <a:cs typeface="Noto Sans KR"/>
              </a:rPr>
              <a:t>다음 검증</a:t>
            </a:r>
          </a:p>
        </p:txBody>
      </p:sp>
      <p:sp>
        <p:nvSpPr>
          <p:cNvPr id="11" name="S05-body2">
            <a:extLst>
              <a:ext uri="{FF2B5EF4-FFF2-40B4-BE49-F238E27FC236}">
                <a16:creationId xmlns:a16="http://schemas.microsoft.com/office/drawing/2014/main" id="{5BF0987A-01F3-4B68-A3AE-2B4B2D5CD26E}"/>
              </a:ext>
            </a:extLst>
          </p:cNvPr>
          <p:cNvSpPr>
            <a:spLocks noGrp="1"/>
          </p:cNvSpPr>
          <p:nvPr/>
        </p:nvSpPr>
        <p:spPr>
          <a:xfrm>
            <a:off x="3829050" y="4095750"/>
            <a:ext cx="7677150" cy="495300"/>
          </a:xfrm>
          <a:prstGeom prst="rect">
            <a:avLst/>
          </a:prstGeom>
          <a:noFill/>
          <a:ln w="0">
            <a:noFill/>
          </a:ln>
        </p:spPr>
        <p:txBody>
          <a:bodyPr wrap="none" lIns="0" tIns="0" rIns="0" bIns="0" anchor="ctr">
            <a:noAutofit/>
          </a:bodyPr>
          <a:lstStyle/>
          <a:p>
            <a:pPr>
              <a:defRPr sz="1950" b="0">
                <a:solidFill>
                  <a:srgbClr val="586C68"/>
                </a:solidFill>
                <a:latin typeface="Noto Sans KR"/>
                <a:ea typeface="Noto Sans KR"/>
                <a:cs typeface="Noto Sans KR"/>
              </a:defRPr>
            </a:pPr>
            <a:r>
              <a:rPr sz="1950" b="0">
                <a:solidFill>
                  <a:srgbClr val="586C68"/>
                </a:solidFill>
                <a:latin typeface="Noto Sans KR"/>
                <a:ea typeface="Noto Sans KR"/>
                <a:cs typeface="Noto Sans KR"/>
              </a:rPr>
              <a:t>반복 측정의 분산과 이상 유형별 실패 사례</a:t>
            </a:r>
          </a:p>
        </p:txBody>
      </p:sp>
      <p:sp>
        <p:nvSpPr>
          <p:cNvPr id="12" name="S05-rule-3">
            <a:extLst>
              <a:ext uri="{FF2B5EF4-FFF2-40B4-BE49-F238E27FC236}">
                <a16:creationId xmlns:a16="http://schemas.microsoft.com/office/drawing/2014/main" id="{8BA3B5F6-4279-486B-B4CB-017474A38E86}"/>
              </a:ext>
            </a:extLst>
          </p:cNvPr>
          <p:cNvSpPr>
            <a:spLocks noGrp="1"/>
          </p:cNvSpPr>
          <p:nvPr/>
        </p:nvSpPr>
        <p:spPr>
          <a:xfrm>
            <a:off x="685800" y="4800600"/>
            <a:ext cx="10820400" cy="0"/>
          </a:xfrm>
          <a:prstGeom prst="line">
            <a:avLst/>
          </a:prstGeom>
          <a:ln w="9525">
            <a:solidFill>
              <a:srgbClr val="CFD8D1"/>
            </a:solidFill>
          </a:ln>
        </p:spPr>
      </p:sp>
      <p:sp>
        <p:nvSpPr>
          <p:cNvPr id="13" name="S05-label3">
            <a:extLst>
              <a:ext uri="{FF2B5EF4-FFF2-40B4-BE49-F238E27FC236}">
                <a16:creationId xmlns:a16="http://schemas.microsoft.com/office/drawing/2014/main" id="{44091A20-5CD4-48D5-AEC3-E26D5728F198}"/>
              </a:ext>
            </a:extLst>
          </p:cNvPr>
          <p:cNvSpPr>
            <a:spLocks noGrp="1"/>
          </p:cNvSpPr>
          <p:nvPr/>
        </p:nvSpPr>
        <p:spPr>
          <a:xfrm>
            <a:off x="685800" y="4933950"/>
            <a:ext cx="2914650" cy="495300"/>
          </a:xfrm>
          <a:prstGeom prst="rect">
            <a:avLst/>
          </a:prstGeom>
          <a:noFill/>
          <a:ln w="0">
            <a:noFill/>
          </a:ln>
        </p:spPr>
        <p:txBody>
          <a:bodyPr wrap="none" lIns="0" tIns="0" rIns="0" bIns="0" anchor="ctr">
            <a:noAutofit/>
          </a:bodyPr>
          <a:lstStyle/>
          <a:p>
            <a:pPr>
              <a:defRPr sz="1950" b="0">
                <a:solidFill>
                  <a:srgbClr val="1E302F"/>
                </a:solidFill>
                <a:latin typeface="Noto Sans KR"/>
                <a:ea typeface="Noto Sans KR"/>
                <a:cs typeface="Noto Sans KR"/>
              </a:defRPr>
            </a:pPr>
            <a:r>
              <a:rPr sz="1950" b="0">
                <a:solidFill>
                  <a:srgbClr val="1E302F"/>
                </a:solidFill>
                <a:latin typeface="Noto Sans KR"/>
                <a:ea typeface="Noto Sans KR"/>
                <a:cs typeface="Noto Sans KR"/>
              </a:rPr>
              <a:t>현재의 한계</a:t>
            </a:r>
          </a:p>
        </p:txBody>
      </p:sp>
      <p:sp>
        <p:nvSpPr>
          <p:cNvPr id="14" name="S05-body3">
            <a:extLst>
              <a:ext uri="{FF2B5EF4-FFF2-40B4-BE49-F238E27FC236}">
                <a16:creationId xmlns:a16="http://schemas.microsoft.com/office/drawing/2014/main" id="{FADB47FE-B030-4621-8B38-BFAA8F24BE5A}"/>
              </a:ext>
            </a:extLst>
          </p:cNvPr>
          <p:cNvSpPr>
            <a:spLocks noGrp="1"/>
          </p:cNvSpPr>
          <p:nvPr/>
        </p:nvSpPr>
        <p:spPr>
          <a:xfrm>
            <a:off x="3829050" y="4933950"/>
            <a:ext cx="7677150" cy="495300"/>
          </a:xfrm>
          <a:prstGeom prst="rect">
            <a:avLst/>
          </a:prstGeom>
          <a:noFill/>
          <a:ln w="0">
            <a:noFill/>
          </a:ln>
        </p:spPr>
        <p:txBody>
          <a:bodyPr wrap="none" lIns="0" tIns="0" rIns="0" bIns="0" anchor="ctr">
            <a:noAutofit/>
          </a:bodyPr>
          <a:lstStyle/>
          <a:p>
            <a:pPr>
              <a:defRPr sz="1950" b="0">
                <a:solidFill>
                  <a:srgbClr val="586C68"/>
                </a:solidFill>
                <a:latin typeface="Noto Sans KR"/>
                <a:ea typeface="Noto Sans KR"/>
                <a:cs typeface="Noto Sans KR"/>
              </a:defRPr>
            </a:pPr>
            <a:r>
              <a:rPr sz="1950" b="0">
                <a:solidFill>
                  <a:srgbClr val="586C68"/>
                </a:solidFill>
                <a:latin typeface="Noto Sans KR"/>
                <a:ea typeface="Noto Sans KR"/>
                <a:cs typeface="Noto Sans KR"/>
              </a:rPr>
              <a:t>실제 데이터셋·표본수가 없어 일반화 판단 불가</a:t>
            </a:r>
          </a:p>
        </p:txBody>
      </p:sp>
    </p:spTree>
    <p:extLst>
      <p:ext uri="{BB962C8B-B14F-4D97-AF65-F5344CB8AC3E}">
        <p14:creationId xmlns:p14="http://schemas.microsoft.com/office/powerpoint/2010/main" val="898189524"/>
      </p:ext>
    </p:extLst>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617</Words>
  <Application>Microsoft Office PowerPoint</Application>
  <DocSecurity>0</DocSecurity>
  <PresentationFormat>와이드스크린</PresentationFormat>
  <Paragraphs>82</Paragraphs>
  <Slides>5</Slides>
  <Notes>5</Notes>
  <HiddenSlides>0</HiddenSlides>
  <MMClips>0</MMClips>
  <ScaleCrop>false</ScaleCrop>
  <HeadingPairs>
    <vt:vector size="6" baseType="variant">
      <vt:variant>
        <vt:lpstr>사용한 글꼴</vt:lpstr>
      </vt:variant>
      <vt:variant>
        <vt:i4>2</vt:i4>
      </vt:variant>
      <vt:variant>
        <vt:lpstr>테마</vt:lpstr>
      </vt:variant>
      <vt:variant>
        <vt:i4>1</vt:i4>
      </vt:variant>
      <vt:variant>
        <vt:lpstr>슬라이드 제목</vt:lpstr>
      </vt:variant>
      <vt:variant>
        <vt:i4>5</vt:i4>
      </vt:variant>
    </vt:vector>
  </HeadingPairs>
  <TitlesOfParts>
    <vt:vector size="8" baseType="lpstr">
      <vt:lpstr>Noto Sans KR</vt:lpstr>
      <vt:lpstr>Calibri</vt:lpstr>
      <vt:lpstr>ChatGPT</vt:lpstr>
      <vt:lpstr>PowerPoint 프레젠테이션</vt:lpstr>
      <vt:lpstr>PowerPoint 프레젠테이션</vt:lpstr>
      <vt:lpstr>PowerPoint 프레젠테이션</vt:lpstr>
      <vt:lpstr>PowerPoint 프레젠테이션</vt:lpstr>
      <vt:lpstr>PowerPoint 프레젠테이션</vt:lpstr>
    </vt:vector>
  </TitlesOfParts>
  <LinksUpToDate>false</LinksUpToDate>
  <SharedDoc>false</SharedDoc>
  <HyperlinksChanged>false</HyperlinksChanged>
  <AppVersion>16.0000</AppVersion>
</Properties>
</file>

<file path=docProps/core.xml><?xml version="1.0" encoding="utf-8"?>
<ns0:coreProperties xmlns:dc="http://purl.org/dc/elements/1.1/" xmlns:ns0="http://schemas.openxmlformats.org/package/2006/metadata/core-properties" xmlns:ns2="http://purl.org/dc/terms/" xmlns:xsi="http://www.w3.org/2001/XMLSchema-instance">
  <dc:title>Presentation</dc:title>
  <dc:creator>Walnut Exporter</dc:creator>
  <ns0:revision>1</ns0:revision>
  <ns2:created xsi:type="dcterms:W3CDTF">2026-10-02T07:09:35Z</ns2:created>
  <ns2:modified xsi:type="dcterms:W3CDTF">2026-10-02T07:13:55Z</ns2:modified>
</ns0:coreProperties>
</file>